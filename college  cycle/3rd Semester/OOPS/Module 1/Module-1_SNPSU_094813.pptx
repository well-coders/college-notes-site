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6"/>
  </p:notesMasterIdLst>
  <p:sldIdLst>
    <p:sldId id="256" r:id="rId2"/>
    <p:sldId id="264" r:id="rId3"/>
    <p:sldId id="265" r:id="rId4"/>
    <p:sldId id="267" r:id="rId5"/>
    <p:sldId id="268" r:id="rId6"/>
    <p:sldId id="269" r:id="rId7"/>
    <p:sldId id="273" r:id="rId8"/>
    <p:sldId id="274" r:id="rId9"/>
    <p:sldId id="275" r:id="rId10"/>
    <p:sldId id="276" r:id="rId11"/>
    <p:sldId id="279" r:id="rId12"/>
    <p:sldId id="280" r:id="rId13"/>
    <p:sldId id="281" r:id="rId14"/>
    <p:sldId id="441" r:id="rId15"/>
    <p:sldId id="442" r:id="rId16"/>
    <p:sldId id="443" r:id="rId17"/>
    <p:sldId id="444" r:id="rId18"/>
    <p:sldId id="445" r:id="rId19"/>
    <p:sldId id="460" r:id="rId20"/>
    <p:sldId id="448" r:id="rId21"/>
    <p:sldId id="449" r:id="rId22"/>
    <p:sldId id="450" r:id="rId23"/>
    <p:sldId id="447" r:id="rId24"/>
    <p:sldId id="451" r:id="rId25"/>
    <p:sldId id="462" r:id="rId26"/>
    <p:sldId id="463" r:id="rId27"/>
    <p:sldId id="464" r:id="rId28"/>
    <p:sldId id="465" r:id="rId29"/>
    <p:sldId id="466" r:id="rId30"/>
    <p:sldId id="467" r:id="rId31"/>
    <p:sldId id="468" r:id="rId32"/>
    <p:sldId id="469" r:id="rId33"/>
    <p:sldId id="470" r:id="rId34"/>
    <p:sldId id="471" r:id="rId35"/>
    <p:sldId id="472" r:id="rId36"/>
    <p:sldId id="473" r:id="rId37"/>
    <p:sldId id="474" r:id="rId38"/>
    <p:sldId id="475" r:id="rId39"/>
    <p:sldId id="476" r:id="rId40"/>
    <p:sldId id="477" r:id="rId41"/>
    <p:sldId id="478" r:id="rId42"/>
    <p:sldId id="452" r:id="rId43"/>
    <p:sldId id="453" r:id="rId44"/>
    <p:sldId id="454" r:id="rId45"/>
    <p:sldId id="461" r:id="rId46"/>
    <p:sldId id="455" r:id="rId47"/>
    <p:sldId id="456" r:id="rId48"/>
    <p:sldId id="457" r:id="rId49"/>
    <p:sldId id="458" r:id="rId50"/>
    <p:sldId id="459" r:id="rId51"/>
    <p:sldId id="282" r:id="rId52"/>
    <p:sldId id="283" r:id="rId53"/>
    <p:sldId id="284" r:id="rId54"/>
    <p:sldId id="285" r:id="rId55"/>
    <p:sldId id="286" r:id="rId56"/>
    <p:sldId id="287" r:id="rId57"/>
    <p:sldId id="303" r:id="rId58"/>
    <p:sldId id="304" r:id="rId59"/>
    <p:sldId id="305" r:id="rId60"/>
    <p:sldId id="306" r:id="rId61"/>
    <p:sldId id="307" r:id="rId62"/>
    <p:sldId id="308" r:id="rId63"/>
    <p:sldId id="309" r:id="rId64"/>
    <p:sldId id="310" r:id="rId65"/>
    <p:sldId id="359" r:id="rId66"/>
    <p:sldId id="360" r:id="rId67"/>
    <p:sldId id="361" r:id="rId68"/>
    <p:sldId id="362" r:id="rId69"/>
    <p:sldId id="363" r:id="rId70"/>
    <p:sldId id="364" r:id="rId71"/>
    <p:sldId id="365" r:id="rId72"/>
    <p:sldId id="366" r:id="rId73"/>
    <p:sldId id="367" r:id="rId74"/>
    <p:sldId id="368" r:id="rId75"/>
    <p:sldId id="369" r:id="rId76"/>
    <p:sldId id="370" r:id="rId77"/>
    <p:sldId id="371" r:id="rId78"/>
    <p:sldId id="372" r:id="rId79"/>
    <p:sldId id="373" r:id="rId80"/>
    <p:sldId id="374" r:id="rId81"/>
    <p:sldId id="375" r:id="rId82"/>
    <p:sldId id="376" r:id="rId83"/>
    <p:sldId id="377" r:id="rId84"/>
    <p:sldId id="378" r:id="rId85"/>
    <p:sldId id="379" r:id="rId86"/>
    <p:sldId id="380" r:id="rId87"/>
    <p:sldId id="381" r:id="rId88"/>
    <p:sldId id="382" r:id="rId89"/>
    <p:sldId id="383" r:id="rId90"/>
    <p:sldId id="384" r:id="rId91"/>
    <p:sldId id="385" r:id="rId92"/>
    <p:sldId id="386" r:id="rId93"/>
    <p:sldId id="387" r:id="rId94"/>
    <p:sldId id="388" r:id="rId95"/>
    <p:sldId id="389" r:id="rId96"/>
    <p:sldId id="390" r:id="rId97"/>
    <p:sldId id="391" r:id="rId98"/>
    <p:sldId id="392" r:id="rId99"/>
    <p:sldId id="393" r:id="rId100"/>
    <p:sldId id="394" r:id="rId101"/>
    <p:sldId id="395" r:id="rId102"/>
    <p:sldId id="396" r:id="rId103"/>
    <p:sldId id="397" r:id="rId104"/>
    <p:sldId id="398" r:id="rId105"/>
    <p:sldId id="399" r:id="rId106"/>
    <p:sldId id="400" r:id="rId107"/>
    <p:sldId id="401" r:id="rId108"/>
    <p:sldId id="402" r:id="rId109"/>
    <p:sldId id="403" r:id="rId110"/>
    <p:sldId id="404" r:id="rId111"/>
    <p:sldId id="405" r:id="rId112"/>
    <p:sldId id="406" r:id="rId113"/>
    <p:sldId id="407" r:id="rId114"/>
    <p:sldId id="408" r:id="rId115"/>
    <p:sldId id="409" r:id="rId116"/>
    <p:sldId id="410" r:id="rId117"/>
    <p:sldId id="411" r:id="rId118"/>
    <p:sldId id="412" r:id="rId119"/>
    <p:sldId id="413" r:id="rId120"/>
    <p:sldId id="414" r:id="rId121"/>
    <p:sldId id="415" r:id="rId122"/>
    <p:sldId id="416" r:id="rId123"/>
    <p:sldId id="417" r:id="rId124"/>
    <p:sldId id="418" r:id="rId125"/>
    <p:sldId id="419" r:id="rId126"/>
    <p:sldId id="420" r:id="rId127"/>
    <p:sldId id="421" r:id="rId128"/>
    <p:sldId id="422" r:id="rId129"/>
    <p:sldId id="423" r:id="rId130"/>
    <p:sldId id="424" r:id="rId131"/>
    <p:sldId id="425" r:id="rId132"/>
    <p:sldId id="426" r:id="rId133"/>
    <p:sldId id="427" r:id="rId134"/>
    <p:sldId id="428" r:id="rId135"/>
    <p:sldId id="429" r:id="rId136"/>
    <p:sldId id="430" r:id="rId137"/>
    <p:sldId id="431" r:id="rId138"/>
    <p:sldId id="432" r:id="rId139"/>
    <p:sldId id="433" r:id="rId140"/>
    <p:sldId id="434" r:id="rId141"/>
    <p:sldId id="435" r:id="rId142"/>
    <p:sldId id="436" r:id="rId143"/>
    <p:sldId id="437" r:id="rId144"/>
    <p:sldId id="438" r:id="rId145"/>
    <p:sldId id="439" r:id="rId146"/>
    <p:sldId id="490" r:id="rId147"/>
    <p:sldId id="491" r:id="rId148"/>
    <p:sldId id="492" r:id="rId149"/>
    <p:sldId id="493" r:id="rId150"/>
    <p:sldId id="494" r:id="rId151"/>
    <p:sldId id="495" r:id="rId152"/>
    <p:sldId id="496" r:id="rId153"/>
    <p:sldId id="497" r:id="rId154"/>
    <p:sldId id="498" r:id="rId155"/>
    <p:sldId id="499" r:id="rId156"/>
    <p:sldId id="500" r:id="rId157"/>
    <p:sldId id="501" r:id="rId158"/>
    <p:sldId id="502" r:id="rId159"/>
    <p:sldId id="503" r:id="rId160"/>
    <p:sldId id="504" r:id="rId161"/>
    <p:sldId id="505" r:id="rId162"/>
    <p:sldId id="507" r:id="rId163"/>
    <p:sldId id="506" r:id="rId164"/>
    <p:sldId id="508" r:id="rId165"/>
  </p:sldIdLst>
  <p:sldSz cx="12192000" cy="6858000"/>
  <p:notesSz cx="6858000" cy="9144000"/>
  <p:embeddedFontLst>
    <p:embeddedFont>
      <p:font typeface="Calibri" panose="020F0502020204030204" pitchFamily="34" charset="0"/>
      <p:regular r:id="rId167"/>
      <p:bold r:id="rId168"/>
      <p:italic r:id="rId169"/>
      <p:boldItalic r:id="rId1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9" roundtripDataSignature="AMtx7mgs9V2HZcNTWaoAvEGmEb6x5/Wg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660"/>
  </p:normalViewPr>
  <p:slideViewPr>
    <p:cSldViewPr>
      <p:cViewPr>
        <p:scale>
          <a:sx n="72" d="100"/>
          <a:sy n="72" d="100"/>
        </p:scale>
        <p:origin x="-534" y="19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33" Type="http://schemas.openxmlformats.org/officeDocument/2006/relationships/slide" Target="slides/slide132.xml" /><Relationship Id="rId138" Type="http://schemas.openxmlformats.org/officeDocument/2006/relationships/slide" Target="slides/slide137.xml" /><Relationship Id="rId154" Type="http://schemas.openxmlformats.org/officeDocument/2006/relationships/slide" Target="slides/slide153.xml" /><Relationship Id="rId159" Type="http://schemas.openxmlformats.org/officeDocument/2006/relationships/slide" Target="slides/slide158.xml" /><Relationship Id="rId170" Type="http://schemas.openxmlformats.org/officeDocument/2006/relationships/font" Target="fonts/font4.fntdata" /><Relationship Id="rId200" Type="http://schemas.openxmlformats.org/officeDocument/2006/relationships/presProps" Target="presProps.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slide" Target="slides/slide127.xml" /><Relationship Id="rId144" Type="http://schemas.openxmlformats.org/officeDocument/2006/relationships/slide" Target="slides/slide143.xml" /><Relationship Id="rId149" Type="http://schemas.openxmlformats.org/officeDocument/2006/relationships/slide" Target="slides/slide148.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160" Type="http://schemas.openxmlformats.org/officeDocument/2006/relationships/slide" Target="slides/slide159.xml" /><Relationship Id="rId165" Type="http://schemas.openxmlformats.org/officeDocument/2006/relationships/slide" Target="slides/slide164.xml" /><Relationship Id="rId22" Type="http://schemas.openxmlformats.org/officeDocument/2006/relationships/slide" Target="slides/slide21.xml" /><Relationship Id="rId27" Type="http://schemas.openxmlformats.org/officeDocument/2006/relationships/slide" Target="slides/slide26.xml" /><Relationship Id="rId43" Type="http://schemas.openxmlformats.org/officeDocument/2006/relationships/slide" Target="slides/slide42.xml" /><Relationship Id="rId48" Type="http://schemas.openxmlformats.org/officeDocument/2006/relationships/slide" Target="slides/slide47.xml" /><Relationship Id="rId64" Type="http://schemas.openxmlformats.org/officeDocument/2006/relationships/slide" Target="slides/slide63.xml" /><Relationship Id="rId69" Type="http://schemas.openxmlformats.org/officeDocument/2006/relationships/slide" Target="slides/slide68.xml" /><Relationship Id="rId113" Type="http://schemas.openxmlformats.org/officeDocument/2006/relationships/slide" Target="slides/slide112.xml" /><Relationship Id="rId118" Type="http://schemas.openxmlformats.org/officeDocument/2006/relationships/slide" Target="slides/slide117.xml" /><Relationship Id="rId134" Type="http://schemas.openxmlformats.org/officeDocument/2006/relationships/slide" Target="slides/slide133.xml" /><Relationship Id="rId139" Type="http://schemas.openxmlformats.org/officeDocument/2006/relationships/slide" Target="slides/slide138.xml" /><Relationship Id="rId80" Type="http://schemas.openxmlformats.org/officeDocument/2006/relationships/slide" Target="slides/slide79.xml" /><Relationship Id="rId85" Type="http://schemas.openxmlformats.org/officeDocument/2006/relationships/slide" Target="slides/slide84.xml" /><Relationship Id="rId150" Type="http://schemas.openxmlformats.org/officeDocument/2006/relationships/slide" Target="slides/slide149.xml" /><Relationship Id="rId155" Type="http://schemas.openxmlformats.org/officeDocument/2006/relationships/slide" Target="slides/slide154.xml" /><Relationship Id="rId201" Type="http://schemas.openxmlformats.org/officeDocument/2006/relationships/viewProps" Target="viewProps.xml" /><Relationship Id="rId12" Type="http://schemas.openxmlformats.org/officeDocument/2006/relationships/slide" Target="slides/slide11.xml" /><Relationship Id="rId17" Type="http://schemas.openxmlformats.org/officeDocument/2006/relationships/slide" Target="slides/slide16.xml" /><Relationship Id="rId33" Type="http://schemas.openxmlformats.org/officeDocument/2006/relationships/slide" Target="slides/slide32.xml" /><Relationship Id="rId38" Type="http://schemas.openxmlformats.org/officeDocument/2006/relationships/slide" Target="slides/slide37.xml" /><Relationship Id="rId59" Type="http://schemas.openxmlformats.org/officeDocument/2006/relationships/slide" Target="slides/slide58.xml" /><Relationship Id="rId103" Type="http://schemas.openxmlformats.org/officeDocument/2006/relationships/slide" Target="slides/slide102.xml" /><Relationship Id="rId108" Type="http://schemas.openxmlformats.org/officeDocument/2006/relationships/slide" Target="slides/slide107.xml" /><Relationship Id="rId124" Type="http://schemas.openxmlformats.org/officeDocument/2006/relationships/slide" Target="slides/slide123.xml" /><Relationship Id="rId129" Type="http://schemas.openxmlformats.org/officeDocument/2006/relationships/slide" Target="slides/slide128.xml" /><Relationship Id="rId54" Type="http://schemas.openxmlformats.org/officeDocument/2006/relationships/slide" Target="slides/slide53.xml" /><Relationship Id="rId70" Type="http://schemas.openxmlformats.org/officeDocument/2006/relationships/slide" Target="slides/slide69.xml" /><Relationship Id="rId75" Type="http://schemas.openxmlformats.org/officeDocument/2006/relationships/slide" Target="slides/slide74.xml" /><Relationship Id="rId91" Type="http://schemas.openxmlformats.org/officeDocument/2006/relationships/slide" Target="slides/slide90.xml" /><Relationship Id="rId96" Type="http://schemas.openxmlformats.org/officeDocument/2006/relationships/slide" Target="slides/slide95.xml" /><Relationship Id="rId140" Type="http://schemas.openxmlformats.org/officeDocument/2006/relationships/slide" Target="slides/slide139.xml" /><Relationship Id="rId145" Type="http://schemas.openxmlformats.org/officeDocument/2006/relationships/slide" Target="slides/slide144.xml" /><Relationship Id="rId161" Type="http://schemas.openxmlformats.org/officeDocument/2006/relationships/slide" Target="slides/slide160.xml" /><Relationship Id="rId166"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23" Type="http://schemas.openxmlformats.org/officeDocument/2006/relationships/slide" Target="slides/slide22.xml" /><Relationship Id="rId28" Type="http://schemas.openxmlformats.org/officeDocument/2006/relationships/slide" Target="slides/slide27.xml" /><Relationship Id="rId49" Type="http://schemas.openxmlformats.org/officeDocument/2006/relationships/slide" Target="slides/slide48.xml" /><Relationship Id="rId114" Type="http://schemas.openxmlformats.org/officeDocument/2006/relationships/slide" Target="slides/slide113.xml" /><Relationship Id="rId119" Type="http://schemas.openxmlformats.org/officeDocument/2006/relationships/slide" Target="slides/slide118.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130" Type="http://schemas.openxmlformats.org/officeDocument/2006/relationships/slide" Target="slides/slide129.xml" /><Relationship Id="rId135" Type="http://schemas.openxmlformats.org/officeDocument/2006/relationships/slide" Target="slides/slide134.xml" /><Relationship Id="rId143" Type="http://schemas.openxmlformats.org/officeDocument/2006/relationships/slide" Target="slides/slide142.xml" /><Relationship Id="rId148" Type="http://schemas.openxmlformats.org/officeDocument/2006/relationships/slide" Target="slides/slide147.xml" /><Relationship Id="rId151" Type="http://schemas.openxmlformats.org/officeDocument/2006/relationships/slide" Target="slides/slide150.xml" /><Relationship Id="rId156" Type="http://schemas.openxmlformats.org/officeDocument/2006/relationships/slide" Target="slides/slide155.xml" /><Relationship Id="rId164" Type="http://schemas.openxmlformats.org/officeDocument/2006/relationships/slide" Target="slides/slide163.xml" /><Relationship Id="rId169" Type="http://schemas.openxmlformats.org/officeDocument/2006/relationships/font" Target="fonts/font3.fntdata" /><Relationship Id="rId4" Type="http://schemas.openxmlformats.org/officeDocument/2006/relationships/slide" Target="slides/slide3.xml" /><Relationship Id="rId9" Type="http://schemas.openxmlformats.org/officeDocument/2006/relationships/slide" Target="slides/slide8.xml" /><Relationship Id="rId202" Type="http://schemas.openxmlformats.org/officeDocument/2006/relationships/theme" Target="theme/theme1.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slide" Target="slides/slide124.xml" /><Relationship Id="rId141" Type="http://schemas.openxmlformats.org/officeDocument/2006/relationships/slide" Target="slides/slide140.xml" /><Relationship Id="rId146" Type="http://schemas.openxmlformats.org/officeDocument/2006/relationships/slide" Target="slides/slide145.xml" /><Relationship Id="rId167" Type="http://schemas.openxmlformats.org/officeDocument/2006/relationships/font" Target="fonts/font1.fntdata"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162" Type="http://schemas.openxmlformats.org/officeDocument/2006/relationships/slide" Target="slides/slide16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131" Type="http://schemas.openxmlformats.org/officeDocument/2006/relationships/slide" Target="slides/slide130.xml" /><Relationship Id="rId136" Type="http://schemas.openxmlformats.org/officeDocument/2006/relationships/slide" Target="slides/slide135.xml" /><Relationship Id="rId157" Type="http://schemas.openxmlformats.org/officeDocument/2006/relationships/slide" Target="slides/slide156.xml" /><Relationship Id="rId61" Type="http://schemas.openxmlformats.org/officeDocument/2006/relationships/slide" Target="slides/slide60.xml" /><Relationship Id="rId82" Type="http://schemas.openxmlformats.org/officeDocument/2006/relationships/slide" Target="slides/slide81.xml" /><Relationship Id="rId152" Type="http://schemas.openxmlformats.org/officeDocument/2006/relationships/slide" Target="slides/slide151.xml" /><Relationship Id="rId199" Type="http://customschemas.google.com/relationships/presentationmetadata" Target="metadata" /><Relationship Id="rId203" Type="http://schemas.openxmlformats.org/officeDocument/2006/relationships/tableStyles" Target="tableStyles.xml" /><Relationship Id="rId19" Type="http://schemas.openxmlformats.org/officeDocument/2006/relationships/slide" Target="slides/slide18.xml" /><Relationship Id="rId14" Type="http://schemas.openxmlformats.org/officeDocument/2006/relationships/slide" Target="slides/slide13.xml" /><Relationship Id="rId30" Type="http://schemas.openxmlformats.org/officeDocument/2006/relationships/slide" Target="slides/slide29.xml" /><Relationship Id="rId35" Type="http://schemas.openxmlformats.org/officeDocument/2006/relationships/slide" Target="slides/slide34.xml" /><Relationship Id="rId56" Type="http://schemas.openxmlformats.org/officeDocument/2006/relationships/slide" Target="slides/slide55.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26" Type="http://schemas.openxmlformats.org/officeDocument/2006/relationships/slide" Target="slides/slide125.xml" /><Relationship Id="rId147" Type="http://schemas.openxmlformats.org/officeDocument/2006/relationships/slide" Target="slides/slide146.xml" /><Relationship Id="rId168" Type="http://schemas.openxmlformats.org/officeDocument/2006/relationships/font" Target="fonts/font2.fntdata"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142" Type="http://schemas.openxmlformats.org/officeDocument/2006/relationships/slide" Target="slides/slide141.xml" /><Relationship Id="rId163" Type="http://schemas.openxmlformats.org/officeDocument/2006/relationships/slide" Target="slides/slide162.xml" /><Relationship Id="rId3" Type="http://schemas.openxmlformats.org/officeDocument/2006/relationships/slide" Target="slides/slide2.xml" /><Relationship Id="rId25" Type="http://schemas.openxmlformats.org/officeDocument/2006/relationships/slide" Target="slides/slide24.xml" /><Relationship Id="rId46" Type="http://schemas.openxmlformats.org/officeDocument/2006/relationships/slide" Target="slides/slide45.xml" /><Relationship Id="rId67" Type="http://schemas.openxmlformats.org/officeDocument/2006/relationships/slide" Target="slides/slide66.xml" /><Relationship Id="rId116" Type="http://schemas.openxmlformats.org/officeDocument/2006/relationships/slide" Target="slides/slide115.xml" /><Relationship Id="rId137" Type="http://schemas.openxmlformats.org/officeDocument/2006/relationships/slide" Target="slides/slide136.xml" /><Relationship Id="rId158" Type="http://schemas.openxmlformats.org/officeDocument/2006/relationships/slide" Target="slides/slide157.xml" /><Relationship Id="rId20" Type="http://schemas.openxmlformats.org/officeDocument/2006/relationships/slide" Target="slides/slide19.xml" /><Relationship Id="rId41" Type="http://schemas.openxmlformats.org/officeDocument/2006/relationships/slide" Target="slides/slide40.xml" /><Relationship Id="rId62" Type="http://schemas.openxmlformats.org/officeDocument/2006/relationships/slide" Target="slides/slide61.xml" /><Relationship Id="rId83" Type="http://schemas.openxmlformats.org/officeDocument/2006/relationships/slide" Target="slides/slide82.xml" /><Relationship Id="rId88" Type="http://schemas.openxmlformats.org/officeDocument/2006/relationships/slide" Target="slides/slide87.xml" /><Relationship Id="rId111" Type="http://schemas.openxmlformats.org/officeDocument/2006/relationships/slide" Target="slides/slide110.xml" /><Relationship Id="rId132" Type="http://schemas.openxmlformats.org/officeDocument/2006/relationships/slide" Target="slides/slide131.xml" /><Relationship Id="rId153" Type="http://schemas.openxmlformats.org/officeDocument/2006/relationships/slide" Target="slides/slide152.xml" /><Relationship Id="rId15" Type="http://schemas.openxmlformats.org/officeDocument/2006/relationships/slide" Target="slides/slide14.xml" /><Relationship Id="rId36" Type="http://schemas.openxmlformats.org/officeDocument/2006/relationships/slide" Target="slides/slide35.xml" /><Relationship Id="rId57" Type="http://schemas.openxmlformats.org/officeDocument/2006/relationships/slide" Target="slides/slide56.xml" /><Relationship Id="rId106" Type="http://schemas.openxmlformats.org/officeDocument/2006/relationships/slide" Target="slides/slide105.xml" /><Relationship Id="rId127" Type="http://schemas.openxmlformats.org/officeDocument/2006/relationships/slide" Target="slides/slide12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281467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 /><Relationship Id="rId1" Type="http://schemas.openxmlformats.org/officeDocument/2006/relationships/notesMaster" Target="../notesMasters/notesMaster1.xml" /></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 /><Relationship Id="rId1" Type="http://schemas.openxmlformats.org/officeDocument/2006/relationships/notesMaster" Target="../notesMasters/notesMaster1.xml" /></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 /><Relationship Id="rId1" Type="http://schemas.openxmlformats.org/officeDocument/2006/relationships/notesMaster" Target="../notesMasters/notesMaster1.xml" /></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 /><Relationship Id="rId1" Type="http://schemas.openxmlformats.org/officeDocument/2006/relationships/notesMaster" Target="../notesMasters/notesMaster1.xml" /></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 /><Relationship Id="rId1" Type="http://schemas.openxmlformats.org/officeDocument/2006/relationships/notesMaster" Target="../notesMasters/notesMaster1.xml" /></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 /><Relationship Id="rId1" Type="http://schemas.openxmlformats.org/officeDocument/2006/relationships/notesMaster" Target="../notesMasters/notesMaster1.xml" /></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 /><Relationship Id="rId1" Type="http://schemas.openxmlformats.org/officeDocument/2006/relationships/notesMaster" Target="../notesMasters/notesMaster1.xml" /></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 /><Relationship Id="rId1" Type="http://schemas.openxmlformats.org/officeDocument/2006/relationships/notesMaster" Target="../notesMasters/notesMaster1.xml" /></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 /><Relationship Id="rId1" Type="http://schemas.openxmlformats.org/officeDocument/2006/relationships/notesMaster" Target="../notesMasters/notesMaster1.xml" /></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 /><Relationship Id="rId1" Type="http://schemas.openxmlformats.org/officeDocument/2006/relationships/notesMaster" Target="../notesMasters/notesMaster1.xml" /></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 /><Relationship Id="rId1" Type="http://schemas.openxmlformats.org/officeDocument/2006/relationships/notesMaster" Target="../notesMasters/notesMaster1.xml" /></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 /><Relationship Id="rId1" Type="http://schemas.openxmlformats.org/officeDocument/2006/relationships/notesMaster" Target="../notesMasters/notesMaster1.xml" /></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 /><Relationship Id="rId1" Type="http://schemas.openxmlformats.org/officeDocument/2006/relationships/notesMaster" Target="../notesMasters/notesMaster1.xml" /></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 /><Relationship Id="rId1" Type="http://schemas.openxmlformats.org/officeDocument/2006/relationships/notesMaster" Target="../notesMasters/notesMaster1.xml" /></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 /><Relationship Id="rId1" Type="http://schemas.openxmlformats.org/officeDocument/2006/relationships/notesMaster" Target="../notesMasters/notesMaster1.xml" /></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 /><Relationship Id="rId1" Type="http://schemas.openxmlformats.org/officeDocument/2006/relationships/notesMaster" Target="../notesMasters/notesMaster1.xml" /></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 /><Relationship Id="rId1" Type="http://schemas.openxmlformats.org/officeDocument/2006/relationships/notesMaster" Target="../notesMasters/notesMaster1.xml" /></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 /><Relationship Id="rId1" Type="http://schemas.openxmlformats.org/officeDocument/2006/relationships/notesMaster" Target="../notesMasters/notesMaster1.xml" /></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 /><Relationship Id="rId1" Type="http://schemas.openxmlformats.org/officeDocument/2006/relationships/notesMaster" Target="../notesMasters/notesMaster1.xml" /></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 /><Relationship Id="rId1" Type="http://schemas.openxmlformats.org/officeDocument/2006/relationships/notesMaster" Target="../notesMasters/notesMaster1.xml" /></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 /><Relationship Id="rId1" Type="http://schemas.openxmlformats.org/officeDocument/2006/relationships/notesMaster" Target="../notesMasters/notesMaster1.xml" /></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 /><Relationship Id="rId1" Type="http://schemas.openxmlformats.org/officeDocument/2006/relationships/notesMaster" Target="../notesMasters/notesMaster1.xml" /></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 /><Relationship Id="rId1" Type="http://schemas.openxmlformats.org/officeDocument/2006/relationships/notesMaster" Target="../notesMasters/notesMaster1.xml" /></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 /><Relationship Id="rId1" Type="http://schemas.openxmlformats.org/officeDocument/2006/relationships/notesMaster" Target="../notesMasters/notesMaster1.xml" /></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 /><Relationship Id="rId1" Type="http://schemas.openxmlformats.org/officeDocument/2006/relationships/notesMaster" Target="../notesMasters/notesMaster1.xml" /></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 /><Relationship Id="rId1" Type="http://schemas.openxmlformats.org/officeDocument/2006/relationships/notesMaster" Target="../notesMasters/notesMaster1.xml" /></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 /><Relationship Id="rId1" Type="http://schemas.openxmlformats.org/officeDocument/2006/relationships/notesMaster" Target="../notesMasters/notesMaster1.xml" /></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 /><Relationship Id="rId1" Type="http://schemas.openxmlformats.org/officeDocument/2006/relationships/notesMaster" Target="../notesMasters/notesMaster1.xml" /></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3.xml" /><Relationship Id="rId1" Type="http://schemas.openxmlformats.org/officeDocument/2006/relationships/notesMaster" Target="../notesMasters/notesMaster1.xml" /></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4.xml" /><Relationship Id="rId1" Type="http://schemas.openxmlformats.org/officeDocument/2006/relationships/notesMaster" Target="../notesMasters/notesMaster1.xml" /></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617de2160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617de2160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617de2160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617de2160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617de2160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617de2160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617de2160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617de2160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617de2160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617de2160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617de2160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617de2160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617de21601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617de2160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9b8a67838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9b8a6783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6183a85b31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6183a85b3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6183a85b3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6183a85b31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6183a85b31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6183a85b31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9c65cd7469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29c65cd746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9c65cd7469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9c65cd746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9c65cd7469_0_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9c65cd7469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9c65cd7469_0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9c65cd746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9c65cd746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9c65cd746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9c65cd7469_0_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9c65cd7469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9c65cd7469_0_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9c65cd7469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9c65cd7469_0_1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9c65cd746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9c65cd7469_0_1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9c65cd7469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9c65cd7469_0_1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9c65cd7469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9c65cd7469_0_1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29c65cd7469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9c65cd7469_0_1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9c65cd7469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2a026ff4b9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2a026ff4b9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a026ff4b9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2a026ff4b9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a026ff4b91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a026ff4b9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a026ff4b91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a026ff4b9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a026ff4b91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2a026ff4b9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9b8a67838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9b8a67838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6183a85b3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6183a85b3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6183a85b31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6183a85b3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6183a85b3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6183a85b3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6183a85b3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6183a85b3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6183a85b3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6183a85b3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6183a85b31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6183a85b31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9c5dcd50c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9c5dcd50c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9c65cd7469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9c65cd74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9c65cd7469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29c65cd746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9c65cd7469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9c65cd746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9c65cd7469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9c65cd746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9c65cd7469_0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9c65cd7469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9c65cd7469_0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9c65cd746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2a2df43153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2a2df43153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a2df431535_0_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2a2df43153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2a2df431535_0_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2a2df43153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a2df431535_0_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2a2df43153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a2df43153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2a2df43153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a2df431535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2a2df43153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a2df431535_0_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2a2df431535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a2df431535_0_1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2a2df431535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a2df431535_0_1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2a2df43153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a2df431535_0_1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 name="Google Shape;765;g2a2df43153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a2df431535_0_1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2a2df431535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a2df431535_0_15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2a2df431535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a8aac945e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5" name="Google Shape;785;g2a8aac945e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a8aac945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0" name="Google Shape;790;g2a8aac945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a2df431535_0_1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2a2df431535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a2df431535_0_1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2a2df431535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a2df431535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2a2df431535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a2df431535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2a2df431535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a8aac945e6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4" name="Google Shape;824;g2a8aac945e6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a8aac945e6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0" name="Google Shape;830;g2a8aac945e6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X=42</a:t>
            </a:r>
            <a:endParaRPr/>
          </a:p>
          <a:p>
            <a:pPr marL="0" lvl="0" indent="0" algn="l" rtl="0">
              <a:spcBef>
                <a:spcPts val="0"/>
              </a:spcBef>
              <a:spcAft>
                <a:spcPts val="0"/>
              </a:spcAft>
              <a:buSzPts val="1800"/>
              <a:buNone/>
            </a:pPr>
            <a:r>
              <a:rPr lang="en-US"/>
              <a:t>Y=++x         y=</a:t>
            </a:r>
            <a:r>
              <a:rPr lang="en-US">
                <a:solidFill>
                  <a:srgbClr val="FF0000"/>
                </a:solidFill>
              </a:rPr>
              <a:t>x++</a:t>
            </a:r>
            <a:endParaRPr/>
          </a:p>
          <a:p>
            <a:pPr marL="0" lvl="0" indent="0" algn="l" rtl="0">
              <a:spcBef>
                <a:spcPts val="0"/>
              </a:spcBef>
              <a:spcAft>
                <a:spcPts val="0"/>
              </a:spcAft>
              <a:buSzPts val="1800"/>
              <a:buNone/>
            </a:pPr>
            <a:r>
              <a:rPr lang="en-US"/>
              <a:t>Y=43            y=42</a:t>
            </a:r>
            <a:endParaRPr/>
          </a:p>
          <a:p>
            <a:pPr marL="0" lvl="0" indent="0" algn="l" rtl="0">
              <a:spcBef>
                <a:spcPts val="0"/>
              </a:spcBef>
              <a:spcAft>
                <a:spcPts val="0"/>
              </a:spcAft>
              <a:buSzPts val="1800"/>
              <a:buNone/>
            </a:pPr>
            <a:r>
              <a:rPr lang="en-US"/>
              <a:t>X=43            x=43</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None/>
            </a:pPr>
            <a:endParaRPr/>
          </a:p>
        </p:txBody>
      </p:sp>
      <p:sp>
        <p:nvSpPr>
          <p:cNvPr id="831" name="Google Shape;831;g2a8aac945e6_0_167: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32" name="Google Shape;832;g2a8aac945e6_0_167: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33" name="Google Shape;833;g2a8aac945e6_0_16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84</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a8aac945e6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8" name="Google Shape;838;g2a8aac945e6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The output of this program follows:</a:t>
            </a:r>
            <a:endParaRPr/>
          </a:p>
          <a:p>
            <a:pPr marL="0" lvl="0" indent="0" algn="l" rtl="0">
              <a:spcBef>
                <a:spcPts val="0"/>
              </a:spcBef>
              <a:spcAft>
                <a:spcPts val="0"/>
              </a:spcAft>
              <a:buSzPts val="1800"/>
              <a:buNone/>
            </a:pPr>
            <a:r>
              <a:rPr lang="en-US"/>
              <a:t>a = 2</a:t>
            </a:r>
            <a:endParaRPr/>
          </a:p>
          <a:p>
            <a:pPr marL="0" lvl="0" indent="0" algn="l" rtl="0">
              <a:spcBef>
                <a:spcPts val="0"/>
              </a:spcBef>
              <a:spcAft>
                <a:spcPts val="0"/>
              </a:spcAft>
              <a:buSzPts val="1800"/>
              <a:buNone/>
            </a:pPr>
            <a:r>
              <a:rPr lang="en-US"/>
              <a:t>b = 3</a:t>
            </a:r>
            <a:endParaRPr/>
          </a:p>
          <a:p>
            <a:pPr marL="0" lvl="0" indent="0" algn="l" rtl="0">
              <a:spcBef>
                <a:spcPts val="0"/>
              </a:spcBef>
              <a:spcAft>
                <a:spcPts val="0"/>
              </a:spcAft>
              <a:buSzPts val="1800"/>
              <a:buNone/>
            </a:pPr>
            <a:r>
              <a:rPr lang="en-US"/>
              <a:t>c = 4</a:t>
            </a:r>
            <a:endParaRPr/>
          </a:p>
          <a:p>
            <a:pPr marL="0" lvl="0" indent="0" algn="l" rtl="0">
              <a:spcBef>
                <a:spcPts val="0"/>
              </a:spcBef>
              <a:spcAft>
                <a:spcPts val="0"/>
              </a:spcAft>
              <a:buSzPts val="1800"/>
              <a:buNone/>
            </a:pPr>
            <a:r>
              <a:rPr lang="en-US"/>
              <a:t>d = 1</a:t>
            </a:r>
            <a:endParaRPr/>
          </a:p>
        </p:txBody>
      </p:sp>
      <p:sp>
        <p:nvSpPr>
          <p:cNvPr id="839" name="Google Shape;839;g2a8aac945e6_0_174: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40" name="Google Shape;840;g2a8aac945e6_0_174: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41" name="Google Shape;841;g2a8aac945e6_0_17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85</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a8aac945e6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7" name="Google Shape;847;g2a8aac945e6_0_1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For</a:t>
            </a:r>
            <a:endParaRPr/>
          </a:p>
          <a:p>
            <a:pPr marL="0" lvl="0" indent="0" algn="l" rtl="0">
              <a:spcBef>
                <a:spcPts val="0"/>
              </a:spcBef>
              <a:spcAft>
                <a:spcPts val="0"/>
              </a:spcAft>
              <a:buSzPts val="1800"/>
              <a:buNone/>
            </a:pPr>
            <a:r>
              <a:rPr lang="en-US"/>
              <a:t>example, the </a:t>
            </a:r>
            <a:r>
              <a:rPr lang="en-US" b="1"/>
              <a:t>byte value for 42 in binary is 00101010, where each position represents a power</a:t>
            </a:r>
            <a:endParaRPr/>
          </a:p>
          <a:p>
            <a:pPr marL="0" lvl="0" indent="0" algn="l" rtl="0">
              <a:spcBef>
                <a:spcPts val="0"/>
              </a:spcBef>
              <a:spcAft>
                <a:spcPts val="0"/>
              </a:spcAft>
              <a:buSzPts val="1800"/>
              <a:buNone/>
            </a:pPr>
            <a:r>
              <a:rPr lang="en-US"/>
              <a:t>of two, starting with 20 at the rightmost bit. The next bit position to the left would be 21, or 2,</a:t>
            </a:r>
            <a:endParaRPr/>
          </a:p>
          <a:p>
            <a:pPr marL="0" lvl="0" indent="0" algn="l" rtl="0">
              <a:spcBef>
                <a:spcPts val="0"/>
              </a:spcBef>
              <a:spcAft>
                <a:spcPts val="0"/>
              </a:spcAft>
              <a:buSzPts val="1800"/>
              <a:buNone/>
            </a:pPr>
            <a:r>
              <a:rPr lang="en-US"/>
              <a:t>continuing toward the left with 22, or 4, then 8, 16, 32, and so on.</a:t>
            </a:r>
            <a:endParaRPr/>
          </a:p>
        </p:txBody>
      </p:sp>
      <p:sp>
        <p:nvSpPr>
          <p:cNvPr id="848" name="Google Shape;848;g2a8aac945e6_0_181: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49" name="Google Shape;849;g2a8aac945e6_0_181: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50" name="Google Shape;850;g2a8aac945e6_0_18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86</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a8aac945e6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g2a8aac945e6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a8aac945e6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4" name="Google Shape;864;g2a8aac945e6_0_1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a = 0011</a:t>
            </a:r>
            <a:endParaRPr/>
          </a:p>
          <a:p>
            <a:pPr marL="0" lvl="0" indent="0" algn="l" rtl="0">
              <a:spcBef>
                <a:spcPts val="0"/>
              </a:spcBef>
              <a:spcAft>
                <a:spcPts val="0"/>
              </a:spcAft>
              <a:buSzPts val="1800"/>
              <a:buNone/>
            </a:pPr>
            <a:r>
              <a:rPr lang="en-US"/>
              <a:t>b = 0110</a:t>
            </a:r>
            <a:endParaRPr/>
          </a:p>
          <a:p>
            <a:pPr marL="0" lvl="0" indent="0" algn="l" rtl="0">
              <a:spcBef>
                <a:spcPts val="0"/>
              </a:spcBef>
              <a:spcAft>
                <a:spcPts val="0"/>
              </a:spcAft>
              <a:buSzPts val="1800"/>
              <a:buNone/>
            </a:pPr>
            <a:r>
              <a:rPr lang="en-US"/>
              <a:t>a|b = 0111</a:t>
            </a:r>
            <a:endParaRPr/>
          </a:p>
          <a:p>
            <a:pPr marL="0" lvl="0" indent="0" algn="l" rtl="0">
              <a:spcBef>
                <a:spcPts val="0"/>
              </a:spcBef>
              <a:spcAft>
                <a:spcPts val="0"/>
              </a:spcAft>
              <a:buSzPts val="1800"/>
              <a:buNone/>
            </a:pPr>
            <a:r>
              <a:rPr lang="en-US"/>
              <a:t>a&amp;b = 0010</a:t>
            </a:r>
            <a:endParaRPr/>
          </a:p>
          <a:p>
            <a:pPr marL="0" lvl="0" indent="0" algn="l" rtl="0">
              <a:spcBef>
                <a:spcPts val="0"/>
              </a:spcBef>
              <a:spcAft>
                <a:spcPts val="0"/>
              </a:spcAft>
              <a:buSzPts val="1800"/>
              <a:buNone/>
            </a:pPr>
            <a:r>
              <a:rPr lang="en-US"/>
              <a:t>a^b = 0101</a:t>
            </a:r>
            <a:endParaRPr/>
          </a:p>
          <a:p>
            <a:pPr marL="0" lvl="0" indent="0" algn="l" rtl="0">
              <a:spcBef>
                <a:spcPts val="0"/>
              </a:spcBef>
              <a:spcAft>
                <a:spcPts val="0"/>
              </a:spcAft>
              <a:buSzPts val="1800"/>
              <a:buNone/>
            </a:pPr>
            <a:r>
              <a:rPr lang="en-US"/>
              <a:t>~a&amp;b|a&amp;~b = 0101</a:t>
            </a:r>
            <a:endParaRPr/>
          </a:p>
          <a:p>
            <a:pPr marL="0" lvl="0" indent="0" algn="l" rtl="0">
              <a:spcBef>
                <a:spcPts val="0"/>
              </a:spcBef>
              <a:spcAft>
                <a:spcPts val="0"/>
              </a:spcAft>
              <a:buSzPts val="1800"/>
              <a:buNone/>
            </a:pPr>
            <a:r>
              <a:rPr lang="en-US"/>
              <a:t>~a = 1100</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0    0    1    1        1100</a:t>
            </a:r>
            <a:endParaRPr/>
          </a:p>
          <a:p>
            <a:pPr marL="0" lvl="0" indent="0" algn="l" rtl="0">
              <a:spcBef>
                <a:spcPts val="0"/>
              </a:spcBef>
              <a:spcAft>
                <a:spcPts val="0"/>
              </a:spcAft>
              <a:buSzPts val="1800"/>
              <a:buNone/>
            </a:pPr>
            <a:r>
              <a:rPr lang="en-US"/>
              <a:t>0    1    1    0</a:t>
            </a:r>
            <a:endParaRPr/>
          </a:p>
          <a:p>
            <a:pPr marL="0" lvl="0" indent="0" algn="l" rtl="0">
              <a:spcBef>
                <a:spcPts val="0"/>
              </a:spcBef>
              <a:spcAft>
                <a:spcPts val="0"/>
              </a:spcAft>
              <a:buSzPts val="1800"/>
              <a:buNone/>
            </a:pPr>
            <a:r>
              <a:rPr lang="en-US"/>
              <a:t>0     0    1    0</a:t>
            </a:r>
            <a:endParaRPr/>
          </a:p>
        </p:txBody>
      </p:sp>
      <p:sp>
        <p:nvSpPr>
          <p:cNvPr id="865" name="Google Shape;865;g2a8aac945e6_0_196: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66" name="Google Shape;866;g2a8aac945e6_0_196: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67" name="Google Shape;867;g2a8aac945e6_0_19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88</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a8aac945e6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3" name="Google Shape;873;g2a8aac945e6_0_2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4" name="Google Shape;874;g2a8aac945e6_0_203: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75" name="Google Shape;875;g2a8aac945e6_0_203: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76" name="Google Shape;876;g2a8aac945e6_0_20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89</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a8aac945e6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2" name="Google Shape;882;g2a8aac945e6_0_2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The output generated by this program is shown here:</a:t>
            </a:r>
            <a:endParaRPr/>
          </a:p>
          <a:p>
            <a:pPr marL="0" lvl="0" indent="0" algn="l" rtl="0">
              <a:spcBef>
                <a:spcPts val="0"/>
              </a:spcBef>
              <a:spcAft>
                <a:spcPts val="0"/>
              </a:spcAft>
              <a:buSzPts val="1800"/>
              <a:buNone/>
            </a:pPr>
            <a:r>
              <a:rPr lang="en-US"/>
              <a:t>Original value of a: 64</a:t>
            </a:r>
            <a:endParaRPr/>
          </a:p>
          <a:p>
            <a:pPr marL="0" lvl="0" indent="0" algn="l" rtl="0">
              <a:spcBef>
                <a:spcPts val="0"/>
              </a:spcBef>
              <a:spcAft>
                <a:spcPts val="0"/>
              </a:spcAft>
              <a:buSzPts val="1800"/>
              <a:buNone/>
            </a:pPr>
            <a:r>
              <a:rPr lang="en-US"/>
              <a:t>i and b: 256 0</a:t>
            </a:r>
            <a:endParaRPr/>
          </a:p>
        </p:txBody>
      </p:sp>
      <p:sp>
        <p:nvSpPr>
          <p:cNvPr id="883" name="Google Shape;883;g2a8aac945e6_0_211: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884" name="Google Shape;884;g2a8aac945e6_0_211: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885" name="Google Shape;885;g2a8aac945e6_0_21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90</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a8aac945e6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0" name="Google Shape;890;g2a8aac945e6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a8aac945e6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2a8aac945e6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a8aac945e6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2" name="Google Shape;902;g2a8aac945e6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a8aac945e6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8" name="Google Shape;908;g2a8aac945e6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a8aac945e6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4" name="Google Shape;914;g2a8aac945e6_0_2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The output of this program is shown here:</a:t>
            </a:r>
            <a:endParaRPr/>
          </a:p>
          <a:p>
            <a:pPr marL="0" lvl="0" indent="0" algn="l" rtl="0">
              <a:spcBef>
                <a:spcPts val="0"/>
              </a:spcBef>
              <a:spcAft>
                <a:spcPts val="0"/>
              </a:spcAft>
              <a:buSzPts val="1800"/>
              <a:buNone/>
            </a:pPr>
            <a:r>
              <a:rPr lang="en-US"/>
              <a:t>a = 3</a:t>
            </a:r>
            <a:endParaRPr/>
          </a:p>
          <a:p>
            <a:pPr marL="0" lvl="0" indent="0" algn="l" rtl="0">
              <a:spcBef>
                <a:spcPts val="0"/>
              </a:spcBef>
              <a:spcAft>
                <a:spcPts val="0"/>
              </a:spcAft>
              <a:buSzPts val="1800"/>
              <a:buNone/>
            </a:pPr>
            <a:r>
              <a:rPr lang="en-US"/>
              <a:t>b = 1</a:t>
            </a:r>
            <a:endParaRPr/>
          </a:p>
          <a:p>
            <a:pPr marL="0" lvl="0" indent="0" algn="l" rtl="0">
              <a:spcBef>
                <a:spcPts val="0"/>
              </a:spcBef>
              <a:spcAft>
                <a:spcPts val="0"/>
              </a:spcAft>
              <a:buSzPts val="1800"/>
              <a:buNone/>
            </a:pPr>
            <a:r>
              <a:rPr lang="en-US"/>
              <a:t>c = 6</a:t>
            </a:r>
            <a:endParaRPr/>
          </a:p>
        </p:txBody>
      </p:sp>
      <p:sp>
        <p:nvSpPr>
          <p:cNvPr id="915" name="Google Shape;915;g2a8aac945e6_0_238: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916" name="Google Shape;916;g2a8aac945e6_0_238: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917" name="Google Shape;917;g2a8aac945e6_0_23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95</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a8aac945e6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2" name="Google Shape;922;g2a8aac945e6_0_2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The outcome of these operations is a </a:t>
            </a:r>
            <a:r>
              <a:rPr lang="en-US" b="1"/>
              <a:t>boolean value. The relational operators are most</a:t>
            </a:r>
            <a:endParaRPr/>
          </a:p>
          <a:p>
            <a:pPr marL="0" lvl="0" indent="0" algn="l" rtl="0">
              <a:spcBef>
                <a:spcPts val="0"/>
              </a:spcBef>
              <a:spcAft>
                <a:spcPts val="0"/>
              </a:spcAft>
              <a:buSzPts val="1800"/>
              <a:buNone/>
            </a:pPr>
            <a:r>
              <a:rPr lang="en-US"/>
              <a:t>frequently used in the expressions that control the </a:t>
            </a:r>
            <a:r>
              <a:rPr lang="en-US" b="1"/>
              <a:t>if statement and the various loop statements.</a:t>
            </a:r>
            <a:endParaRPr/>
          </a:p>
        </p:txBody>
      </p:sp>
      <p:sp>
        <p:nvSpPr>
          <p:cNvPr id="923" name="Google Shape;923;g2a8aac945e6_0_245: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924" name="Google Shape;924;g2a8aac945e6_0_245: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925" name="Google Shape;925;g2a8aac945e6_0_24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96</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a8aac945e6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2" name="Google Shape;932;g2a8aac945e6_0_2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This would produce the following result: a == b = false </a:t>
            </a:r>
            <a:endParaRPr/>
          </a:p>
          <a:p>
            <a:pPr marL="0" lvl="0" indent="0" algn="l" rtl="0">
              <a:spcBef>
                <a:spcPts val="0"/>
              </a:spcBef>
              <a:spcAft>
                <a:spcPts val="0"/>
              </a:spcAft>
              <a:buSzPts val="1800"/>
              <a:buNone/>
            </a:pPr>
            <a:r>
              <a:rPr lang="en-US"/>
              <a:t>a != b = true </a:t>
            </a:r>
            <a:endParaRPr/>
          </a:p>
          <a:p>
            <a:pPr marL="0" lvl="0" indent="0" algn="l" rtl="0">
              <a:spcBef>
                <a:spcPts val="0"/>
              </a:spcBef>
              <a:spcAft>
                <a:spcPts val="0"/>
              </a:spcAft>
              <a:buSzPts val="1800"/>
              <a:buNone/>
            </a:pPr>
            <a:r>
              <a:rPr lang="en-US"/>
              <a:t>a &gt; b = false </a:t>
            </a:r>
            <a:endParaRPr/>
          </a:p>
          <a:p>
            <a:pPr marL="0" lvl="0" indent="0" algn="l" rtl="0">
              <a:spcBef>
                <a:spcPts val="0"/>
              </a:spcBef>
              <a:spcAft>
                <a:spcPts val="0"/>
              </a:spcAft>
              <a:buSzPts val="1800"/>
              <a:buNone/>
            </a:pPr>
            <a:r>
              <a:rPr lang="en-US"/>
              <a:t>a &lt; b = true </a:t>
            </a:r>
            <a:endParaRPr/>
          </a:p>
          <a:p>
            <a:pPr marL="0" lvl="0" indent="0" algn="l" rtl="0">
              <a:spcBef>
                <a:spcPts val="0"/>
              </a:spcBef>
              <a:spcAft>
                <a:spcPts val="0"/>
              </a:spcAft>
              <a:buSzPts val="1800"/>
              <a:buNone/>
            </a:pPr>
            <a:r>
              <a:rPr lang="en-US"/>
              <a:t>b &gt;= a = true </a:t>
            </a:r>
            <a:endParaRPr/>
          </a:p>
          <a:p>
            <a:pPr marL="0" lvl="0" indent="0" algn="l" rtl="0">
              <a:spcBef>
                <a:spcPts val="0"/>
              </a:spcBef>
              <a:spcAft>
                <a:spcPts val="0"/>
              </a:spcAft>
              <a:buSzPts val="1800"/>
              <a:buNone/>
            </a:pPr>
            <a:r>
              <a:rPr lang="en-US"/>
              <a:t>b &lt;= a = false </a:t>
            </a:r>
            <a:endParaRPr/>
          </a:p>
        </p:txBody>
      </p:sp>
      <p:sp>
        <p:nvSpPr>
          <p:cNvPr id="933" name="Google Shape;933;g2a8aac945e6_0_254:notes"/>
          <p:cNvSpPr txBox="1"/>
          <p:nvPr/>
        </p:nvSpPr>
        <p:spPr>
          <a:xfrm>
            <a:off x="3884612" y="0"/>
            <a:ext cx="29718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a:t>
            </a:r>
            <a:endParaRPr/>
          </a:p>
        </p:txBody>
      </p:sp>
      <p:sp>
        <p:nvSpPr>
          <p:cNvPr id="934" name="Google Shape;934;g2a8aac945e6_0_254: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MITE</a:t>
            </a:r>
            <a:endParaRPr/>
          </a:p>
        </p:txBody>
      </p:sp>
      <p:sp>
        <p:nvSpPr>
          <p:cNvPr id="935" name="Google Shape;935;g2a8aac945e6_0_25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97</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a2df431535_0_2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2a2df431535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a8aac945e6_0_3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6" name="Google Shape;946;g2a8aac945e6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a8aac945e6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2a8aac945e6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a8aac945e6_0_3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2a8aac945e6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a8aac945e6_0_3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2a8aac945e6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a8aac945e6_0_3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2a8aac945e6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a8aac945e6_0_40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2a8aac945e6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a8aac945e6_0_4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2a8aac945e6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a8aac945e6_0_4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2a8aac945e6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a8aac945e6_0_4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2a8aac945e6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a8aac945e6_0_4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4" name="Google Shape;1004;g2a8aac945e6_0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a8aac945e6_0_4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1" name="Google Shape;1011;g2a8aac945e6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a8aac945e6_0_4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2a8aac945e6_0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a8aac945e6_0_4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2a8aac945e6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a8aac945e6_0_4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2a8aac945e6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a8aac945e6_0_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0" name="Google Shape;1040;g2a8aac945e6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a8aac945e6_0_4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2a8aac945e6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a8aac945e6_0_4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2a8aac945e6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a8aac945e6_0_4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2a8aac945e6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a8aac945e6_0_4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6" name="Google Shape;1066;g2a8aac945e6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a8aac945e6_0_5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2a8aac945e6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a8aac945e6_0_5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0" name="Google Shape;1080;g2a8aac945e6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a8aac945e6_0_5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2a8aac945e6_0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a8aac945e6_0_5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2a8aac945e6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a8aac945e6_0_5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 name="Google Shape;1102;g2a8aac945e6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a8aac945e6_0_5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8" name="Google Shape;1108;g2a8aac945e6_0_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2a8aac945e6_0_5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2a8aac945e6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a8aac945e6_0_5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0" name="Google Shape;1120;g2a8aac945e6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2a8aac945e6_0_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6" name="Google Shape;1126;g2a8aac945e6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2a8aac945e6_0_5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2a8aac945e6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2a8aac945e6_0_5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2a8aac945e6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a8aac945e6_0_5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2a8aac945e6_0_5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a8aac945e6_0_59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5" name="Google Shape;1155;g2a8aac945e6_0_5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a8aac945e6_0_6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2a8aac945e6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2a8aac945e6_0_6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2a8aac945e6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2a8aac945e6_0_6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2a8aac945e6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2a8aac945e6_0_6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1" name="Google Shape;1181;g2a8aac945e6_0_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2a8aac945e6_0_6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7" name="Google Shape;1187;g2a8aac945e6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g2a8aac945e6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4" name="Google Shape;1194;g2a8aac945e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2a8aac945e6_1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2a8aac945e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2a8aac945e6_1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2a8aac945e6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2a8aac945e6_1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a8aac945e6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g2a8aac945e6_1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0" name="Google Shape;1220;g2a8aac945e6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2a8aac945e6_1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2a8aac945e6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2a8aac945e6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2a8aac945e6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g2a8aac945e6_1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2" name="Google Shape;1242;g2a8aac945e6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g2a8aac945e6_1_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0" name="Google Shape;1250;g2a8aac945e6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2a8aac945e6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 name="Google Shape;1257;g2a8aac945e6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a:spLocks noGrp="1"/>
          </p:cNvSpPr>
          <p:nvPr>
            <p:ph type="pic" idx="2"/>
          </p:nvPr>
        </p:nvSpPr>
        <p:spPr>
          <a:xfrm>
            <a:off x="5183188" y="987425"/>
            <a:ext cx="6172200" cy="4873625"/>
          </a:xfrm>
          <a:prstGeom prst="rect">
            <a:avLst/>
          </a:prstGeom>
          <a:noFill/>
          <a:ln>
            <a:noFill/>
          </a:ln>
        </p:spPr>
      </p:sp>
      <p:sp>
        <p:nvSpPr>
          <p:cNvPr id="64" name="Google Shape;64;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5091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6.xml" /></Relationships>
</file>

<file path=ppt/slides/_rels/slide1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image" Target="../media/image4.emf"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23.xml" /><Relationship Id="rId1" Type="http://schemas.openxmlformats.org/officeDocument/2006/relationships/slideLayout" Target="../slideLayouts/slideLayout11.xml" /></Relationships>
</file>

<file path=ppt/slides/_rels/slide32.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1.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Relationship Id="rId3" Type="http://schemas.openxmlformats.org/officeDocument/2006/relationships/image" Target="../media/image10.emf" /><Relationship Id="rId2" Type="http://schemas.openxmlformats.org/officeDocument/2006/relationships/image" Target="../media/image9.emf" /><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standalone="yes"?>
<Relationships xmlns="http://schemas.openxmlformats.org/package/2006/relationships"><Relationship Id="rId3" Type="http://schemas.openxmlformats.org/officeDocument/2006/relationships/image" Target="../media/image12.emf" /><Relationship Id="rId2" Type="http://schemas.openxmlformats.org/officeDocument/2006/relationships/image" Target="../media/image11.emf" /><Relationship Id="rId1" Type="http://schemas.openxmlformats.org/officeDocument/2006/relationships/slideLayout" Target="../slideLayouts/slideLayout1.xml" /></Relationships>
</file>

<file path=ppt/slides/_rels/slide47.xml.rels><?xml version="1.0" encoding="UTF-8" standalone="yes"?>
<Relationships xmlns="http://schemas.openxmlformats.org/package/2006/relationships"><Relationship Id="rId3" Type="http://schemas.openxmlformats.org/officeDocument/2006/relationships/image" Target="../media/image14.emf" /><Relationship Id="rId2" Type="http://schemas.openxmlformats.org/officeDocument/2006/relationships/image" Target="../media/image13.emf" /><Relationship Id="rId1" Type="http://schemas.openxmlformats.org/officeDocument/2006/relationships/slideLayout" Target="../slideLayouts/slideLayout1.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1.xml" /></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1.xml" /></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1.xml"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1.xml" /></Relationships>
</file>

<file path=ppt/slides/_rels/slide58.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41.xml" /><Relationship Id="rId1" Type="http://schemas.openxmlformats.org/officeDocument/2006/relationships/slideLayout" Target="../slideLayouts/slideLayout1.xml" /></Relationships>
</file>

<file path=ppt/slides/_rels/slide59.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42.xml" /><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1.xml" /></Relationships>
</file>

<file path=ppt/slides/_rels/slide61.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44.xml" /><Relationship Id="rId1" Type="http://schemas.openxmlformats.org/officeDocument/2006/relationships/slideLayout" Target="../slideLayouts/slideLayout1.xml" /></Relationships>
</file>

<file path=ppt/slides/_rels/slide62.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45.xml" /><Relationship Id="rId1" Type="http://schemas.openxmlformats.org/officeDocument/2006/relationships/slideLayout" Target="../slideLayouts/slideLayout1.xml" /></Relationships>
</file>

<file path=ppt/slides/_rels/slide63.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46.xml" /><Relationship Id="rId1" Type="http://schemas.openxmlformats.org/officeDocument/2006/relationships/slideLayout" Target="../slideLayouts/slideLayout1.xml" /></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1.xml" /></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1.xml" /></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 /><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 /><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 /><Relationship Id="rId1" Type="http://schemas.openxmlformats.org/officeDocument/2006/relationships/slideLayout" Target="../slideLayouts/slideLayout1.xml" /></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1.xml" /></Relationships>
</file>

<file path=ppt/slides/_rels/slide70.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53.xml" /><Relationship Id="rId1" Type="http://schemas.openxmlformats.org/officeDocument/2006/relationships/slideLayout" Target="../slideLayouts/slideLayout1.xml" /></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 /><Relationship Id="rId1" Type="http://schemas.openxmlformats.org/officeDocument/2006/relationships/slideLayout" Target="../slideLayouts/slideLayout1.xml" /></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 /><Relationship Id="rId1" Type="http://schemas.openxmlformats.org/officeDocument/2006/relationships/slideLayout" Target="../slideLayouts/slideLayout1.xml" /></Relationships>
</file>

<file path=ppt/slides/_rels/slide73.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56.xml" /><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 /><Relationship Id="rId1" Type="http://schemas.openxmlformats.org/officeDocument/2006/relationships/slideLayout" Target="../slideLayouts/slideLayout1.xml" /></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 /><Relationship Id="rId1" Type="http://schemas.openxmlformats.org/officeDocument/2006/relationships/slideLayout" Target="../slideLayouts/slideLayout1.xml" /></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 /><Relationship Id="rId1" Type="http://schemas.openxmlformats.org/officeDocument/2006/relationships/slideLayout" Target="../slideLayouts/slideLayout1.xml" /></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 /><Relationship Id="rId1" Type="http://schemas.openxmlformats.org/officeDocument/2006/relationships/slideLayout" Target="../slideLayouts/slideLayout1.xml" /></Relationships>
</file>

<file path=ppt/slides/_rels/slide79.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62.xml" /><Relationship Id="rId1" Type="http://schemas.openxmlformats.org/officeDocument/2006/relationships/slideLayout" Target="../slideLayouts/slideLayout1.xml" /></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3.xml" /><Relationship Id="rId1" Type="http://schemas.openxmlformats.org/officeDocument/2006/relationships/slideLayout" Target="../slideLayouts/slideLayout1.xml" /></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4.xml" /><Relationship Id="rId1" Type="http://schemas.openxmlformats.org/officeDocument/2006/relationships/slideLayout" Target="../slideLayouts/slideLayout1.xml" /></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5.xml" /><Relationship Id="rId1" Type="http://schemas.openxmlformats.org/officeDocument/2006/relationships/slideLayout" Target="../slideLayouts/slideLayout1.xml" /></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6.xml" /><Relationship Id="rId1" Type="http://schemas.openxmlformats.org/officeDocument/2006/relationships/slideLayout" Target="../slideLayouts/slideLayout1.xml" /></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7.xml" /><Relationship Id="rId1" Type="http://schemas.openxmlformats.org/officeDocument/2006/relationships/slideLayout" Target="../slideLayouts/slideLayout1.xml" /></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 /><Relationship Id="rId1" Type="http://schemas.openxmlformats.org/officeDocument/2006/relationships/slideLayout" Target="../slideLayouts/slideLayout1.xml" /></Relationships>
</file>

<file path=ppt/slides/_rels/slide86.xml.rels><?xml version="1.0" encoding="UTF-8" standalone="yes"?>
<Relationships xmlns="http://schemas.openxmlformats.org/package/2006/relationships"><Relationship Id="rId3" Type="http://schemas.openxmlformats.org/officeDocument/2006/relationships/image" Target="../media/image23.jpg" /><Relationship Id="rId2" Type="http://schemas.openxmlformats.org/officeDocument/2006/relationships/notesSlide" Target="../notesSlides/notesSlide69.xml" /><Relationship Id="rId1" Type="http://schemas.openxmlformats.org/officeDocument/2006/relationships/slideLayout" Target="../slideLayouts/slideLayout1.xml" /></Relationships>
</file>

<file path=ppt/slides/_rels/slide87.xml.rels><?xml version="1.0" encoding="UTF-8" standalone="yes"?>
<Relationships xmlns="http://schemas.openxmlformats.org/package/2006/relationships"><Relationship Id="rId3" Type="http://schemas.openxmlformats.org/officeDocument/2006/relationships/image" Target="../media/image24.jpg" /><Relationship Id="rId2" Type="http://schemas.openxmlformats.org/officeDocument/2006/relationships/notesSlide" Target="../notesSlides/notesSlide70.xml" /><Relationship Id="rId1" Type="http://schemas.openxmlformats.org/officeDocument/2006/relationships/slideLayout" Target="../slideLayouts/slideLayout1.xml" /></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1.xml" /><Relationship Id="rId1" Type="http://schemas.openxmlformats.org/officeDocument/2006/relationships/slideLayout" Target="../slideLayouts/slideLayout1.xml" /></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 /><Relationship Id="rId1" Type="http://schemas.openxmlformats.org/officeDocument/2006/relationships/slideLayout" Target="../slideLayouts/slideLayout1.xml" /></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3.xml" /><Relationship Id="rId1" Type="http://schemas.openxmlformats.org/officeDocument/2006/relationships/slideLayout" Target="../slideLayouts/slideLayout1.xml" /></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 /><Relationship Id="rId1" Type="http://schemas.openxmlformats.org/officeDocument/2006/relationships/slideLayout" Target="../slideLayouts/slideLayout1.xml" /></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 /><Relationship Id="rId1" Type="http://schemas.openxmlformats.org/officeDocument/2006/relationships/slideLayout" Target="../slideLayouts/slideLayout1.xml" /></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6.xml" /><Relationship Id="rId1" Type="http://schemas.openxmlformats.org/officeDocument/2006/relationships/slideLayout" Target="../slideLayouts/slideLayout1.xml" /></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 /><Relationship Id="rId1" Type="http://schemas.openxmlformats.org/officeDocument/2006/relationships/slideLayout" Target="../slideLayouts/slideLayout1.xml" /></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 /><Relationship Id="rId1" Type="http://schemas.openxmlformats.org/officeDocument/2006/relationships/slideLayout" Target="../slideLayouts/slideLayout1.xml" /></Relationships>
</file>

<file path=ppt/slides/_rels/slide96.xml.rels><?xml version="1.0" encoding="UTF-8" standalone="yes"?>
<Relationships xmlns="http://schemas.openxmlformats.org/package/2006/relationships"><Relationship Id="rId3" Type="http://schemas.openxmlformats.org/officeDocument/2006/relationships/image" Target="../media/image25.jpg" /><Relationship Id="rId2" Type="http://schemas.openxmlformats.org/officeDocument/2006/relationships/notesSlide" Target="../notesSlides/notesSlide79.xml" /><Relationship Id="rId1" Type="http://schemas.openxmlformats.org/officeDocument/2006/relationships/slideLayout" Target="../slideLayouts/slideLayout1.xml" /></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0.xml" /><Relationship Id="rId1" Type="http://schemas.openxmlformats.org/officeDocument/2006/relationships/slideLayout" Target="../slideLayouts/slideLayout1.xml" /></Relationships>
</file>

<file path=ppt/slides/_rels/slide98.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81.xml" /><Relationship Id="rId1" Type="http://schemas.openxmlformats.org/officeDocument/2006/relationships/slideLayout" Target="../slideLayouts/slideLayout1.xml" /></Relationships>
</file>

<file path=ppt/slides/_rels/slide99.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82.xml" /><Relationship Id="rId1" Type="http://schemas.openxmlformats.org/officeDocument/2006/relationships/slideLayout" Target="../slideLayouts/slideLayout1.xml" /></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3.xml" /><Relationship Id="rId1" Type="http://schemas.openxmlformats.org/officeDocument/2006/relationships/slideLayout" Target="../slideLayouts/slideLayout1.xml" /></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4.xml" /><Relationship Id="rId1" Type="http://schemas.openxmlformats.org/officeDocument/2006/relationships/slideLayout" Target="../slideLayouts/slideLayout1.xml" /></Relationships>
</file>

<file path=ppt/slides/_rels/slide102.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85.xml" /><Relationship Id="rId1" Type="http://schemas.openxmlformats.org/officeDocument/2006/relationships/slideLayout" Target="../slideLayouts/slideLayout1.xml" /></Relationships>
</file>

<file path=ppt/slides/_rels/slide103.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notesSlide" Target="../notesSlides/notesSlide86.xml" /><Relationship Id="rId1" Type="http://schemas.openxmlformats.org/officeDocument/2006/relationships/slideLayout" Target="../slideLayouts/slideLayout1.xml" /></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7.xml" /><Relationship Id="rId1" Type="http://schemas.openxmlformats.org/officeDocument/2006/relationships/slideLayout" Target="../slideLayouts/slideLayout1.xml" /></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8.xml" /><Relationship Id="rId1" Type="http://schemas.openxmlformats.org/officeDocument/2006/relationships/slideLayout" Target="../slideLayouts/slideLayout1.xml" /></Relationships>
</file>

<file path=ppt/slides/_rels/slide106.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89.xml" /><Relationship Id="rId1" Type="http://schemas.openxmlformats.org/officeDocument/2006/relationships/slideLayout" Target="../slideLayouts/slideLayout1.xml" /></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0.xml" /><Relationship Id="rId1" Type="http://schemas.openxmlformats.org/officeDocument/2006/relationships/slideLayout" Target="../slideLayouts/slideLayout1.xml" /></Relationships>
</file>

<file path=ppt/slides/_rels/slide108.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91.xml" /><Relationship Id="rId1" Type="http://schemas.openxmlformats.org/officeDocument/2006/relationships/slideLayout" Target="../slideLayouts/slideLayout1.xml" /></Relationships>
</file>

<file path=ppt/slides/_rels/slide109.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92.xml" /><Relationship Id="rId1" Type="http://schemas.openxmlformats.org/officeDocument/2006/relationships/slideLayout" Target="../slideLayouts/slideLayout1.xml" /><Relationship Id="rId4" Type="http://schemas.openxmlformats.org/officeDocument/2006/relationships/image" Target="../media/image33.png" /></Relationships>
</file>

<file path=ppt/slides/_rels/slide110.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notesSlide" Target="../notesSlides/notesSlide93.xml" /><Relationship Id="rId1" Type="http://schemas.openxmlformats.org/officeDocument/2006/relationships/slideLayout" Target="../slideLayouts/slideLayout1.xml" /></Relationships>
</file>

<file path=ppt/slides/_rels/slide111.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notesSlide" Target="../notesSlides/notesSlide94.xml" /><Relationship Id="rId1" Type="http://schemas.openxmlformats.org/officeDocument/2006/relationships/slideLayout" Target="../slideLayouts/slideLayout1.xml" /><Relationship Id="rId4" Type="http://schemas.openxmlformats.org/officeDocument/2006/relationships/image" Target="../media/image36.png" /></Relationships>
</file>

<file path=ppt/slides/_rels/slide112.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notesSlide" Target="../notesSlides/notesSlide95.xml" /><Relationship Id="rId1" Type="http://schemas.openxmlformats.org/officeDocument/2006/relationships/slideLayout" Target="../slideLayouts/slideLayout1.xml" /><Relationship Id="rId4" Type="http://schemas.openxmlformats.org/officeDocument/2006/relationships/image" Target="../media/image38.png" /></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 /><Relationship Id="rId1" Type="http://schemas.openxmlformats.org/officeDocument/2006/relationships/slideLayout" Target="../slideLayouts/slideLayout1.xml" /></Relationships>
</file>

<file path=ppt/slides/_rels/slide114.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97.xml" /><Relationship Id="rId1" Type="http://schemas.openxmlformats.org/officeDocument/2006/relationships/slideLayout" Target="../slideLayouts/slideLayout1.xml" /></Relationships>
</file>

<file path=ppt/slides/_rels/slide115.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notesSlide" Target="../notesSlides/notesSlide98.xml" /><Relationship Id="rId1" Type="http://schemas.openxmlformats.org/officeDocument/2006/relationships/slideLayout" Target="../slideLayouts/slideLayout1.xml" /></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9.xml" /><Relationship Id="rId1" Type="http://schemas.openxmlformats.org/officeDocument/2006/relationships/slideLayout" Target="../slideLayouts/slideLayout1.xml" /></Relationships>
</file>

<file path=ppt/slides/_rels/slide117.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notesSlide" Target="../notesSlides/notesSlide100.xml" /><Relationship Id="rId1" Type="http://schemas.openxmlformats.org/officeDocument/2006/relationships/slideLayout" Target="../slideLayouts/slideLayout1.xml" /><Relationship Id="rId4" Type="http://schemas.openxmlformats.org/officeDocument/2006/relationships/image" Target="../media/image42.png" /></Relationships>
</file>

<file path=ppt/slides/_rels/slide118.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notesSlide" Target="../notesSlides/notesSlide101.xml" /><Relationship Id="rId1" Type="http://schemas.openxmlformats.org/officeDocument/2006/relationships/slideLayout" Target="../slideLayouts/slideLayout1.xml" /></Relationships>
</file>

<file path=ppt/slides/_rels/slide119.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notesSlide" Target="../notesSlides/notesSlide102.xml" /><Relationship Id="rId1" Type="http://schemas.openxmlformats.org/officeDocument/2006/relationships/slideLayout" Target="../slideLayouts/slideLayout1.xml" /><Relationship Id="rId4" Type="http://schemas.openxmlformats.org/officeDocument/2006/relationships/image" Target="../media/image45.png" /></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 /><Relationship Id="rId1" Type="http://schemas.openxmlformats.org/officeDocument/2006/relationships/slideLayout" Target="../slideLayouts/slideLayout1.xml" /></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4.xml" /><Relationship Id="rId1" Type="http://schemas.openxmlformats.org/officeDocument/2006/relationships/slideLayout" Target="../slideLayouts/slideLayout1.xml" /></Relationships>
</file>

<file path=ppt/slides/_rels/slide122.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notesSlide" Target="../notesSlides/notesSlide105.xml" /><Relationship Id="rId1" Type="http://schemas.openxmlformats.org/officeDocument/2006/relationships/slideLayout" Target="../slideLayouts/slideLayout1.xml" /></Relationships>
</file>

<file path=ppt/slides/_rels/slide123.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notesSlide" Target="../notesSlides/notesSlide106.xml" /><Relationship Id="rId1" Type="http://schemas.openxmlformats.org/officeDocument/2006/relationships/slideLayout" Target="../slideLayouts/slideLayout1.xml" /></Relationships>
</file>

<file path=ppt/slides/_rels/slide124.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notesSlide" Target="../notesSlides/notesSlide107.xml" /><Relationship Id="rId1" Type="http://schemas.openxmlformats.org/officeDocument/2006/relationships/slideLayout" Target="../slideLayouts/slideLayout1.xml" /></Relationships>
</file>

<file path=ppt/slides/_rels/slide125.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notesSlide" Target="../notesSlides/notesSlide108.xml" /><Relationship Id="rId1" Type="http://schemas.openxmlformats.org/officeDocument/2006/relationships/slideLayout" Target="../slideLayouts/slideLayout1.xml" /></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9.xml" /><Relationship Id="rId1" Type="http://schemas.openxmlformats.org/officeDocument/2006/relationships/slideLayout" Target="../slideLayouts/slideLayout1.xml" /></Relationships>
</file>

<file path=ppt/slides/_rels/slide127.xml.rels><?xml version="1.0" encoding="UTF-8" standalone="yes"?>
<Relationships xmlns="http://schemas.openxmlformats.org/package/2006/relationships"><Relationship Id="rId3" Type="http://schemas.openxmlformats.org/officeDocument/2006/relationships/image" Target="../media/image50.png" /><Relationship Id="rId2" Type="http://schemas.openxmlformats.org/officeDocument/2006/relationships/notesSlide" Target="../notesSlides/notesSlide110.xml" /><Relationship Id="rId1" Type="http://schemas.openxmlformats.org/officeDocument/2006/relationships/slideLayout" Target="../slideLayouts/slideLayout1.xml" /><Relationship Id="rId4" Type="http://schemas.openxmlformats.org/officeDocument/2006/relationships/image" Target="../media/image51.png" /></Relationships>
</file>

<file path=ppt/slides/_rels/slide128.xml.rels><?xml version="1.0" encoding="UTF-8" standalone="yes"?>
<Relationships xmlns="http://schemas.openxmlformats.org/package/2006/relationships"><Relationship Id="rId3" Type="http://schemas.openxmlformats.org/officeDocument/2006/relationships/image" Target="../media/image52.png" /><Relationship Id="rId2" Type="http://schemas.openxmlformats.org/officeDocument/2006/relationships/notesSlide" Target="../notesSlides/notesSlide111.xml" /><Relationship Id="rId1" Type="http://schemas.openxmlformats.org/officeDocument/2006/relationships/slideLayout" Target="../slideLayouts/slideLayout1.xml" /><Relationship Id="rId4" Type="http://schemas.openxmlformats.org/officeDocument/2006/relationships/image" Target="../media/image53.png" /></Relationships>
</file>

<file path=ppt/slides/_rels/slide129.xml.rels><?xml version="1.0" encoding="UTF-8" standalone="yes"?>
<Relationships xmlns="http://schemas.openxmlformats.org/package/2006/relationships"><Relationship Id="rId3" Type="http://schemas.openxmlformats.org/officeDocument/2006/relationships/image" Target="../media/image54.png" /><Relationship Id="rId2" Type="http://schemas.openxmlformats.org/officeDocument/2006/relationships/notesSlide" Target="../notesSlides/notesSlide112.xml" /><Relationship Id="rId1" Type="http://schemas.openxmlformats.org/officeDocument/2006/relationships/slideLayout" Target="../slideLayouts/slideLayout1.xml" /></Relationships>
</file>

<file path=ppt/slides/_rels/slide130.xml.rels><?xml version="1.0" encoding="UTF-8" standalone="yes"?>
<Relationships xmlns="http://schemas.openxmlformats.org/package/2006/relationships"><Relationship Id="rId3" Type="http://schemas.openxmlformats.org/officeDocument/2006/relationships/image" Target="../media/image55.png" /><Relationship Id="rId2" Type="http://schemas.openxmlformats.org/officeDocument/2006/relationships/notesSlide" Target="../notesSlides/notesSlide113.xml" /><Relationship Id="rId1" Type="http://schemas.openxmlformats.org/officeDocument/2006/relationships/slideLayout" Target="../slideLayouts/slideLayout1.xml" /><Relationship Id="rId4" Type="http://schemas.openxmlformats.org/officeDocument/2006/relationships/image" Target="../media/image56.png" /></Relationships>
</file>

<file path=ppt/slides/_rels/slide131.xml.rels><?xml version="1.0" encoding="UTF-8" standalone="yes"?>
<Relationships xmlns="http://schemas.openxmlformats.org/package/2006/relationships"><Relationship Id="rId3" Type="http://schemas.openxmlformats.org/officeDocument/2006/relationships/image" Target="../media/image57.png" /><Relationship Id="rId2" Type="http://schemas.openxmlformats.org/officeDocument/2006/relationships/notesSlide" Target="../notesSlides/notesSlide114.xml" /><Relationship Id="rId1" Type="http://schemas.openxmlformats.org/officeDocument/2006/relationships/slideLayout" Target="../slideLayouts/slideLayout1.xml" /></Relationships>
</file>

<file path=ppt/slides/_rels/slide132.xml.rels><?xml version="1.0" encoding="UTF-8" standalone="yes"?>
<Relationships xmlns="http://schemas.openxmlformats.org/package/2006/relationships"><Relationship Id="rId3" Type="http://schemas.openxmlformats.org/officeDocument/2006/relationships/image" Target="../media/image58.png" /><Relationship Id="rId2" Type="http://schemas.openxmlformats.org/officeDocument/2006/relationships/notesSlide" Target="../notesSlides/notesSlide115.xml" /><Relationship Id="rId1" Type="http://schemas.openxmlformats.org/officeDocument/2006/relationships/slideLayout" Target="../slideLayouts/slideLayout1.xml" /></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6.xml" /><Relationship Id="rId1" Type="http://schemas.openxmlformats.org/officeDocument/2006/relationships/slideLayout" Target="../slideLayouts/slideLayout1.xml" /></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7.xml" /><Relationship Id="rId1" Type="http://schemas.openxmlformats.org/officeDocument/2006/relationships/slideLayout" Target="../slideLayouts/slideLayout1.xml" /></Relationships>
</file>

<file path=ppt/slides/_rels/slide135.xml.rels><?xml version="1.0" encoding="UTF-8" standalone="yes"?>
<Relationships xmlns="http://schemas.openxmlformats.org/package/2006/relationships"><Relationship Id="rId3" Type="http://schemas.openxmlformats.org/officeDocument/2006/relationships/image" Target="../media/image59.png" /><Relationship Id="rId2" Type="http://schemas.openxmlformats.org/officeDocument/2006/relationships/notesSlide" Target="../notesSlides/notesSlide118.xml" /><Relationship Id="rId1" Type="http://schemas.openxmlformats.org/officeDocument/2006/relationships/slideLayout" Target="../slideLayouts/slideLayout1.xml" /><Relationship Id="rId4" Type="http://schemas.openxmlformats.org/officeDocument/2006/relationships/image" Target="../media/image60.png" /></Relationships>
</file>

<file path=ppt/slides/_rels/slide136.xml.rels><?xml version="1.0" encoding="UTF-8" standalone="yes"?>
<Relationships xmlns="http://schemas.openxmlformats.org/package/2006/relationships"><Relationship Id="rId3" Type="http://schemas.openxmlformats.org/officeDocument/2006/relationships/image" Target="../media/image61.png" /><Relationship Id="rId2" Type="http://schemas.openxmlformats.org/officeDocument/2006/relationships/notesSlide" Target="../notesSlides/notesSlide119.xml" /><Relationship Id="rId1" Type="http://schemas.openxmlformats.org/officeDocument/2006/relationships/slideLayout" Target="../slideLayouts/slideLayout1.xml" /></Relationships>
</file>

<file path=ppt/slides/_rels/slide137.xml.rels><?xml version="1.0" encoding="UTF-8" standalone="yes"?>
<Relationships xmlns="http://schemas.openxmlformats.org/package/2006/relationships"><Relationship Id="rId3" Type="http://schemas.openxmlformats.org/officeDocument/2006/relationships/image" Target="../media/image62.png" /><Relationship Id="rId2" Type="http://schemas.openxmlformats.org/officeDocument/2006/relationships/notesSlide" Target="../notesSlides/notesSlide120.xml" /><Relationship Id="rId1" Type="http://schemas.openxmlformats.org/officeDocument/2006/relationships/slideLayout" Target="../slideLayouts/slideLayout1.xml" /><Relationship Id="rId4" Type="http://schemas.openxmlformats.org/officeDocument/2006/relationships/image" Target="../media/image63.png" /></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1.xml" /><Relationship Id="rId1" Type="http://schemas.openxmlformats.org/officeDocument/2006/relationships/slideLayout" Target="../slideLayouts/slideLayout1.xml" /></Relationships>
</file>

<file path=ppt/slides/_rels/slide139.xml.rels><?xml version="1.0" encoding="UTF-8" standalone="yes"?>
<Relationships xmlns="http://schemas.openxmlformats.org/package/2006/relationships"><Relationship Id="rId3" Type="http://schemas.openxmlformats.org/officeDocument/2006/relationships/image" Target="../media/image64.png" /><Relationship Id="rId2" Type="http://schemas.openxmlformats.org/officeDocument/2006/relationships/notesSlide" Target="../notesSlides/notesSlide122.xml" /><Relationship Id="rId1" Type="http://schemas.openxmlformats.org/officeDocument/2006/relationships/slideLayout" Target="../slideLayouts/slideLayout1.xml" /><Relationship Id="rId4" Type="http://schemas.openxmlformats.org/officeDocument/2006/relationships/image" Target="../media/image65.png" /></Relationships>
</file>

<file path=ppt/slides/_rels/slide140.xml.rels><?xml version="1.0" encoding="UTF-8" standalone="yes"?>
<Relationships xmlns="http://schemas.openxmlformats.org/package/2006/relationships"><Relationship Id="rId3" Type="http://schemas.openxmlformats.org/officeDocument/2006/relationships/image" Target="../media/image66.png" /><Relationship Id="rId2" Type="http://schemas.openxmlformats.org/officeDocument/2006/relationships/notesSlide" Target="../notesSlides/notesSlide123.xml" /><Relationship Id="rId1" Type="http://schemas.openxmlformats.org/officeDocument/2006/relationships/slideLayout" Target="../slideLayouts/slideLayout1.xml" /></Relationships>
</file>

<file path=ppt/slides/_rels/slide141.xml.rels><?xml version="1.0" encoding="UTF-8" standalone="yes"?>
<Relationships xmlns="http://schemas.openxmlformats.org/package/2006/relationships"><Relationship Id="rId3" Type="http://schemas.openxmlformats.org/officeDocument/2006/relationships/image" Target="../media/image67.png" /><Relationship Id="rId2" Type="http://schemas.openxmlformats.org/officeDocument/2006/relationships/notesSlide" Target="../notesSlides/notesSlide124.xml" /><Relationship Id="rId1" Type="http://schemas.openxmlformats.org/officeDocument/2006/relationships/slideLayout" Target="../slideLayouts/slideLayout1.xml" /></Relationships>
</file>

<file path=ppt/slides/_rels/slide142.xml.rels><?xml version="1.0" encoding="UTF-8" standalone="yes"?>
<Relationships xmlns="http://schemas.openxmlformats.org/package/2006/relationships"><Relationship Id="rId3" Type="http://schemas.openxmlformats.org/officeDocument/2006/relationships/image" Target="../media/image68.png" /><Relationship Id="rId2" Type="http://schemas.openxmlformats.org/officeDocument/2006/relationships/notesSlide" Target="../notesSlides/notesSlide125.xml" /><Relationship Id="rId1" Type="http://schemas.openxmlformats.org/officeDocument/2006/relationships/slideLayout" Target="../slideLayouts/slideLayout1.xml" /></Relationships>
</file>

<file path=ppt/slides/_rels/slide143.xml.rels><?xml version="1.0" encoding="UTF-8" standalone="yes"?>
<Relationships xmlns="http://schemas.openxmlformats.org/package/2006/relationships"><Relationship Id="rId3" Type="http://schemas.openxmlformats.org/officeDocument/2006/relationships/image" Target="../media/image69.png" /><Relationship Id="rId2" Type="http://schemas.openxmlformats.org/officeDocument/2006/relationships/notesSlide" Target="../notesSlides/notesSlide126.xml" /><Relationship Id="rId1" Type="http://schemas.openxmlformats.org/officeDocument/2006/relationships/slideLayout" Target="../slideLayouts/slideLayout1.xml" /><Relationship Id="rId4" Type="http://schemas.openxmlformats.org/officeDocument/2006/relationships/image" Target="../media/image70.png" /></Relationships>
</file>

<file path=ppt/slides/_rels/slide144.xml.rels><?xml version="1.0" encoding="UTF-8" standalone="yes"?>
<Relationships xmlns="http://schemas.openxmlformats.org/package/2006/relationships"><Relationship Id="rId3" Type="http://schemas.openxmlformats.org/officeDocument/2006/relationships/image" Target="../media/image71.png" /><Relationship Id="rId2" Type="http://schemas.openxmlformats.org/officeDocument/2006/relationships/notesSlide" Target="../notesSlides/notesSlide127.xml" /><Relationship Id="rId1" Type="http://schemas.openxmlformats.org/officeDocument/2006/relationships/slideLayout" Target="../slideLayouts/slideLayout1.xml" /></Relationships>
</file>

<file path=ppt/slides/_rels/slide145.xml.rels><?xml version="1.0" encoding="UTF-8" standalone="yes"?>
<Relationships xmlns="http://schemas.openxmlformats.org/package/2006/relationships"><Relationship Id="rId3" Type="http://schemas.openxmlformats.org/officeDocument/2006/relationships/image" Target="../media/image72.png" /><Relationship Id="rId2" Type="http://schemas.openxmlformats.org/officeDocument/2006/relationships/notesSlide" Target="../notesSlides/notesSlide128.xml" /><Relationship Id="rId1" Type="http://schemas.openxmlformats.org/officeDocument/2006/relationships/slideLayout" Target="../slideLayouts/slideLayout1.xml" /><Relationship Id="rId4" Type="http://schemas.openxmlformats.org/officeDocument/2006/relationships/image" Target="../media/image73.png" /></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47.xml.rels><?xml version="1.0" encoding="UTF-8" standalone="yes"?>
<Relationships xmlns="http://schemas.openxmlformats.org/package/2006/relationships"><Relationship Id="rId2" Type="http://schemas.openxmlformats.org/officeDocument/2006/relationships/image" Target="../media/image74.png" /><Relationship Id="rId1" Type="http://schemas.openxmlformats.org/officeDocument/2006/relationships/slideLayout" Target="../slideLayouts/slideLayout2.xml" /></Relationships>
</file>

<file path=ppt/slides/_rels/slide148.xml.rels><?xml version="1.0" encoding="UTF-8" standalone="yes"?>
<Relationships xmlns="http://schemas.openxmlformats.org/package/2006/relationships"><Relationship Id="rId2" Type="http://schemas.openxmlformats.org/officeDocument/2006/relationships/image" Target="../media/image75.png" /><Relationship Id="rId1" Type="http://schemas.openxmlformats.org/officeDocument/2006/relationships/slideLayout" Target="../slideLayouts/slideLayout1.xml" /></Relationships>
</file>

<file path=ppt/slides/_rels/slide149.xml.rels><?xml version="1.0" encoding="UTF-8" standalone="yes"?>
<Relationships xmlns="http://schemas.openxmlformats.org/package/2006/relationships"><Relationship Id="rId2" Type="http://schemas.openxmlformats.org/officeDocument/2006/relationships/image" Target="../media/image76.png" /><Relationship Id="rId1" Type="http://schemas.openxmlformats.org/officeDocument/2006/relationships/slideLayout" Target="../slideLayouts/slideLayout2.xml" /></Relationships>
</file>

<file path=ppt/slides/_rels/slide150.xml.rels><?xml version="1.0" encoding="UTF-8" standalone="yes"?>
<Relationships xmlns="http://schemas.openxmlformats.org/package/2006/relationships"><Relationship Id="rId2" Type="http://schemas.openxmlformats.org/officeDocument/2006/relationships/image" Target="../media/image77.png" /><Relationship Id="rId1" Type="http://schemas.openxmlformats.org/officeDocument/2006/relationships/slideLayout" Target="../slideLayouts/slideLayout2.xml" /></Relationships>
</file>

<file path=ppt/slides/_rels/slide151.xml.rels><?xml version="1.0" encoding="UTF-8" standalone="yes"?>
<Relationships xmlns="http://schemas.openxmlformats.org/package/2006/relationships"><Relationship Id="rId2" Type="http://schemas.openxmlformats.org/officeDocument/2006/relationships/image" Target="../media/image78.png" /><Relationship Id="rId1" Type="http://schemas.openxmlformats.org/officeDocument/2006/relationships/slideLayout" Target="../slideLayouts/slideLayout2.xml" /></Relationships>
</file>

<file path=ppt/slides/_rels/slide152.xml.rels><?xml version="1.0" encoding="UTF-8" standalone="yes"?>
<Relationships xmlns="http://schemas.openxmlformats.org/package/2006/relationships"><Relationship Id="rId2" Type="http://schemas.openxmlformats.org/officeDocument/2006/relationships/image" Target="../media/image79.png" /><Relationship Id="rId1" Type="http://schemas.openxmlformats.org/officeDocument/2006/relationships/slideLayout" Target="../slideLayouts/slideLayout1.xml" /></Relationships>
</file>

<file path=ppt/slides/_rels/slide153.xml.rels><?xml version="1.0" encoding="UTF-8" standalone="yes"?>
<Relationships xmlns="http://schemas.openxmlformats.org/package/2006/relationships"><Relationship Id="rId2" Type="http://schemas.openxmlformats.org/officeDocument/2006/relationships/image" Target="../media/image80.png" /><Relationship Id="rId1" Type="http://schemas.openxmlformats.org/officeDocument/2006/relationships/slideLayout" Target="../slideLayouts/slideLayout1.xml" /></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5.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81.png" /><Relationship Id="rId1" Type="http://schemas.openxmlformats.org/officeDocument/2006/relationships/slideLayout" Target="../slideLayouts/slideLayout1.xml" /></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8.xml.rels><?xml version="1.0" encoding="UTF-8" standalone="yes"?>
<Relationships xmlns="http://schemas.openxmlformats.org/package/2006/relationships"><Relationship Id="rId2" Type="http://schemas.openxmlformats.org/officeDocument/2006/relationships/image" Target="../media/image82.png" /><Relationship Id="rId1" Type="http://schemas.openxmlformats.org/officeDocument/2006/relationships/slideLayout" Target="../slideLayouts/slideLayout1.xml" /></Relationships>
</file>

<file path=ppt/slides/_rels/slide159.xml.rels><?xml version="1.0" encoding="UTF-8" standalone="yes"?>
<Relationships xmlns="http://schemas.openxmlformats.org/package/2006/relationships"><Relationship Id="rId2" Type="http://schemas.openxmlformats.org/officeDocument/2006/relationships/image" Target="../media/image83.png" /><Relationship Id="rId1" Type="http://schemas.openxmlformats.org/officeDocument/2006/relationships/slideLayout" Target="../slideLayouts/slideLayout1.xml" /></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body" idx="1"/>
          </p:nvPr>
        </p:nvSpPr>
        <p:spPr>
          <a:xfrm>
            <a:off x="0" y="0"/>
            <a:ext cx="12192025" cy="6858000"/>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chemeClr val="dk1"/>
              </a:buClr>
              <a:buSzPts val="6600"/>
              <a:buFont typeface="Noto Sans Symbols"/>
              <a:buNone/>
            </a:pPr>
            <a:endParaRPr sz="6600" dirty="0">
              <a:solidFill>
                <a:srgbClr val="FF0000"/>
              </a:solidFill>
              <a:latin typeface="Times New Roman"/>
              <a:ea typeface="Times New Roman"/>
              <a:cs typeface="Times New Roman"/>
              <a:sym typeface="Times New Roman"/>
            </a:endParaRPr>
          </a:p>
          <a:p>
            <a:pPr marL="228600" lvl="0" indent="-228600" algn="ctr">
              <a:buClr>
                <a:srgbClr val="FF0000"/>
              </a:buClr>
              <a:buSzPts val="4000"/>
              <a:buNone/>
            </a:pPr>
            <a:endParaRPr lang="en-US" sz="4000" b="1" dirty="0">
              <a:solidFill>
                <a:srgbClr val="FF0000"/>
              </a:solidFill>
              <a:latin typeface="Times New Roman"/>
              <a:ea typeface="Times New Roman"/>
              <a:cs typeface="Times New Roman"/>
              <a:sym typeface="Times New Roman"/>
            </a:endParaRPr>
          </a:p>
          <a:p>
            <a:pPr marL="228600" lvl="0" indent="-228600" algn="ctr">
              <a:buClr>
                <a:srgbClr val="FF0000"/>
              </a:buClr>
              <a:buSzPts val="4000"/>
              <a:buNone/>
            </a:pPr>
            <a:r>
              <a:rPr lang="en-IN" sz="4000" b="1" dirty="0">
                <a:solidFill>
                  <a:srgbClr val="C00000"/>
                </a:solidFill>
                <a:latin typeface="Times New Roman" pitchFamily="18" charset="0"/>
                <a:cs typeface="Times New Roman" pitchFamily="18" charset="0"/>
              </a:rPr>
              <a:t>Object Oriented Programming using Java</a:t>
            </a:r>
          </a:p>
          <a:p>
            <a:pPr marL="228600" lvl="0" indent="-228600" algn="ctr">
              <a:buClr>
                <a:srgbClr val="FF0000"/>
              </a:buClr>
              <a:buSzPts val="4000"/>
              <a:buNone/>
            </a:pPr>
            <a:r>
              <a:rPr lang="en-US" sz="6600" b="1" dirty="0">
                <a:solidFill>
                  <a:srgbClr val="C00000"/>
                </a:solidFill>
                <a:latin typeface="Times New Roman" pitchFamily="18" charset="0"/>
                <a:ea typeface="Times New Roman"/>
                <a:cs typeface="Times New Roman" pitchFamily="18" charset="0"/>
                <a:sym typeface="Times New Roman"/>
              </a:rPr>
              <a:t>(</a:t>
            </a:r>
            <a:r>
              <a:rPr lang="en-IN" sz="4000" b="1" dirty="0">
                <a:solidFill>
                  <a:srgbClr val="C00000"/>
                </a:solidFill>
                <a:latin typeface="Times New Roman" pitchFamily="18" charset="0"/>
                <a:cs typeface="Times New Roman" pitchFamily="18" charset="0"/>
              </a:rPr>
              <a:t>24BEDAS303</a:t>
            </a:r>
            <a:r>
              <a:rPr lang="en-US" sz="6600" b="1" dirty="0">
                <a:solidFill>
                  <a:srgbClr val="C00000"/>
                </a:solidFill>
                <a:latin typeface="Times New Roman" pitchFamily="18" charset="0"/>
                <a:ea typeface="Times New Roman"/>
                <a:cs typeface="Times New Roman" pitchFamily="18" charset="0"/>
                <a:sym typeface="Times New Roman"/>
              </a:rPr>
              <a:t>)</a:t>
            </a:r>
            <a:endParaRPr b="1" dirty="0">
              <a:solidFill>
                <a:srgbClr val="C00000"/>
              </a:solidFill>
              <a:latin typeface="Times New Roman" pitchFamily="18" charset="0"/>
              <a:cs typeface="Times New Roman" pitchFamily="18" charset="0"/>
            </a:endParaRPr>
          </a:p>
          <a:p>
            <a:pPr marL="228600" lvl="0" indent="-228600" algn="l" rtl="0">
              <a:lnSpc>
                <a:spcPct val="90000"/>
              </a:lnSpc>
              <a:spcBef>
                <a:spcPts val="1000"/>
              </a:spcBef>
              <a:spcAft>
                <a:spcPts val="0"/>
              </a:spcAft>
              <a:buClr>
                <a:srgbClr val="0070C0"/>
              </a:buClr>
              <a:buSzPts val="3600"/>
              <a:buFont typeface="Noto Sans Symbols"/>
              <a:buNone/>
            </a:pPr>
            <a:r>
              <a:rPr lang="en-US" sz="3600" dirty="0">
                <a:solidFill>
                  <a:srgbClr val="0070C0"/>
                </a:solidFill>
                <a:latin typeface="Times New Roman"/>
                <a:ea typeface="Times New Roman"/>
                <a:cs typeface="Times New Roman"/>
                <a:sym typeface="Times New Roman"/>
              </a:rPr>
              <a:t>           </a:t>
            </a:r>
            <a:endParaRPr dirty="0"/>
          </a:p>
          <a:p>
            <a:pPr marL="228600" lvl="0" indent="-228600" algn="ctr" rtl="0">
              <a:lnSpc>
                <a:spcPct val="90000"/>
              </a:lnSpc>
              <a:spcBef>
                <a:spcPts val="1000"/>
              </a:spcBef>
              <a:spcAft>
                <a:spcPts val="0"/>
              </a:spcAft>
              <a:buClr>
                <a:srgbClr val="002060"/>
              </a:buClr>
              <a:buSzPts val="2800"/>
              <a:buFont typeface="Noto Sans Symbols"/>
              <a:buNone/>
            </a:pPr>
            <a:r>
              <a:rPr lang="en-US" dirty="0">
                <a:solidFill>
                  <a:srgbClr val="002060"/>
                </a:solidFill>
                <a:latin typeface="Times New Roman"/>
                <a:ea typeface="Times New Roman"/>
                <a:cs typeface="Times New Roman"/>
                <a:sym typeface="Times New Roman"/>
              </a:rPr>
              <a:t>      </a:t>
            </a:r>
            <a:r>
              <a:rPr lang="en-US" dirty="0" err="1">
                <a:solidFill>
                  <a:srgbClr val="002060"/>
                </a:solidFill>
                <a:latin typeface="Times New Roman"/>
                <a:ea typeface="Times New Roman"/>
                <a:cs typeface="Times New Roman"/>
                <a:sym typeface="Times New Roman"/>
              </a:rPr>
              <a:t>Dr.Chaithra</a:t>
            </a:r>
            <a:endParaRPr lang="en-US" dirty="0">
              <a:solidFill>
                <a:srgbClr val="002060"/>
              </a:solidFill>
              <a:latin typeface="Times New Roman"/>
              <a:ea typeface="Times New Roman"/>
              <a:cs typeface="Times New Roman"/>
              <a:sym typeface="Times New Roman"/>
            </a:endParaRPr>
          </a:p>
          <a:p>
            <a:pPr marL="228600" lvl="0" indent="-228600" algn="ctr" rtl="0">
              <a:lnSpc>
                <a:spcPct val="90000"/>
              </a:lnSpc>
              <a:spcBef>
                <a:spcPts val="1000"/>
              </a:spcBef>
              <a:spcAft>
                <a:spcPts val="0"/>
              </a:spcAft>
              <a:buClr>
                <a:srgbClr val="002060"/>
              </a:buClr>
              <a:buSzPts val="2800"/>
              <a:buFont typeface="Noto Sans Symbols"/>
              <a:buNone/>
            </a:pPr>
            <a:r>
              <a:rPr lang="en-US" dirty="0">
                <a:solidFill>
                  <a:srgbClr val="002060"/>
                </a:solidFill>
                <a:latin typeface="Times New Roman"/>
                <a:ea typeface="Times New Roman"/>
                <a:cs typeface="Times New Roman"/>
                <a:sym typeface="Times New Roman"/>
              </a:rPr>
              <a:t>      Professor</a:t>
            </a:r>
          </a:p>
          <a:p>
            <a:pPr marL="228600" lvl="0" indent="-228600" algn="ctr" rtl="0">
              <a:lnSpc>
                <a:spcPct val="90000"/>
              </a:lnSpc>
              <a:spcBef>
                <a:spcPts val="1000"/>
              </a:spcBef>
              <a:spcAft>
                <a:spcPts val="0"/>
              </a:spcAft>
              <a:buClr>
                <a:srgbClr val="002060"/>
              </a:buClr>
              <a:buSzPts val="2800"/>
              <a:buFont typeface="Noto Sans Symbols"/>
              <a:buNone/>
            </a:pPr>
            <a:r>
              <a:rPr lang="en-GB" dirty="0">
                <a:solidFill>
                  <a:srgbClr val="002060"/>
                </a:solidFill>
                <a:latin typeface="Times New Roman"/>
                <a:ea typeface="Times New Roman"/>
                <a:cs typeface="Times New Roman"/>
                <a:sym typeface="Times New Roman"/>
              </a:rPr>
              <a:t>Department of CSE-AIML</a:t>
            </a:r>
          </a:p>
          <a:p>
            <a:pPr marL="228600" lvl="0" indent="-228600" algn="ctr" rtl="0">
              <a:lnSpc>
                <a:spcPct val="90000"/>
              </a:lnSpc>
              <a:spcBef>
                <a:spcPts val="1000"/>
              </a:spcBef>
              <a:spcAft>
                <a:spcPts val="0"/>
              </a:spcAft>
              <a:buClr>
                <a:srgbClr val="002060"/>
              </a:buClr>
              <a:buSzPts val="2800"/>
              <a:buFont typeface="Noto Sans Symbols"/>
              <a:buNone/>
            </a:pPr>
            <a:r>
              <a:rPr lang="en-GB" dirty="0">
                <a:solidFill>
                  <a:srgbClr val="002060"/>
                </a:solidFill>
                <a:latin typeface="Times New Roman"/>
                <a:ea typeface="Times New Roman"/>
                <a:cs typeface="Times New Roman"/>
                <a:sym typeface="Times New Roman"/>
              </a:rPr>
              <a:t>SNPSU</a:t>
            </a:r>
            <a:endParaRPr dirty="0">
              <a:solidFill>
                <a:srgbClr val="00206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Prerequisite</a:t>
            </a:r>
            <a:endParaRPr/>
          </a:p>
        </p:txBody>
      </p:sp>
      <p:sp>
        <p:nvSpPr>
          <p:cNvPr id="133" name="Google Shape;133;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To learn Java, you must have the basic knowledge of C/C++ programming language.</a:t>
            </a:r>
            <a:endParaRPr/>
          </a:p>
          <a:p>
            <a:pPr marL="228600" lvl="0" indent="-228600" algn="l" rtl="0">
              <a:lnSpc>
                <a:spcPct val="90000"/>
              </a:lnSpc>
              <a:spcBef>
                <a:spcPts val="1000"/>
              </a:spcBef>
              <a:spcAft>
                <a:spcPts val="0"/>
              </a:spcAft>
              <a:buClr>
                <a:schemeClr val="dk1"/>
              </a:buClr>
              <a:buSzPts val="2800"/>
              <a:buFont typeface="Noto Sans Symbols"/>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ctrTitle"/>
          </p:nvPr>
        </p:nvSpPr>
        <p:spPr>
          <a:xfrm>
            <a:off x="2207568" y="260648"/>
            <a:ext cx="7315200" cy="229552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r>
              <a:rPr lang="en-US" dirty="0">
                <a:latin typeface="Times New Roman"/>
                <a:ea typeface="Times New Roman"/>
                <a:cs typeface="Times New Roman"/>
                <a:sym typeface="Times New Roman"/>
              </a:rPr>
              <a:t>Module 1</a:t>
            </a:r>
            <a:br>
              <a:rPr lang="en-US" dirty="0">
                <a:latin typeface="Times New Roman"/>
                <a:ea typeface="Times New Roman"/>
                <a:cs typeface="Times New Roman"/>
                <a:sym typeface="Times New Roman"/>
              </a:rPr>
            </a:br>
            <a:br>
              <a:rPr lang="en-US" sz="4400" dirty="0">
                <a:latin typeface="Times New Roman"/>
                <a:ea typeface="Times New Roman"/>
                <a:cs typeface="Times New Roman"/>
                <a:sym typeface="Times New Roman"/>
              </a:rPr>
            </a:br>
            <a:endParaRPr sz="2000" dirty="0">
              <a:solidFill>
                <a:srgbClr val="FFC000"/>
              </a:solidFill>
              <a:latin typeface="Times New Roman"/>
              <a:ea typeface="Times New Roman"/>
              <a:cs typeface="Times New Roman"/>
              <a:sym typeface="Times New Roman"/>
            </a:endParaRPr>
          </a:p>
        </p:txBody>
      </p:sp>
      <p:sp>
        <p:nvSpPr>
          <p:cNvPr id="139" name="Google Shape;139;p7"/>
          <p:cNvSpPr txBox="1">
            <a:spLocks noGrp="1"/>
          </p:cNvSpPr>
          <p:nvPr>
            <p:ph type="subTitle" idx="1"/>
          </p:nvPr>
        </p:nvSpPr>
        <p:spPr>
          <a:xfrm>
            <a:off x="335360" y="1988840"/>
            <a:ext cx="11449272" cy="3528392"/>
          </a:xfrm>
          <a:prstGeom prst="rect">
            <a:avLst/>
          </a:prstGeom>
          <a:noFill/>
          <a:ln>
            <a:noFill/>
          </a:ln>
        </p:spPr>
        <p:txBody>
          <a:bodyPr spcFirstLastPara="1" wrap="square" lIns="91425" tIns="45700" rIns="91425" bIns="45700" anchor="t" anchorCtr="0">
            <a:normAutofit/>
          </a:bodyPr>
          <a:lstStyle/>
          <a:p>
            <a:pPr marL="406400" indent="36513" algn="l"/>
            <a:r>
              <a:rPr lang="en-IN" b="1" dirty="0">
                <a:latin typeface="Times New Roman" pitchFamily="18" charset="0"/>
                <a:cs typeface="Times New Roman" pitchFamily="18" charset="0"/>
              </a:rPr>
              <a:t>Introduction to Java: </a:t>
            </a:r>
            <a:r>
              <a:rPr lang="en-IN" dirty="0">
                <a:latin typeface="Times New Roman" pitchFamily="18" charset="0"/>
                <a:cs typeface="Times New Roman" pitchFamily="18" charset="0"/>
              </a:rPr>
              <a:t>Features of Java, Java Virtual Machine (JVM),  Compiling and running a Java program.</a:t>
            </a:r>
          </a:p>
          <a:p>
            <a:pPr indent="-14288" algn="l"/>
            <a:r>
              <a:rPr lang="en-IN" b="1" dirty="0">
                <a:latin typeface="Times New Roman" pitchFamily="18" charset="0"/>
                <a:cs typeface="Times New Roman" pitchFamily="18" charset="0"/>
              </a:rPr>
              <a:t>Data Types, Operators, and Control Structures: </a:t>
            </a:r>
            <a:r>
              <a:rPr lang="en-IN" dirty="0">
                <a:latin typeface="Times New Roman" pitchFamily="18" charset="0"/>
                <a:cs typeface="Times New Roman" pitchFamily="18" charset="0"/>
              </a:rPr>
              <a:t>Primitive and Non-Primitive Data Types, </a:t>
            </a:r>
            <a:r>
              <a:rPr lang="en-US" dirty="0">
                <a:latin typeface="Times New Roman" pitchFamily="18" charset="0"/>
                <a:cs typeface="Times New Roman" pitchFamily="18" charset="0"/>
              </a:rPr>
              <a:t>Variables , Arrays, </a:t>
            </a:r>
            <a:r>
              <a:rPr lang="en-IN" dirty="0">
                <a:latin typeface="Times New Roman" pitchFamily="18" charset="0"/>
                <a:cs typeface="Times New Roman" pitchFamily="18" charset="0"/>
              </a:rPr>
              <a:t>Operators in Java, </a:t>
            </a:r>
            <a:r>
              <a:rPr lang="en-US" dirty="0">
                <a:latin typeface="Times New Roman" pitchFamily="18" charset="0"/>
                <a:cs typeface="Times New Roman" pitchFamily="18" charset="0"/>
              </a:rPr>
              <a:t>Control Structures recap</a:t>
            </a:r>
            <a:r>
              <a:rPr lang="en-IN" dirty="0">
                <a:latin typeface="Times New Roman" pitchFamily="18" charset="0"/>
                <a:cs typeface="Times New Roman" pitchFamily="18" charset="0"/>
              </a:rPr>
              <a:t>. </a:t>
            </a:r>
          </a:p>
          <a:p>
            <a:pPr indent="-14288" algn="l"/>
            <a:r>
              <a:rPr lang="en-IN" b="1" dirty="0">
                <a:latin typeface="Times New Roman" pitchFamily="18" charset="0"/>
                <a:cs typeface="Times New Roman" pitchFamily="18" charset="0"/>
              </a:rPr>
              <a:t>Introducing Classes</a:t>
            </a:r>
            <a:r>
              <a:rPr lang="en-US" dirty="0">
                <a:latin typeface="Times New Roman" pitchFamily="18" charset="0"/>
                <a:cs typeface="Times New Roman" pitchFamily="18" charset="0"/>
              </a:rPr>
              <a:t>: </a:t>
            </a:r>
            <a:r>
              <a:rPr lang="en-IN" dirty="0">
                <a:latin typeface="Times New Roman" pitchFamily="18" charset="0"/>
                <a:cs typeface="Times New Roman" pitchFamily="18" charset="0"/>
              </a:rPr>
              <a:t>Class and Object, Class Fundamentals</a:t>
            </a:r>
            <a:r>
              <a:rPr lang="en-US" dirty="0">
                <a:latin typeface="Times New Roman" pitchFamily="18" charset="0"/>
                <a:cs typeface="Times New Roman" pitchFamily="18" charset="0"/>
              </a:rPr>
              <a:t>, Methods, </a:t>
            </a:r>
            <a:r>
              <a:rPr lang="en-IN" dirty="0">
                <a:latin typeface="Times New Roman" pitchFamily="18" charset="0"/>
                <a:cs typeface="Times New Roman" pitchFamily="18" charset="0"/>
              </a:rPr>
              <a:t>Constructors and its Types, Static vs. Non-static Members, </a:t>
            </a:r>
            <a:r>
              <a:rPr lang="en-US" dirty="0">
                <a:latin typeface="Times New Roman" pitchFamily="18" charset="0"/>
                <a:cs typeface="Times New Roman" pitchFamily="18" charset="0"/>
              </a:rPr>
              <a:t>The </a:t>
            </a:r>
            <a:r>
              <a:rPr lang="en-IN" dirty="0">
                <a:latin typeface="Times New Roman" pitchFamily="18" charset="0"/>
                <a:cs typeface="Times New Roman" pitchFamily="18" charset="0"/>
              </a:rPr>
              <a:t>‘this’ keyword. </a:t>
            </a:r>
          </a:p>
          <a:p>
            <a:pPr algn="l"/>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Ch</a:t>
            </a:r>
            <a:r>
              <a:rPr lang="en-US" b="1" dirty="0">
                <a:latin typeface="Times New Roman" pitchFamily="18" charset="0"/>
                <a:cs typeface="Times New Roman" pitchFamily="18" charset="0"/>
              </a:rPr>
              <a:t>: 2,3,4,5,6</a:t>
            </a:r>
            <a:endParaRPr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lgn="ctr">
              <a:buSzPts val="4400"/>
            </a:pPr>
            <a:r>
              <a:rPr lang="en-IN" b="1" dirty="0">
                <a:latin typeface="Times New Roman" pitchFamily="18" charset="0"/>
                <a:cs typeface="Times New Roman" pitchFamily="18" charset="0"/>
              </a:rPr>
              <a:t>Introduction to Java</a:t>
            </a:r>
            <a:endParaRPr dirty="0">
              <a:latin typeface="Times New Roman" pitchFamily="18" charset="0"/>
              <a:cs typeface="Times New Roman" pitchFamily="18" charset="0"/>
            </a:endParaRPr>
          </a:p>
        </p:txBody>
      </p:sp>
      <p:sp>
        <p:nvSpPr>
          <p:cNvPr id="151" name="Google Shape;151;p9"/>
          <p:cNvSpPr txBox="1">
            <a:spLocks noGrp="1"/>
          </p:cNvSpPr>
          <p:nvPr>
            <p:ph type="body" idx="1"/>
          </p:nvPr>
        </p:nvSpPr>
        <p:spPr>
          <a:xfrm>
            <a:off x="839416" y="1628800"/>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latin typeface="Times New Roman" pitchFamily="18" charset="0"/>
                <a:cs typeface="Times New Roman" pitchFamily="18" charset="0"/>
              </a:rPr>
              <a:t>Java is a most popular, object-oriented, widely used programming language and platform that is utilized for </a:t>
            </a:r>
            <a:r>
              <a:rPr lang="en-US" dirty="0">
                <a:solidFill>
                  <a:srgbClr val="C00000"/>
                </a:solidFill>
                <a:latin typeface="Times New Roman" pitchFamily="18" charset="0"/>
                <a:cs typeface="Times New Roman" pitchFamily="18" charset="0"/>
              </a:rPr>
              <a:t>Android development, web development, artificial intelligence, cloud applications</a:t>
            </a:r>
            <a:r>
              <a:rPr lang="en-US" dirty="0">
                <a:latin typeface="Times New Roman" pitchFamily="18" charset="0"/>
                <a:cs typeface="Times New Roman" pitchFamily="18" charset="0"/>
              </a:rPr>
              <a:t>, and much more. </a:t>
            </a:r>
            <a:endParaRPr dirty="0">
              <a:latin typeface="Times New Roman" pitchFamily="18" charset="0"/>
              <a:cs typeface="Times New Roman" pitchFamily="18" charset="0"/>
            </a:endParaRPr>
          </a:p>
          <a:p>
            <a:pPr marL="228600" lvl="0" indent="-228600" algn="just" rtl="0">
              <a:lnSpc>
                <a:spcPct val="90000"/>
              </a:lnSpc>
              <a:spcBef>
                <a:spcPts val="1000"/>
              </a:spcBef>
              <a:spcAft>
                <a:spcPts val="0"/>
              </a:spcAft>
              <a:buClr>
                <a:schemeClr val="dk1"/>
              </a:buClr>
              <a:buSzPts val="2800"/>
              <a:buChar char="•"/>
            </a:pPr>
            <a:r>
              <a:rPr lang="en-US" dirty="0">
                <a:latin typeface="Times New Roman" pitchFamily="18" charset="0"/>
                <a:cs typeface="Times New Roman" pitchFamily="18" charset="0"/>
              </a:rPr>
              <a:t>So, mastering this gives you great </a:t>
            </a:r>
            <a:r>
              <a:rPr lang="en-US" dirty="0">
                <a:solidFill>
                  <a:srgbClr val="C00000"/>
                </a:solidFill>
                <a:latin typeface="Times New Roman" pitchFamily="18" charset="0"/>
                <a:cs typeface="Times New Roman" pitchFamily="18" charset="0"/>
              </a:rPr>
              <a:t>opportunities</a:t>
            </a:r>
            <a:r>
              <a:rPr lang="en-US" dirty="0">
                <a:latin typeface="Times New Roman" pitchFamily="18" charset="0"/>
                <a:cs typeface="Times New Roman" pitchFamily="18" charset="0"/>
              </a:rPr>
              <a:t> in bigger organizations.</a:t>
            </a:r>
            <a:endParaRPr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latin typeface="Times New Roman" pitchFamily="18" charset="0"/>
                <a:ea typeface="Arial"/>
                <a:cs typeface="Times New Roman" pitchFamily="18" charset="0"/>
                <a:sym typeface="Arial"/>
              </a:rPr>
              <a:t>History</a:t>
            </a:r>
            <a:endParaRPr b="1" dirty="0">
              <a:latin typeface="Times New Roman" pitchFamily="18" charset="0"/>
              <a:cs typeface="Times New Roman" pitchFamily="18" charset="0"/>
            </a:endParaRPr>
          </a:p>
        </p:txBody>
      </p:sp>
      <p:sp>
        <p:nvSpPr>
          <p:cNvPr id="157" name="Google Shape;15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indent="-457200">
              <a:buSzPct val="41000"/>
              <a:buFont typeface="Wingdings" pitchFamily="2" charset="2"/>
              <a:buChar char="§"/>
            </a:pPr>
            <a:r>
              <a:rPr lang="en-US" dirty="0">
                <a:latin typeface="Times New Roman" pitchFamily="18" charset="0"/>
                <a:cs typeface="Times New Roman" pitchFamily="18" charset="0"/>
              </a:rPr>
              <a:t>Java was developed by Sun Microsystems in the year 1995.</a:t>
            </a:r>
            <a:endParaRPr dirty="0">
              <a:latin typeface="Times New Roman" pitchFamily="18" charset="0"/>
              <a:cs typeface="Times New Roman" pitchFamily="18" charset="0"/>
            </a:endParaRPr>
          </a:p>
          <a:p>
            <a:pPr indent="-457200">
              <a:buSzPct val="41000"/>
              <a:buFont typeface="Wingdings" pitchFamily="2" charset="2"/>
              <a:buChar char="§"/>
            </a:pPr>
            <a:r>
              <a:rPr lang="en-US" dirty="0">
                <a:latin typeface="Times New Roman" pitchFamily="18" charset="0"/>
                <a:cs typeface="Times New Roman" pitchFamily="18" charset="0"/>
              </a:rPr>
              <a:t>Java is now the </a:t>
            </a:r>
            <a:r>
              <a:rPr lang="en-US" dirty="0">
                <a:solidFill>
                  <a:srgbClr val="C00000"/>
                </a:solidFill>
                <a:latin typeface="Times New Roman" pitchFamily="18" charset="0"/>
                <a:cs typeface="Times New Roman" pitchFamily="18" charset="0"/>
              </a:rPr>
              <a:t>owned and controlled by Oracle</a:t>
            </a: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indent="-457200">
              <a:buSzPct val="41000"/>
              <a:buFont typeface="Wingdings" pitchFamily="2" charset="2"/>
              <a:buChar char="§"/>
            </a:pPr>
            <a:r>
              <a:rPr lang="en-US" dirty="0">
                <a:latin typeface="Times New Roman" pitchFamily="18" charset="0"/>
                <a:cs typeface="Times New Roman" pitchFamily="18" charset="0"/>
              </a:rPr>
              <a:t>James Gosling is known as the father of Java.</a:t>
            </a:r>
            <a:endParaRPr dirty="0">
              <a:latin typeface="Times New Roman" pitchFamily="18" charset="0"/>
              <a:cs typeface="Times New Roman" pitchFamily="18" charset="0"/>
            </a:endParaRPr>
          </a:p>
          <a:p>
            <a:pPr indent="-457200">
              <a:buSzPct val="41000"/>
              <a:buFont typeface="Wingdings" pitchFamily="2" charset="2"/>
              <a:buChar char="§"/>
            </a:pPr>
            <a:r>
              <a:rPr lang="en-US" dirty="0">
                <a:latin typeface="Times New Roman" pitchFamily="18" charset="0"/>
                <a:cs typeface="Times New Roman" pitchFamily="18" charset="0"/>
              </a:rPr>
              <a:t>Before Java, its name was Oak. Since Oak was already a registered company, so James Gosling and his team changed the Oak name to Java.</a:t>
            </a:r>
            <a:endParaRPr dirty="0">
              <a:latin typeface="Times New Roman" pitchFamily="18" charset="0"/>
              <a:cs typeface="Times New Roman" pitchFamily="18" charset="0"/>
            </a:endParaRP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617de21601_0_2"/>
          <p:cNvSpPr txBox="1">
            <a:spLocks noGrp="1"/>
          </p:cNvSpPr>
          <p:nvPr>
            <p:ph type="title"/>
          </p:nvPr>
        </p:nvSpPr>
        <p:spPr>
          <a:xfrm>
            <a:off x="813302" y="1825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latin typeface="Times New Roman" panose="02020603050405020304" pitchFamily="18" charset="0"/>
                <a:cs typeface="Times New Roman" panose="02020603050405020304" pitchFamily="18" charset="0"/>
              </a:rPr>
              <a:t>Object-Oriented Programming</a:t>
            </a:r>
            <a:endParaRPr dirty="0">
              <a:latin typeface="Times New Roman" panose="02020603050405020304" pitchFamily="18" charset="0"/>
              <a:cs typeface="Times New Roman" panose="02020603050405020304" pitchFamily="18" charset="0"/>
            </a:endParaRPr>
          </a:p>
        </p:txBody>
      </p:sp>
      <p:sp>
        <p:nvSpPr>
          <p:cNvPr id="163" name="Google Shape;163;g2617de21601_0_2"/>
          <p:cNvSpPr txBox="1">
            <a:spLocks noGrp="1"/>
          </p:cNvSpPr>
          <p:nvPr>
            <p:ph type="body" idx="1"/>
          </p:nvPr>
        </p:nvSpPr>
        <p:spPr>
          <a:xfrm>
            <a:off x="838200" y="1496600"/>
            <a:ext cx="10515600" cy="4680300"/>
          </a:xfrm>
          <a:prstGeom prst="rect">
            <a:avLst/>
          </a:prstGeom>
        </p:spPr>
        <p:txBody>
          <a:bodyPr spcFirstLastPara="1" wrap="square" lIns="91425" tIns="45700" rIns="91425" bIns="45700" anchor="t" anchorCtr="0">
            <a:normAutofit fontScale="92500"/>
          </a:bodyPr>
          <a:lstStyle/>
          <a:p>
            <a:pPr algn="just"/>
            <a:r>
              <a:rPr lang="en-IN" dirty="0">
                <a:latin typeface="Times New Roman" panose="02020603050405020304" pitchFamily="18" charset="0"/>
                <a:cs typeface="Times New Roman" panose="02020603050405020304" pitchFamily="18" charset="0"/>
              </a:rPr>
              <a:t>Object oriented programming (OOP) is the core of Java programming. </a:t>
            </a:r>
          </a:p>
          <a:p>
            <a:pPr algn="just"/>
            <a:r>
              <a:rPr lang="en-IN" dirty="0">
                <a:latin typeface="Times New Roman" panose="02020603050405020304" pitchFamily="18" charset="0"/>
                <a:cs typeface="Times New Roman" panose="02020603050405020304" pitchFamily="18" charset="0"/>
              </a:rPr>
              <a:t>Java is a general purpose, object- oriented programming language developed by Sun Microsystems. It was invented by James Gosling and his team and was initially called as Oak. </a:t>
            </a:r>
          </a:p>
          <a:p>
            <a:pPr algn="just"/>
            <a:r>
              <a:rPr lang="en-IN" dirty="0">
                <a:latin typeface="Times New Roman" panose="02020603050405020304" pitchFamily="18" charset="0"/>
                <a:cs typeface="Times New Roman" panose="02020603050405020304" pitchFamily="18" charset="0"/>
              </a:rPr>
              <a:t>The most important </a:t>
            </a:r>
            <a:r>
              <a:rPr lang="en-IN" dirty="0">
                <a:solidFill>
                  <a:srgbClr val="C00000"/>
                </a:solidFill>
                <a:latin typeface="Times New Roman" panose="02020603050405020304" pitchFamily="18" charset="0"/>
                <a:cs typeface="Times New Roman" panose="02020603050405020304" pitchFamily="18" charset="0"/>
              </a:rPr>
              <a:t>feature</a:t>
            </a:r>
            <a:r>
              <a:rPr lang="en-IN" dirty="0">
                <a:latin typeface="Times New Roman" panose="02020603050405020304" pitchFamily="18" charset="0"/>
                <a:cs typeface="Times New Roman" panose="02020603050405020304" pitchFamily="18" charset="0"/>
              </a:rPr>
              <a:t> that made Java very popular was the ―</a:t>
            </a:r>
            <a:r>
              <a:rPr lang="en-IN" dirty="0">
                <a:solidFill>
                  <a:srgbClr val="C00000"/>
                </a:solidFill>
                <a:latin typeface="Times New Roman" panose="02020603050405020304" pitchFamily="18" charset="0"/>
                <a:cs typeface="Times New Roman" panose="02020603050405020304" pitchFamily="18" charset="0"/>
              </a:rPr>
              <a:t>Platform- Independent approach</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It was the first programming language that </a:t>
            </a:r>
            <a:r>
              <a:rPr lang="en-IN" dirty="0">
                <a:solidFill>
                  <a:srgbClr val="C00000"/>
                </a:solidFill>
                <a:latin typeface="Times New Roman" panose="02020603050405020304" pitchFamily="18" charset="0"/>
                <a:cs typeface="Times New Roman" panose="02020603050405020304" pitchFamily="18" charset="0"/>
              </a:rPr>
              <a:t>did not tie-up </a:t>
            </a:r>
            <a:r>
              <a:rPr lang="en-IN" dirty="0">
                <a:latin typeface="Times New Roman" panose="02020603050405020304" pitchFamily="18" charset="0"/>
                <a:cs typeface="Times New Roman" panose="02020603050405020304" pitchFamily="18" charset="0"/>
              </a:rPr>
              <a:t>with any particular operating system( or hardware) rather Java programs can be executed anywhere and on any system. </a:t>
            </a:r>
          </a:p>
          <a:p>
            <a:pPr algn="just"/>
            <a:r>
              <a:rPr lang="en-IN" dirty="0">
                <a:latin typeface="Times New Roman" panose="02020603050405020304" pitchFamily="18" charset="0"/>
                <a:cs typeface="Times New Roman" panose="02020603050405020304" pitchFamily="18" charset="0"/>
              </a:rPr>
              <a:t> Java was designed for the development of the </a:t>
            </a:r>
            <a:r>
              <a:rPr lang="en-IN" dirty="0">
                <a:solidFill>
                  <a:srgbClr val="C00000"/>
                </a:solidFill>
                <a:latin typeface="Times New Roman" panose="02020603050405020304" pitchFamily="18" charset="0"/>
                <a:cs typeface="Times New Roman" panose="02020603050405020304" pitchFamily="18" charset="0"/>
              </a:rPr>
              <a:t>software for consumer </a:t>
            </a:r>
            <a:r>
              <a:rPr lang="en-IN" dirty="0">
                <a:latin typeface="Times New Roman" panose="02020603050405020304" pitchFamily="18" charset="0"/>
                <a:cs typeface="Times New Roman" panose="02020603050405020304" pitchFamily="18" charset="0"/>
              </a:rPr>
              <a:t>electronic devices like </a:t>
            </a:r>
            <a:r>
              <a:rPr lang="en-IN" dirty="0">
                <a:solidFill>
                  <a:srgbClr val="C00000"/>
                </a:solidFill>
                <a:latin typeface="Times New Roman" panose="02020603050405020304" pitchFamily="18" charset="0"/>
                <a:cs typeface="Times New Roman" panose="02020603050405020304" pitchFamily="18" charset="0"/>
              </a:rPr>
              <a:t>TVs, VCRs</a:t>
            </a:r>
            <a:r>
              <a:rPr lang="en-IN" dirty="0">
                <a:latin typeface="Times New Roman" panose="02020603050405020304" pitchFamily="18" charset="0"/>
                <a:cs typeface="Times New Roman" panose="02020603050405020304" pitchFamily="18" charset="0"/>
              </a:rPr>
              <a:t>, etc.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617de21601_0_2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Two Paradigms of Programming</a:t>
            </a:r>
            <a:endParaRPr dirty="0">
              <a:latin typeface="Times New Roman" panose="02020603050405020304" pitchFamily="18" charset="0"/>
              <a:cs typeface="Times New Roman" panose="02020603050405020304" pitchFamily="18" charset="0"/>
            </a:endParaRPr>
          </a:p>
        </p:txBody>
      </p:sp>
      <p:sp>
        <p:nvSpPr>
          <p:cNvPr id="186" name="Google Shape;186;g2617de21601_0_2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just" rtl="0">
              <a:spcBef>
                <a:spcPts val="1000"/>
              </a:spcBef>
              <a:spcAft>
                <a:spcPts val="0"/>
              </a:spcAft>
              <a:buSzPts val="1800"/>
              <a:buAutoNum type="arabicPeriod"/>
            </a:pPr>
            <a:r>
              <a:rPr lang="en-US" dirty="0">
                <a:latin typeface="Times New Roman" panose="02020603050405020304" pitchFamily="18" charset="0"/>
                <a:cs typeface="Times New Roman" panose="02020603050405020304" pitchFamily="18" charset="0"/>
              </a:rPr>
              <a:t>Process-Oriented Programming (POP)</a:t>
            </a:r>
            <a:endParaRPr dirty="0">
              <a:latin typeface="Times New Roman" panose="02020603050405020304" pitchFamily="18" charset="0"/>
              <a:cs typeface="Times New Roman" panose="02020603050405020304" pitchFamily="18" charset="0"/>
            </a:endParaRPr>
          </a:p>
          <a:p>
            <a:pPr marL="457200" lvl="0" indent="-342900" algn="just" rtl="0">
              <a:spcBef>
                <a:spcPts val="0"/>
              </a:spcBef>
              <a:spcAft>
                <a:spcPts val="0"/>
              </a:spcAft>
              <a:buSzPts val="1800"/>
              <a:buAutoNum type="arabicPeriod"/>
            </a:pPr>
            <a:r>
              <a:rPr lang="en-US" dirty="0">
                <a:latin typeface="Times New Roman" panose="02020603050405020304" pitchFamily="18" charset="0"/>
                <a:cs typeface="Times New Roman" panose="02020603050405020304" pitchFamily="18" charset="0"/>
              </a:rPr>
              <a:t>Object-Oriented Programming (OOP)</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2617de21601_0_28"/>
          <p:cNvSpPr txBox="1">
            <a:spLocks noGrp="1"/>
          </p:cNvSpPr>
          <p:nvPr>
            <p:ph type="title"/>
          </p:nvPr>
        </p:nvSpPr>
        <p:spPr>
          <a:xfrm>
            <a:off x="860150" y="404664"/>
            <a:ext cx="10515600" cy="13257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US" sz="3500" dirty="0">
                <a:latin typeface="Times New Roman" pitchFamily="18" charset="0"/>
                <a:cs typeface="Times New Roman" pitchFamily="18" charset="0"/>
              </a:rPr>
              <a:t>Process-Oriented Programming (POP)</a:t>
            </a:r>
            <a:endParaRPr sz="5100" dirty="0">
              <a:latin typeface="Times New Roman" pitchFamily="18" charset="0"/>
              <a:cs typeface="Times New Roman" pitchFamily="18" charset="0"/>
            </a:endParaRPr>
          </a:p>
        </p:txBody>
      </p:sp>
      <p:sp>
        <p:nvSpPr>
          <p:cNvPr id="192" name="Google Shape;192;g2617de21601_0_28"/>
          <p:cNvSpPr txBox="1">
            <a:spLocks noGrp="1"/>
          </p:cNvSpPr>
          <p:nvPr>
            <p:ph type="body" idx="1"/>
          </p:nvPr>
        </p:nvSpPr>
        <p:spPr>
          <a:xfrm>
            <a:off x="394700" y="1825625"/>
            <a:ext cx="11446500" cy="48186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POP focuses on the </a:t>
            </a:r>
            <a:r>
              <a:rPr lang="en-US" dirty="0">
                <a:solidFill>
                  <a:srgbClr val="C00000"/>
                </a:solidFill>
                <a:latin typeface="Times New Roman" pitchFamily="18" charset="0"/>
                <a:cs typeface="Times New Roman" pitchFamily="18" charset="0"/>
              </a:rPr>
              <a:t>processes or functions that manipulate data</a:t>
            </a:r>
            <a:r>
              <a:rPr lang="en-US" dirty="0">
                <a:latin typeface="Times New Roman" pitchFamily="18" charset="0"/>
                <a:cs typeface="Times New Roman" pitchFamily="18" charset="0"/>
              </a:rPr>
              <a:t>. The emphasis is on procedures or routines that perform specific tasks.</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Data Handling: </a:t>
            </a:r>
            <a:r>
              <a:rPr lang="en-US" dirty="0">
                <a:solidFill>
                  <a:srgbClr val="C00000"/>
                </a:solidFill>
                <a:latin typeface="Times New Roman" pitchFamily="18" charset="0"/>
                <a:cs typeface="Times New Roman" pitchFamily="18" charset="0"/>
              </a:rPr>
              <a:t>Data and functions </a:t>
            </a:r>
            <a:r>
              <a:rPr lang="en-US" dirty="0">
                <a:latin typeface="Times New Roman" pitchFamily="18" charset="0"/>
                <a:cs typeface="Times New Roman" pitchFamily="18" charset="0"/>
              </a:rPr>
              <a:t>are separate entities. Data is often global and can be accessed by any function.</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Top-Down Approach:</a:t>
            </a:r>
            <a:r>
              <a:rPr lang="en-US" dirty="0">
                <a:latin typeface="Times New Roman" pitchFamily="18" charset="0"/>
                <a:cs typeface="Times New Roman" pitchFamily="18" charset="0"/>
              </a:rPr>
              <a:t> Programs are typically designed using a top-down approach, breaking down the problem into smaller tasks and procedures.</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Example:</a:t>
            </a:r>
            <a:r>
              <a:rPr lang="en-US" dirty="0">
                <a:latin typeface="Times New Roman" pitchFamily="18" charset="0"/>
                <a:cs typeface="Times New Roman" pitchFamily="18" charset="0"/>
              </a:rPr>
              <a:t> Traditional procedural languages like C are process-oriented. In C, you write </a:t>
            </a:r>
            <a:r>
              <a:rPr lang="en-US" dirty="0">
                <a:solidFill>
                  <a:srgbClr val="C00000"/>
                </a:solidFill>
                <a:latin typeface="Times New Roman" pitchFamily="18" charset="0"/>
                <a:cs typeface="Times New Roman" pitchFamily="18" charset="0"/>
              </a:rPr>
              <a:t>functions</a:t>
            </a:r>
            <a:r>
              <a:rPr lang="en-US" dirty="0">
                <a:latin typeface="Times New Roman" pitchFamily="18" charset="0"/>
                <a:cs typeface="Times New Roman" pitchFamily="18" charset="0"/>
              </a:rPr>
              <a:t> that </a:t>
            </a:r>
            <a:r>
              <a:rPr lang="en-US" dirty="0">
                <a:solidFill>
                  <a:srgbClr val="C00000"/>
                </a:solidFill>
                <a:latin typeface="Times New Roman" pitchFamily="18" charset="0"/>
                <a:cs typeface="Times New Roman" pitchFamily="18" charset="0"/>
              </a:rPr>
              <a:t>operate on data</a:t>
            </a:r>
            <a:r>
              <a:rPr lang="en-US" dirty="0">
                <a:latin typeface="Times New Roman" pitchFamily="18" charset="0"/>
                <a:cs typeface="Times New Roman" pitchFamily="18" charset="0"/>
              </a:rPr>
              <a:t>, and the flow of the program is directed by function calls</a:t>
            </a:r>
            <a:r>
              <a:rPr lang="en-US" dirty="0"/>
              <a: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2617de21601_0_3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dirty="0">
                <a:latin typeface="Times New Roman" pitchFamily="18" charset="0"/>
                <a:cs typeface="Times New Roman" pitchFamily="18" charset="0"/>
              </a:rPr>
              <a:t>Object-Oriented Programming (OOP)</a:t>
            </a:r>
            <a:endParaRPr sz="3200" dirty="0">
              <a:latin typeface="Times New Roman" pitchFamily="18" charset="0"/>
              <a:cs typeface="Times New Roman" pitchFamily="18" charset="0"/>
            </a:endParaRPr>
          </a:p>
        </p:txBody>
      </p:sp>
      <p:sp>
        <p:nvSpPr>
          <p:cNvPr id="198" name="Google Shape;198;g2617de21601_0_3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spcBef>
                <a:spcPts val="1000"/>
              </a:spcBef>
              <a:spcAft>
                <a:spcPts val="0"/>
              </a:spcAft>
              <a:buNone/>
            </a:pPr>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OOP focuses on modeling real-world entities as objects that have both data (attributes) and behaviors (methods).</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Data Encapsulation:</a:t>
            </a:r>
            <a:r>
              <a:rPr lang="en-US" dirty="0">
                <a:latin typeface="Times New Roman" pitchFamily="18" charset="0"/>
                <a:cs typeface="Times New Roman" pitchFamily="18" charset="0"/>
              </a:rPr>
              <a:t> Data and methods are encapsulated together into objects. Objects interact with each other through well-defined interfaces.</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Abstraction and Inheritance:</a:t>
            </a:r>
            <a:r>
              <a:rPr lang="en-US" dirty="0">
                <a:latin typeface="Times New Roman" pitchFamily="18" charset="0"/>
                <a:cs typeface="Times New Roman" pitchFamily="18" charset="0"/>
              </a:rPr>
              <a:t> OOP supports concepts like abstraction, allowing you to hide complex implementation details, and inheritance, enabling you to create new classes based on existing ones.</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Example: Java, Python, and C++ are examples of object-oriented languages. In Java, for instance, you define classes representing objects, and these classes encapsulate both data (attributes) and methods (behaviors).</a:t>
            </a:r>
            <a:endParaRPr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617de21601_0_4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b="1" dirty="0">
                <a:latin typeface="Times New Roman" pitchFamily="18" charset="0"/>
                <a:cs typeface="Times New Roman" pitchFamily="18" charset="0"/>
              </a:rPr>
              <a:t>Abstraction</a:t>
            </a:r>
            <a:endParaRPr sz="3200" b="1" dirty="0">
              <a:latin typeface="Times New Roman" pitchFamily="18" charset="0"/>
              <a:cs typeface="Times New Roman" pitchFamily="18" charset="0"/>
            </a:endParaRPr>
          </a:p>
        </p:txBody>
      </p:sp>
      <p:sp>
        <p:nvSpPr>
          <p:cNvPr id="204" name="Google Shape;204;g2617de21601_0_40"/>
          <p:cNvSpPr txBox="1">
            <a:spLocks noGrp="1"/>
          </p:cNvSpPr>
          <p:nvPr>
            <p:ph type="body" idx="1"/>
          </p:nvPr>
        </p:nvSpPr>
        <p:spPr>
          <a:xfrm>
            <a:off x="335360" y="1825625"/>
            <a:ext cx="11018440" cy="4351200"/>
          </a:xfrm>
          <a:prstGeom prst="rect">
            <a:avLst/>
          </a:prstGeom>
        </p:spPr>
        <p:txBody>
          <a:bodyPr spcFirstLastPara="1" wrap="square" lIns="91425" tIns="45700" rIns="91425" bIns="45700" anchor="t" anchorCtr="0">
            <a:normAutofit/>
          </a:bodyPr>
          <a:lstStyle/>
          <a:p>
            <a:pPr indent="-457200" algn="just"/>
            <a:r>
              <a:rPr lang="en-US" dirty="0">
                <a:latin typeface="Times New Roman" pitchFamily="18" charset="0"/>
                <a:cs typeface="Times New Roman" pitchFamily="18" charset="0"/>
              </a:rPr>
              <a:t>Abstraction is a fundamental concept in computer science and Object-Oriented Programming (OOP) that involves simplifying complex systems by </a:t>
            </a:r>
            <a:r>
              <a:rPr lang="en-US" dirty="0">
                <a:solidFill>
                  <a:srgbClr val="FF0000"/>
                </a:solidFill>
                <a:latin typeface="Times New Roman" pitchFamily="18" charset="0"/>
                <a:cs typeface="Times New Roman" pitchFamily="18" charset="0"/>
              </a:rPr>
              <a:t>modeling classes based on the essential properties and behaviors they share. </a:t>
            </a:r>
            <a:endParaRPr dirty="0">
              <a:solidFill>
                <a:srgbClr val="FF0000"/>
              </a:solidFill>
              <a:latin typeface="Times New Roman" pitchFamily="18" charset="0"/>
              <a:cs typeface="Times New Roman" pitchFamily="18" charset="0"/>
            </a:endParaRPr>
          </a:p>
          <a:p>
            <a:pPr indent="-457200" algn="just"/>
            <a:r>
              <a:rPr lang="en-US" dirty="0">
                <a:latin typeface="Times New Roman" pitchFamily="18" charset="0"/>
                <a:cs typeface="Times New Roman" pitchFamily="18" charset="0"/>
              </a:rPr>
              <a:t>Abstraction allows you to focus on the essential characteristics of an object while </a:t>
            </a:r>
            <a:r>
              <a:rPr lang="en-US" dirty="0">
                <a:solidFill>
                  <a:srgbClr val="FF0000"/>
                </a:solidFill>
                <a:latin typeface="Times New Roman" pitchFamily="18" charset="0"/>
                <a:cs typeface="Times New Roman" pitchFamily="18" charset="0"/>
              </a:rPr>
              <a:t>ignoring</a:t>
            </a:r>
            <a:r>
              <a:rPr lang="en-US" dirty="0">
                <a:latin typeface="Times New Roman" pitchFamily="18" charset="0"/>
                <a:cs typeface="Times New Roman" pitchFamily="18" charset="0"/>
              </a:rPr>
              <a:t> the unnecessary details.</a:t>
            </a:r>
            <a:endParaRPr dirty="0">
              <a:latin typeface="Times New Roman" pitchFamily="18" charset="0"/>
              <a:cs typeface="Times New Roman" pitchFamily="18" charset="0"/>
            </a:endParaRPr>
          </a:p>
          <a:p>
            <a:pPr indent="-457200" algn="just"/>
            <a:r>
              <a:rPr lang="en-US" dirty="0">
                <a:latin typeface="Times New Roman" pitchFamily="18" charset="0"/>
                <a:cs typeface="Times New Roman" pitchFamily="18" charset="0"/>
              </a:rPr>
              <a:t>Let's consider a real-world example to </a:t>
            </a:r>
            <a:r>
              <a:rPr lang="en-US" dirty="0">
                <a:solidFill>
                  <a:srgbClr val="FF0000"/>
                </a:solidFill>
                <a:latin typeface="Times New Roman" pitchFamily="18" charset="0"/>
                <a:cs typeface="Times New Roman" pitchFamily="18" charset="0"/>
              </a:rPr>
              <a:t>illustrate abstraction: a TV remote control.</a:t>
            </a:r>
            <a:endParaRPr dirty="0">
              <a:solidFill>
                <a:srgbClr val="FF000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2617de21601_0_6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1100"/>
              <a:buFont typeface="Arial"/>
              <a:buNone/>
            </a:pPr>
            <a:r>
              <a:rPr lang="en-US" sz="3600" b="1" dirty="0">
                <a:latin typeface="Times New Roman" pitchFamily="18" charset="0"/>
                <a:cs typeface="Times New Roman" pitchFamily="18" charset="0"/>
              </a:rPr>
              <a:t>The Three OOP Principles</a:t>
            </a:r>
            <a:endParaRPr sz="3600" b="1" dirty="0">
              <a:latin typeface="Times New Roman" pitchFamily="18" charset="0"/>
              <a:cs typeface="Times New Roman" pitchFamily="18" charset="0"/>
            </a:endParaRPr>
          </a:p>
        </p:txBody>
      </p:sp>
      <p:sp>
        <p:nvSpPr>
          <p:cNvPr id="221" name="Google Shape;221;g2617de21601_0_6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US" dirty="0"/>
              <a:t>Encapsulation</a:t>
            </a:r>
            <a:endParaRPr dirty="0"/>
          </a:p>
          <a:p>
            <a:pPr indent="-457200"/>
            <a:r>
              <a:rPr lang="en-US" dirty="0"/>
              <a:t>Inheritance</a:t>
            </a:r>
            <a:endParaRPr dirty="0"/>
          </a:p>
          <a:p>
            <a:pPr indent="-457200">
              <a:buSzPts val="1100"/>
            </a:pPr>
            <a:r>
              <a:rPr lang="en-US" dirty="0"/>
              <a:t>Polymorphism</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2617de21601_0_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b="1" dirty="0">
                <a:latin typeface="Times New Roman" pitchFamily="18" charset="0"/>
                <a:cs typeface="Times New Roman" pitchFamily="18" charset="0"/>
              </a:rPr>
              <a:t>The Three OOP Principles</a:t>
            </a:r>
            <a:endParaRPr sz="3600" b="1" dirty="0">
              <a:latin typeface="Times New Roman" pitchFamily="18" charset="0"/>
              <a:cs typeface="Times New Roman" pitchFamily="18" charset="0"/>
            </a:endParaRPr>
          </a:p>
        </p:txBody>
      </p:sp>
      <p:sp>
        <p:nvSpPr>
          <p:cNvPr id="2" name="Text Placeholder 1"/>
          <p:cNvSpPr>
            <a:spLocks noGrp="1"/>
          </p:cNvSpPr>
          <p:nvPr>
            <p:ph type="body" idx="1"/>
          </p:nvPr>
        </p:nvSpPr>
        <p:spPr>
          <a:xfrm>
            <a:off x="335360" y="1628800"/>
            <a:ext cx="11521280" cy="4351338"/>
          </a:xfrm>
        </p:spPr>
        <p:txBody>
          <a:bodyPr>
            <a:normAutofit/>
          </a:bodyPr>
          <a:lstStyle/>
          <a:p>
            <a:pPr marL="114300" indent="0" algn="just">
              <a:buNone/>
            </a:pPr>
            <a:r>
              <a:rPr lang="en-IN" b="1" dirty="0">
                <a:latin typeface="Times New Roman" pitchFamily="18" charset="0"/>
                <a:cs typeface="Times New Roman" pitchFamily="18" charset="0"/>
              </a:rPr>
              <a:t>Encapsulation: </a:t>
            </a:r>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Encapsulation is the mechanism that </a:t>
            </a:r>
            <a:r>
              <a:rPr lang="en-IN" dirty="0">
                <a:solidFill>
                  <a:srgbClr val="FF0000"/>
                </a:solidFill>
                <a:latin typeface="Times New Roman" pitchFamily="18" charset="0"/>
                <a:cs typeface="Times New Roman" pitchFamily="18" charset="0"/>
              </a:rPr>
              <a:t>binds together code and data </a:t>
            </a:r>
            <a:r>
              <a:rPr lang="en-IN" dirty="0">
                <a:latin typeface="Times New Roman" pitchFamily="18" charset="0"/>
                <a:cs typeface="Times New Roman" pitchFamily="18" charset="0"/>
              </a:rPr>
              <a:t>it manipulates, and keeps both safe from outside interference and misuse. </a:t>
            </a:r>
          </a:p>
          <a:p>
            <a:pPr algn="just"/>
            <a:r>
              <a:rPr lang="en-IN" dirty="0">
                <a:latin typeface="Times New Roman" pitchFamily="18" charset="0"/>
                <a:cs typeface="Times New Roman" pitchFamily="18" charset="0"/>
              </a:rPr>
              <a:t>In Java the basis of encapsulation is the class. A class defines the </a:t>
            </a:r>
            <a:r>
              <a:rPr lang="en-IN" dirty="0">
                <a:solidFill>
                  <a:srgbClr val="FF0000"/>
                </a:solidFill>
                <a:latin typeface="Times New Roman" pitchFamily="18" charset="0"/>
                <a:cs typeface="Times New Roman" pitchFamily="18" charset="0"/>
              </a:rPr>
              <a:t>state and behavior( data &amp; code)</a:t>
            </a:r>
            <a:r>
              <a:rPr lang="en-IN" dirty="0">
                <a:latin typeface="Times New Roman" pitchFamily="18" charset="0"/>
                <a:cs typeface="Times New Roman" pitchFamily="18" charset="0"/>
              </a:rPr>
              <a:t> that will be shared by </a:t>
            </a:r>
            <a:r>
              <a:rPr lang="en-IN" dirty="0">
                <a:solidFill>
                  <a:srgbClr val="FF0000"/>
                </a:solidFill>
                <a:latin typeface="Times New Roman" pitchFamily="18" charset="0"/>
                <a:cs typeface="Times New Roman" pitchFamily="18" charset="0"/>
              </a:rPr>
              <a:t>set of objects</a:t>
            </a:r>
            <a:r>
              <a:rPr lang="en-IN" dirty="0">
                <a:latin typeface="Times New Roman" pitchFamily="18" charset="0"/>
                <a:cs typeface="Times New Roman" pitchFamily="18" charset="0"/>
              </a:rPr>
              <a:t>.</a:t>
            </a:r>
          </a:p>
          <a:p>
            <a:pPr algn="just"/>
            <a:r>
              <a:rPr lang="en-IN" dirty="0">
                <a:latin typeface="Times New Roman" pitchFamily="18" charset="0"/>
                <a:cs typeface="Times New Roman" pitchFamily="18" charset="0"/>
              </a:rPr>
              <a:t>Each object contains the </a:t>
            </a:r>
            <a:r>
              <a:rPr lang="en-IN" dirty="0">
                <a:solidFill>
                  <a:srgbClr val="FF0000"/>
                </a:solidFill>
                <a:latin typeface="Times New Roman" pitchFamily="18" charset="0"/>
                <a:cs typeface="Times New Roman" pitchFamily="18" charset="0"/>
              </a:rPr>
              <a:t>structure and behavio</a:t>
            </a:r>
            <a:r>
              <a:rPr lang="en-IN" dirty="0">
                <a:latin typeface="Times New Roman" pitchFamily="18" charset="0"/>
                <a:cs typeface="Times New Roman" pitchFamily="18" charset="0"/>
              </a:rPr>
              <a:t>r defined by the class. The data defined by the class are called instance </a:t>
            </a:r>
            <a:r>
              <a:rPr lang="en-IN" dirty="0">
                <a:solidFill>
                  <a:srgbClr val="FF0000"/>
                </a:solidFill>
                <a:latin typeface="Times New Roman" pitchFamily="18" charset="0"/>
                <a:cs typeface="Times New Roman" pitchFamily="18" charset="0"/>
              </a:rPr>
              <a:t>variables(member variables</a:t>
            </a:r>
            <a:r>
              <a:rPr lang="en-IN" dirty="0">
                <a:latin typeface="Times New Roman" pitchFamily="18" charset="0"/>
                <a:cs typeface="Times New Roman" pitchFamily="18" charset="0"/>
              </a:rPr>
              <a:t>), the code that operates on that data are called </a:t>
            </a:r>
            <a:r>
              <a:rPr lang="en-IN" dirty="0">
                <a:solidFill>
                  <a:srgbClr val="FF0000"/>
                </a:solidFill>
                <a:latin typeface="Times New Roman" pitchFamily="18" charset="0"/>
                <a:cs typeface="Times New Roman" pitchFamily="18" charset="0"/>
              </a:rPr>
              <a:t>methods(member functions</a:t>
            </a:r>
            <a:r>
              <a:rPr lang="en-IN" dirty="0">
                <a:latin typeface="Times New Roman" pitchFamily="18" charset="0"/>
                <a:cs typeface="Times New Roman" pitchFamily="18" charset="0"/>
              </a:rPr>
              <a:t>) </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 name="Text Placeholder 1"/>
          <p:cNvSpPr>
            <a:spLocks noGrp="1"/>
          </p:cNvSpPr>
          <p:nvPr>
            <p:ph type="body" idx="1"/>
          </p:nvPr>
        </p:nvSpPr>
        <p:spPr>
          <a:xfrm>
            <a:off x="911424" y="908720"/>
            <a:ext cx="10515600" cy="4351338"/>
          </a:xfrm>
        </p:spPr>
        <p:txBody>
          <a:bodyPr/>
          <a:lstStyle/>
          <a:p>
            <a:pPr marL="114300" indent="0" algn="just">
              <a:buNone/>
            </a:pPr>
            <a:r>
              <a:rPr lang="en-IN" b="1" dirty="0">
                <a:latin typeface="Times New Roman" pitchFamily="18" charset="0"/>
                <a:cs typeface="Times New Roman" pitchFamily="18" charset="0"/>
              </a:rPr>
              <a:t>Inheritance: </a:t>
            </a:r>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Inheritance is the process by which </a:t>
            </a:r>
            <a:r>
              <a:rPr lang="en-IN" dirty="0">
                <a:solidFill>
                  <a:srgbClr val="FF0000"/>
                </a:solidFill>
                <a:latin typeface="Times New Roman" pitchFamily="18" charset="0"/>
                <a:cs typeface="Times New Roman" pitchFamily="18" charset="0"/>
              </a:rPr>
              <a:t>one object acquires the properties of another object</a:t>
            </a:r>
            <a:r>
              <a:rPr lang="en-IN" dirty="0">
                <a:latin typeface="Times New Roman" pitchFamily="18" charset="0"/>
                <a:cs typeface="Times New Roman" pitchFamily="18" charset="0"/>
              </a:rPr>
              <a:t>. This is important as it supports the concept of hierarchical classification. </a:t>
            </a:r>
          </a:p>
          <a:p>
            <a:pPr algn="just"/>
            <a:r>
              <a:rPr lang="en-IN" dirty="0">
                <a:latin typeface="Times New Roman" pitchFamily="18" charset="0"/>
                <a:cs typeface="Times New Roman" pitchFamily="18" charset="0"/>
              </a:rPr>
              <a:t>By the use of inheritance, a class has to define only those qualities that make it unique. The </a:t>
            </a:r>
            <a:r>
              <a:rPr lang="en-IN" dirty="0">
                <a:solidFill>
                  <a:srgbClr val="FF0000"/>
                </a:solidFill>
                <a:latin typeface="Times New Roman" pitchFamily="18" charset="0"/>
                <a:cs typeface="Times New Roman" pitchFamily="18" charset="0"/>
              </a:rPr>
              <a:t>general qualities </a:t>
            </a:r>
            <a:r>
              <a:rPr lang="en-IN" dirty="0">
                <a:latin typeface="Times New Roman" pitchFamily="18" charset="0"/>
                <a:cs typeface="Times New Roman" pitchFamily="18" charset="0"/>
              </a:rPr>
              <a:t>can be derived from the parent class or base class. </a:t>
            </a:r>
          </a:p>
          <a:p>
            <a:pPr algn="just"/>
            <a:r>
              <a:rPr lang="en-IN" dirty="0">
                <a:latin typeface="Times New Roman" pitchFamily="18" charset="0"/>
                <a:cs typeface="Times New Roman" pitchFamily="18" charset="0"/>
              </a:rPr>
              <a:t>Ex: A child inheriting properties from parents. </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911424" y="908720"/>
            <a:ext cx="105156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dirty="0"/>
          </a:p>
        </p:txBody>
      </p:sp>
      <p:sp>
        <p:nvSpPr>
          <p:cNvPr id="4" name="Rectangle 3"/>
          <p:cNvSpPr/>
          <p:nvPr/>
        </p:nvSpPr>
        <p:spPr>
          <a:xfrm>
            <a:off x="911424" y="692696"/>
            <a:ext cx="10081120" cy="5362365"/>
          </a:xfrm>
          <a:prstGeom prst="rect">
            <a:avLst/>
          </a:prstGeom>
        </p:spPr>
        <p:txBody>
          <a:bodyPr wrap="square">
            <a:spAutoFit/>
          </a:bodyPr>
          <a:lstStyle/>
          <a:p>
            <a:pPr algn="just">
              <a:lnSpc>
                <a:spcPct val="115000"/>
              </a:lnSpc>
              <a:spcAft>
                <a:spcPts val="895"/>
              </a:spcAft>
            </a:pPr>
            <a:r>
              <a:rPr lang="en-IN" sz="2800" b="1" dirty="0">
                <a:latin typeface="Times New Roman"/>
                <a:ea typeface="Calibri"/>
                <a:cs typeface="Times New Roman"/>
              </a:rPr>
              <a:t>Polymorphism:</a:t>
            </a:r>
          </a:p>
          <a:p>
            <a:pPr marL="285750" indent="-285750" algn="just">
              <a:lnSpc>
                <a:spcPct val="115000"/>
              </a:lnSpc>
              <a:spcAft>
                <a:spcPts val="895"/>
              </a:spcAft>
              <a:buFont typeface="Arial" pitchFamily="34" charset="0"/>
              <a:buChar char="•"/>
            </a:pPr>
            <a:r>
              <a:rPr lang="en-IN" sz="2800" dirty="0">
                <a:latin typeface="Times New Roman"/>
                <a:ea typeface="Calibri"/>
                <a:cs typeface="Times New Roman"/>
              </a:rPr>
              <a:t>Polymorphism (meaning many forms) is a feature that allows one </a:t>
            </a:r>
            <a:r>
              <a:rPr lang="en-IN" sz="2800" dirty="0">
                <a:solidFill>
                  <a:srgbClr val="FF0000"/>
                </a:solidFill>
                <a:latin typeface="Times New Roman"/>
                <a:ea typeface="Calibri"/>
                <a:cs typeface="Times New Roman"/>
              </a:rPr>
              <a:t>interface to be used for a general class of actions</a:t>
            </a:r>
            <a:r>
              <a:rPr lang="en-IN" sz="2800" dirty="0">
                <a:latin typeface="Times New Roman"/>
                <a:ea typeface="Calibri"/>
                <a:cs typeface="Times New Roman"/>
              </a:rPr>
              <a:t>. The specific action determined by the exact nature of the situation. This concept is often expressed as “ one interface, multiple method</a:t>
            </a:r>
          </a:p>
          <a:p>
            <a:pPr marL="285750" indent="-285750" algn="just">
              <a:lnSpc>
                <a:spcPct val="115000"/>
              </a:lnSpc>
              <a:spcAft>
                <a:spcPts val="895"/>
              </a:spcAft>
              <a:buFont typeface="Arial" pitchFamily="34" charset="0"/>
              <a:buChar char="•"/>
            </a:pPr>
            <a:r>
              <a:rPr lang="en-IN" sz="2800" dirty="0">
                <a:latin typeface="Times New Roman"/>
                <a:ea typeface="Calibri"/>
                <a:cs typeface="Times New Roman"/>
              </a:rPr>
              <a:t>Ex: “+” can be used for addition of 2 numbers and also concatenation of 2 strings. </a:t>
            </a:r>
            <a:r>
              <a:rPr lang="en-IN" sz="2800" dirty="0" err="1">
                <a:latin typeface="Times New Roman"/>
                <a:ea typeface="Calibri"/>
                <a:cs typeface="Times New Roman"/>
              </a:rPr>
              <a:t>System.out.println</a:t>
            </a:r>
            <a:r>
              <a:rPr lang="en-IN" sz="2800" dirty="0">
                <a:latin typeface="Times New Roman"/>
                <a:ea typeface="Calibri"/>
                <a:cs typeface="Times New Roman"/>
              </a:rPr>
              <a:t>(2+4); // outputs 6 as answer </a:t>
            </a:r>
            <a:endParaRPr lang="en-IN" sz="2800" dirty="0">
              <a:latin typeface="Calibri"/>
              <a:ea typeface="Calibri"/>
              <a:cs typeface="Times New Roman"/>
            </a:endParaRPr>
          </a:p>
          <a:p>
            <a:pPr marL="285750" indent="-285750" algn="just">
              <a:lnSpc>
                <a:spcPct val="115000"/>
              </a:lnSpc>
              <a:buFont typeface="Arial" pitchFamily="34" charset="0"/>
              <a:buChar char="•"/>
            </a:pPr>
            <a:r>
              <a:rPr lang="en-IN" sz="2800" dirty="0" err="1">
                <a:latin typeface="Times New Roman"/>
                <a:ea typeface="Calibri"/>
                <a:cs typeface="Times New Roman"/>
              </a:rPr>
              <a:t>System.out.println</a:t>
            </a:r>
            <a:r>
              <a:rPr lang="en-IN" sz="2800" dirty="0">
                <a:latin typeface="Times New Roman"/>
                <a:ea typeface="Calibri"/>
                <a:cs typeface="Times New Roman"/>
              </a:rPr>
              <a:t>(“Hello” + “</a:t>
            </a:r>
            <a:r>
              <a:rPr lang="en-IN" sz="2800" dirty="0" err="1">
                <a:latin typeface="Times New Roman"/>
                <a:ea typeface="Calibri"/>
                <a:cs typeface="Times New Roman"/>
              </a:rPr>
              <a:t>Gautham</a:t>
            </a:r>
            <a:r>
              <a:rPr lang="en-IN" sz="2800" dirty="0">
                <a:latin typeface="Times New Roman"/>
                <a:ea typeface="Calibri"/>
                <a:cs typeface="Times New Roman"/>
              </a:rPr>
              <a:t>”); // outputs Hello </a:t>
            </a:r>
            <a:r>
              <a:rPr lang="en-IN" sz="2800" dirty="0" err="1">
                <a:latin typeface="Times New Roman"/>
                <a:ea typeface="Calibri"/>
                <a:cs typeface="Times New Roman"/>
              </a:rPr>
              <a:t>Gautham</a:t>
            </a:r>
            <a:r>
              <a:rPr lang="en-IN" sz="2800" dirty="0">
                <a:latin typeface="Times New Roman"/>
                <a:ea typeface="Calibri"/>
                <a:cs typeface="Times New Roman"/>
              </a:rPr>
              <a:t> as answer Apart from this the additional features include: </a:t>
            </a:r>
            <a:endParaRPr lang="en-IN" sz="2800" dirty="0">
              <a:effectLst/>
              <a:latin typeface="Calibri"/>
              <a:ea typeface="Calibri"/>
              <a:cs typeface="Times New Roman"/>
            </a:endParaRPr>
          </a:p>
        </p:txBody>
      </p:sp>
    </p:spTree>
    <p:extLst>
      <p:ext uri="{BB962C8B-B14F-4D97-AF65-F5344CB8AC3E}">
        <p14:creationId xmlns:p14="http://schemas.microsoft.com/office/powerpoint/2010/main" val="3270142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803" y="-99392"/>
            <a:ext cx="10515600" cy="1325563"/>
          </a:xfrm>
        </p:spPr>
        <p:txBody>
          <a:bodyPr>
            <a:normAutofit/>
          </a:bodyPr>
          <a:lstStyle/>
          <a:p>
            <a:pPr algn="ctr"/>
            <a:r>
              <a:rPr lang="en-IN" sz="3600" b="1" dirty="0">
                <a:latin typeface="Times New Roman" pitchFamily="18" charset="0"/>
                <a:cs typeface="Times New Roman" pitchFamily="18" charset="0"/>
              </a:rPr>
              <a:t>Java Platform &amp; the Creation of Java</a:t>
            </a:r>
            <a:endParaRPr lang="en-IN" sz="3600" dirty="0">
              <a:latin typeface="Times New Roman" pitchFamily="18" charset="0"/>
              <a:cs typeface="Times New Roman" pitchFamily="18" charset="0"/>
            </a:endParaRPr>
          </a:p>
        </p:txBody>
      </p:sp>
      <p:sp>
        <p:nvSpPr>
          <p:cNvPr id="3" name="Rectangle 2"/>
          <p:cNvSpPr/>
          <p:nvPr/>
        </p:nvSpPr>
        <p:spPr>
          <a:xfrm>
            <a:off x="367142" y="980728"/>
            <a:ext cx="11305256" cy="4955203"/>
          </a:xfrm>
          <a:prstGeom prst="rect">
            <a:avLst/>
          </a:prstGeom>
        </p:spPr>
        <p:txBody>
          <a:bodyPr wrap="square">
            <a:spAutoFit/>
          </a:bodyPr>
          <a:lstStyle/>
          <a:p>
            <a:r>
              <a:rPr lang="en-IN" sz="2400" dirty="0">
                <a:latin typeface="Times New Roman" pitchFamily="18" charset="0"/>
                <a:cs typeface="Times New Roman" pitchFamily="18" charset="0"/>
              </a:rPr>
              <a:t>Any </a:t>
            </a:r>
            <a:r>
              <a:rPr lang="en-IN" sz="2400" dirty="0">
                <a:solidFill>
                  <a:srgbClr val="FF0000"/>
                </a:solidFill>
                <a:latin typeface="Times New Roman" pitchFamily="18" charset="0"/>
                <a:cs typeface="Times New Roman" pitchFamily="18" charset="0"/>
              </a:rPr>
              <a:t>hardware or software environment </a:t>
            </a:r>
            <a:r>
              <a:rPr lang="en-IN" sz="2400" dirty="0">
                <a:latin typeface="Times New Roman" pitchFamily="18" charset="0"/>
                <a:cs typeface="Times New Roman" pitchFamily="18" charset="0"/>
              </a:rPr>
              <a:t>in which a program runs is known as a </a:t>
            </a:r>
            <a:r>
              <a:rPr lang="en-IN" sz="2400" dirty="0">
                <a:solidFill>
                  <a:srgbClr val="FF0000"/>
                </a:solidFill>
                <a:latin typeface="Times New Roman" pitchFamily="18" charset="0"/>
                <a:cs typeface="Times New Roman" pitchFamily="18" charset="0"/>
              </a:rPr>
              <a:t>platform.</a:t>
            </a:r>
            <a:r>
              <a:rPr lang="en-IN" sz="2400" dirty="0">
                <a:latin typeface="Times New Roman" pitchFamily="18" charset="0"/>
                <a:cs typeface="Times New Roman" pitchFamily="18" charset="0"/>
              </a:rPr>
              <a:t> Since Java has its own runtime environment (</a:t>
            </a:r>
            <a:r>
              <a:rPr lang="en-IN" sz="2400" b="1" dirty="0">
                <a:latin typeface="Times New Roman" pitchFamily="18" charset="0"/>
                <a:cs typeface="Times New Roman" pitchFamily="18" charset="0"/>
              </a:rPr>
              <a:t>JRE-Java Runtime Environment</a:t>
            </a:r>
            <a:r>
              <a:rPr lang="en-IN" sz="2400" dirty="0">
                <a:latin typeface="Times New Roman" pitchFamily="18" charset="0"/>
                <a:cs typeface="Times New Roman" pitchFamily="18" charset="0"/>
              </a:rPr>
              <a:t>) and API, it is called platform.</a:t>
            </a:r>
          </a:p>
          <a:p>
            <a:endParaRPr lang="en-IN" sz="2400" b="1" dirty="0">
              <a:latin typeface="Times New Roman" pitchFamily="18" charset="0"/>
              <a:cs typeface="Times New Roman" pitchFamily="18" charset="0"/>
            </a:endParaRPr>
          </a:p>
          <a:p>
            <a:r>
              <a:rPr lang="en-IN" sz="2400" b="1" dirty="0">
                <a:latin typeface="Times New Roman" pitchFamily="18" charset="0"/>
                <a:cs typeface="Times New Roman" pitchFamily="18" charset="0"/>
              </a:rPr>
              <a:t> The Java platform has two components </a:t>
            </a:r>
            <a:r>
              <a:rPr lang="en-IN"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API </a:t>
            </a:r>
            <a:r>
              <a:rPr lang="en-IN" sz="2400" dirty="0">
                <a:latin typeface="Times New Roman" pitchFamily="18" charset="0"/>
                <a:cs typeface="Times New Roman" pitchFamily="18" charset="0"/>
              </a:rPr>
              <a:t>and </a:t>
            </a:r>
            <a:r>
              <a:rPr lang="en-IN" sz="2400" b="1" dirty="0">
                <a:latin typeface="Times New Roman" pitchFamily="18" charset="0"/>
                <a:cs typeface="Times New Roman" pitchFamily="18" charset="0"/>
              </a:rPr>
              <a:t>Java Virtual Machine</a:t>
            </a:r>
          </a:p>
          <a:p>
            <a:r>
              <a:rPr lang="en-IN" sz="2400" b="1" u="sng" dirty="0">
                <a:latin typeface="Times New Roman" pitchFamily="18" charset="0"/>
                <a:cs typeface="Times New Roman" pitchFamily="18" charset="0"/>
              </a:rPr>
              <a:t>The Java Virtual Machine :</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It is </a:t>
            </a:r>
            <a:r>
              <a:rPr lang="en-IN" sz="2400" dirty="0">
                <a:solidFill>
                  <a:srgbClr val="FF0000"/>
                </a:solidFill>
                <a:latin typeface="Times New Roman" pitchFamily="18" charset="0"/>
                <a:cs typeface="Times New Roman" pitchFamily="18" charset="0"/>
              </a:rPr>
              <a:t>an abstract machine </a:t>
            </a:r>
            <a:r>
              <a:rPr lang="en-IN" sz="2400" dirty="0">
                <a:latin typeface="Times New Roman" pitchFamily="18" charset="0"/>
                <a:cs typeface="Times New Roman" pitchFamily="18" charset="0"/>
              </a:rPr>
              <a:t>and it is the base for the </a:t>
            </a:r>
            <a:r>
              <a:rPr lang="en-IN" sz="2400" dirty="0">
                <a:solidFill>
                  <a:srgbClr val="FF0000"/>
                </a:solidFill>
                <a:latin typeface="Times New Roman" pitchFamily="18" charset="0"/>
                <a:cs typeface="Times New Roman" pitchFamily="18" charset="0"/>
              </a:rPr>
              <a:t>Java platform </a:t>
            </a:r>
            <a:r>
              <a:rPr lang="en-IN" sz="2400" dirty="0">
                <a:latin typeface="Times New Roman" pitchFamily="18" charset="0"/>
                <a:cs typeface="Times New Roman" pitchFamily="18" charset="0"/>
              </a:rPr>
              <a:t>and is ported onto various hardware- based platforms.</a:t>
            </a:r>
          </a:p>
          <a:p>
            <a:r>
              <a:rPr lang="en-IN" sz="2400" b="1" u="sng" dirty="0">
                <a:latin typeface="Times New Roman" pitchFamily="18" charset="0"/>
                <a:cs typeface="Times New Roman" pitchFamily="18" charset="0"/>
              </a:rPr>
              <a:t>The Java Application Programming Interface (API) :</a:t>
            </a:r>
            <a:endParaRPr lang="en-IN"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API is a large collection of ready-made </a:t>
            </a:r>
            <a:r>
              <a:rPr lang="en-US" sz="2400" dirty="0">
                <a:solidFill>
                  <a:srgbClr val="FF0000"/>
                </a:solidFill>
                <a:latin typeface="Times New Roman" pitchFamily="18" charset="0"/>
                <a:cs typeface="Times New Roman" pitchFamily="18" charset="0"/>
              </a:rPr>
              <a:t>software components that provide many useful capabilities</a:t>
            </a:r>
            <a:r>
              <a:rPr lang="en-US" sz="2400" dirty="0">
                <a:latin typeface="Times New Roman" pitchFamily="18" charset="0"/>
                <a:cs typeface="Times New Roman" pitchFamily="18" charset="0"/>
              </a:rPr>
              <a:t>. It is grouped into </a:t>
            </a:r>
            <a:r>
              <a:rPr lang="en-US" sz="2400" dirty="0">
                <a:solidFill>
                  <a:srgbClr val="FF0000"/>
                </a:solidFill>
                <a:latin typeface="Times New Roman" pitchFamily="18" charset="0"/>
                <a:cs typeface="Times New Roman" pitchFamily="18" charset="0"/>
              </a:rPr>
              <a:t>libraries of related classes and interfaces</a:t>
            </a:r>
            <a:r>
              <a:rPr lang="en-US" sz="2400" dirty="0">
                <a:latin typeface="Times New Roman" pitchFamily="18" charset="0"/>
                <a:cs typeface="Times New Roman" pitchFamily="18" charset="0"/>
              </a:rPr>
              <a:t>; these libraries are known as </a:t>
            </a:r>
            <a:r>
              <a:rPr lang="en-US" sz="2400" dirty="0">
                <a:solidFill>
                  <a:srgbClr val="FF0000"/>
                </a:solidFill>
                <a:latin typeface="Times New Roman" pitchFamily="18" charset="0"/>
                <a:cs typeface="Times New Roman" pitchFamily="18" charset="0"/>
              </a:rPr>
              <a:t>packages</a:t>
            </a: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a:p>
            <a:br>
              <a:rPr lang="en-IN" dirty="0"/>
            </a:b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0988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95400" y="2477564"/>
            <a:ext cx="10515600" cy="4351338"/>
          </a:xfrm>
        </p:spPr>
        <p:txBody>
          <a:bodyPr/>
          <a:lstStyle/>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Java was originally developed to develop a language for digital devices such as set-top boxes and consumer electronic devices such as microwave ovens and remote controls.</a:t>
            </a:r>
          </a:p>
          <a:p>
            <a:r>
              <a:rPr lang="en-IN" dirty="0">
                <a:latin typeface="Times New Roman" pitchFamily="18" charset="0"/>
                <a:cs typeface="Times New Roman" pitchFamily="18" charset="0"/>
              </a:rPr>
              <a:t>Java was developed by </a:t>
            </a:r>
            <a:r>
              <a:rPr lang="en-IN" b="1" dirty="0">
                <a:latin typeface="Times New Roman" pitchFamily="18" charset="0"/>
                <a:cs typeface="Times New Roman" pitchFamily="18" charset="0"/>
              </a:rPr>
              <a:t>James Gosling</a:t>
            </a:r>
            <a:r>
              <a:rPr lang="en-IN" dirty="0">
                <a:latin typeface="Times New Roman" pitchFamily="18" charset="0"/>
                <a:cs typeface="Times New Roman" pitchFamily="18" charset="0"/>
              </a:rPr>
              <a:t>, Patrick Naughton, Mike Sheridan at </a:t>
            </a:r>
            <a:r>
              <a:rPr lang="en-IN" i="1" dirty="0">
                <a:latin typeface="Times New Roman" pitchFamily="18" charset="0"/>
                <a:cs typeface="Times New Roman" pitchFamily="18" charset="0"/>
              </a:rPr>
              <a:t>Sun Microsystems Inc. </a:t>
            </a:r>
            <a:r>
              <a:rPr lang="en-IN" dirty="0">
                <a:latin typeface="Times New Roman" pitchFamily="18" charset="0"/>
                <a:cs typeface="Times New Roman" pitchFamily="18" charset="0"/>
              </a:rPr>
              <a:t>in 1991. It took 18 months to develop the first working version.</a:t>
            </a:r>
          </a:p>
          <a:p>
            <a:r>
              <a:rPr lang="en-IN" dirty="0">
                <a:latin typeface="Times New Roman" pitchFamily="18" charset="0"/>
                <a:cs typeface="Times New Roman" pitchFamily="18" charset="0"/>
              </a:rPr>
              <a:t>The initial name was </a:t>
            </a:r>
            <a:r>
              <a:rPr lang="en-IN" b="1" dirty="0">
                <a:latin typeface="Times New Roman" pitchFamily="18" charset="0"/>
                <a:cs typeface="Times New Roman" pitchFamily="18" charset="0"/>
              </a:rPr>
              <a:t>Oak </a:t>
            </a:r>
            <a:r>
              <a:rPr lang="en-IN" dirty="0">
                <a:latin typeface="Times New Roman" pitchFamily="18" charset="0"/>
                <a:cs typeface="Times New Roman" pitchFamily="18" charset="0"/>
              </a:rPr>
              <a:t>but it was renamed to </a:t>
            </a:r>
            <a:r>
              <a:rPr lang="en-IN" b="1" dirty="0">
                <a:latin typeface="Times New Roman" pitchFamily="18" charset="0"/>
                <a:cs typeface="Times New Roman" pitchFamily="18" charset="0"/>
              </a:rPr>
              <a:t>Java </a:t>
            </a:r>
            <a:r>
              <a:rPr lang="en-IN" dirty="0">
                <a:latin typeface="Times New Roman" pitchFamily="18" charset="0"/>
                <a:cs typeface="Times New Roman" pitchFamily="18" charset="0"/>
              </a:rPr>
              <a:t>in 1995.</a:t>
            </a:r>
          </a:p>
          <a:p>
            <a:endParaRPr lang="en-IN" dirty="0"/>
          </a:p>
        </p:txBody>
      </p:sp>
      <p:pic>
        <p:nvPicPr>
          <p:cNvPr id="4" name="Image 5"/>
          <p:cNvPicPr/>
          <p:nvPr/>
        </p:nvPicPr>
        <p:blipFill>
          <a:blip r:embed="rId2" cstate="print">
            <a:extLst>
              <a:ext uri="{BEBA8EAE-BF5A-486C-A8C5-ECC9F3942E4B}">
                <a14:imgProps xmlns:a14="http://schemas.microsoft.com/office/drawing/2010/main">
                  <a14:imgLayer r:embed="rId3">
                    <a14:imgEffect>
                      <a14:brightnessContrast contrast="-28000"/>
                    </a14:imgEffect>
                  </a14:imgLayer>
                </a14:imgProps>
              </a:ext>
            </a:extLst>
          </a:blip>
          <a:stretch>
            <a:fillRect/>
          </a:stretch>
        </p:blipFill>
        <p:spPr>
          <a:xfrm>
            <a:off x="2279576" y="404664"/>
            <a:ext cx="5904656" cy="3096344"/>
          </a:xfrm>
          <a:prstGeom prst="rect">
            <a:avLst/>
          </a:prstGeom>
        </p:spPr>
      </p:pic>
    </p:spTree>
    <p:extLst>
      <p:ext uri="{BB962C8B-B14F-4D97-AF65-F5344CB8AC3E}">
        <p14:creationId xmlns:p14="http://schemas.microsoft.com/office/powerpoint/2010/main" val="2660731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360" y="404664"/>
            <a:ext cx="11665296" cy="2769989"/>
          </a:xfrm>
          <a:prstGeom prst="rect">
            <a:avLst/>
          </a:prstGeom>
        </p:spPr>
        <p:txBody>
          <a:bodyPr wrap="square">
            <a:spAutoFit/>
          </a:bodyPr>
          <a:lstStyle/>
          <a:p>
            <a:r>
              <a:rPr lang="en-IN" sz="2800" b="1" dirty="0">
                <a:latin typeface="Times New Roman" pitchFamily="18" charset="0"/>
                <a:cs typeface="Times New Roman" pitchFamily="18" charset="0"/>
              </a:rPr>
              <a:t>Platform Independence or Architecture Neutral or Portable:</a:t>
            </a:r>
            <a:endParaRPr lang="en-IN" sz="2800" dirty="0">
              <a:latin typeface="Times New Roman" pitchFamily="18" charset="0"/>
              <a:cs typeface="Times New Roman" pitchFamily="18" charset="0"/>
            </a:endParaRPr>
          </a:p>
          <a:p>
            <a:r>
              <a:rPr lang="en-IN" sz="2800" b="1" dirty="0">
                <a:latin typeface="Times New Roman" pitchFamily="18" charset="0"/>
                <a:cs typeface="Times New Roman" pitchFamily="18" charset="0"/>
              </a:rPr>
              <a:t>(Write Once, Run Anywhere)</a:t>
            </a:r>
            <a:endParaRPr lang="en-IN" sz="2800" dirty="0">
              <a:latin typeface="Times New Roman" pitchFamily="18" charset="0"/>
              <a:cs typeface="Times New Roman" pitchFamily="18" charset="0"/>
            </a:endParaRPr>
          </a:p>
          <a:p>
            <a:r>
              <a:rPr lang="en-US" sz="2000" b="1"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Java is a Platform Independent language. Java sometimes called as </a:t>
            </a:r>
            <a:r>
              <a:rPr lang="en-US" sz="2800" b="1" i="1" dirty="0">
                <a:latin typeface="Times New Roman" pitchFamily="18" charset="0"/>
                <a:cs typeface="Times New Roman" pitchFamily="18" charset="0"/>
              </a:rPr>
              <a:t>“Write Once, Run Anywhere (WORA)” </a:t>
            </a:r>
            <a:r>
              <a:rPr lang="en-US" sz="2800" dirty="0">
                <a:latin typeface="Times New Roman" pitchFamily="18" charset="0"/>
                <a:cs typeface="Times New Roman" pitchFamily="18" charset="0"/>
              </a:rPr>
              <a:t>language.</a:t>
            </a:r>
            <a:endParaRPr lang="en-IN" sz="28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Java achieves platform independence through </a:t>
            </a:r>
            <a:r>
              <a:rPr lang="en-US" sz="2800" b="1" i="1" dirty="0" err="1">
                <a:solidFill>
                  <a:srgbClr val="FF0000"/>
                </a:solidFill>
                <a:latin typeface="Times New Roman" pitchFamily="18" charset="0"/>
                <a:cs typeface="Times New Roman" pitchFamily="18" charset="0"/>
              </a:rPr>
              <a:t>bytecode</a:t>
            </a:r>
            <a:r>
              <a:rPr lang="en-US" sz="2800" b="1" i="1" dirty="0">
                <a:solidFill>
                  <a:srgbClr val="FF0000"/>
                </a:solidFill>
                <a:latin typeface="Times New Roman" pitchFamily="18" charset="0"/>
                <a:cs typeface="Times New Roman" pitchFamily="18" charset="0"/>
              </a:rPr>
              <a:t> </a:t>
            </a:r>
            <a:r>
              <a:rPr lang="en-US" sz="2800" dirty="0">
                <a:solidFill>
                  <a:srgbClr val="FF0000"/>
                </a:solidFill>
                <a:latin typeface="Times New Roman" pitchFamily="18" charset="0"/>
                <a:cs typeface="Times New Roman" pitchFamily="18" charset="0"/>
              </a:rPr>
              <a:t>and </a:t>
            </a:r>
            <a:r>
              <a:rPr lang="en-US" sz="2800" b="1" i="1" dirty="0">
                <a:solidFill>
                  <a:srgbClr val="FF0000"/>
                </a:solidFill>
                <a:latin typeface="Times New Roman" pitchFamily="18" charset="0"/>
                <a:cs typeface="Times New Roman" pitchFamily="18" charset="0"/>
              </a:rPr>
              <a:t>JVM</a:t>
            </a:r>
            <a:r>
              <a:rPr lang="en-US" sz="2800" dirty="0">
                <a:latin typeface="Times New Roman" pitchFamily="18" charset="0"/>
                <a:cs typeface="Times New Roman" pitchFamily="18" charset="0"/>
              </a:rPr>
              <a:t>.</a:t>
            </a:r>
          </a:p>
          <a:p>
            <a:pPr lvl="0"/>
            <a:endParaRPr lang="en-IN" dirty="0"/>
          </a:p>
        </p:txBody>
      </p:sp>
      <p:pic>
        <p:nvPicPr>
          <p:cNvPr id="4" name="Image 7"/>
          <p:cNvPicPr/>
          <p:nvPr/>
        </p:nvPicPr>
        <p:blipFill>
          <a:blip r:embed="rId2" cstate="print"/>
          <a:stretch>
            <a:fillRect/>
          </a:stretch>
        </p:blipFill>
        <p:spPr>
          <a:xfrm>
            <a:off x="1127448" y="2852936"/>
            <a:ext cx="8712968" cy="2160240"/>
          </a:xfrm>
          <a:prstGeom prst="rect">
            <a:avLst/>
          </a:prstGeom>
        </p:spPr>
      </p:pic>
    </p:spTree>
    <p:extLst>
      <p:ext uri="{BB962C8B-B14F-4D97-AF65-F5344CB8AC3E}">
        <p14:creationId xmlns:p14="http://schemas.microsoft.com/office/powerpoint/2010/main" val="884177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Image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34391"/>
            <a:ext cx="3622576" cy="30236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9"/>
          <p:cNvSpPr txBox="1">
            <a:spLocks/>
          </p:cNvSpPr>
          <p:nvPr/>
        </p:nvSpPr>
        <p:spPr>
          <a:xfrm>
            <a:off x="4583832" y="3829808"/>
            <a:ext cx="7272808" cy="2922905"/>
          </a:xfrm>
          <a:prstGeom prst="rect">
            <a:avLst/>
          </a:prstGeom>
          <a:ln w="9525">
            <a:solidFill>
              <a:srgbClr val="000000"/>
            </a:solidFill>
            <a:prstDash val="solid"/>
          </a:ln>
        </p:spPr>
        <p:txBody>
          <a:bodyPr wrap="square" lIns="0" tIns="0" rIns="0" bIns="0" rtlCol="0">
            <a:noAutofit/>
          </a:bodyPr>
          <a:lstStyle/>
          <a:p>
            <a:pPr marL="91440">
              <a:lnSpc>
                <a:spcPct val="115000"/>
              </a:lnSpc>
              <a:spcBef>
                <a:spcPts val="360"/>
              </a:spcBef>
              <a:spcAft>
                <a:spcPts val="1000"/>
              </a:spcAft>
            </a:pPr>
            <a:r>
              <a:rPr lang="en-IN" sz="2000" b="1" u="heavy" spc="-10" dirty="0" err="1">
                <a:effectLst/>
                <a:latin typeface="Times New Roman" pitchFamily="18" charset="0"/>
                <a:ea typeface="Calibri"/>
                <a:cs typeface="Times New Roman" pitchFamily="18" charset="0"/>
              </a:rPr>
              <a:t>Bytecode</a:t>
            </a:r>
            <a:r>
              <a:rPr lang="en-IN" sz="2000" b="1" u="heavy" spc="-10" dirty="0">
                <a:effectLst/>
                <a:latin typeface="Times New Roman" pitchFamily="18" charset="0"/>
                <a:ea typeface="Calibri"/>
                <a:cs typeface="Times New Roman" pitchFamily="18" charset="0"/>
              </a:rPr>
              <a:t>:</a:t>
            </a:r>
            <a:endParaRPr lang="en-IN" sz="2000" dirty="0">
              <a:effectLst/>
              <a:latin typeface="Times New Roman" pitchFamily="18" charset="0"/>
              <a:ea typeface="Calibri"/>
              <a:cs typeface="Times New Roman" pitchFamily="18" charset="0"/>
            </a:endParaRPr>
          </a:p>
          <a:p>
            <a:pPr marL="91440" marR="105410" algn="just">
              <a:lnSpc>
                <a:spcPct val="115000"/>
              </a:lnSpc>
              <a:spcBef>
                <a:spcPts val="1190"/>
              </a:spcBef>
              <a:spcAft>
                <a:spcPts val="1000"/>
              </a:spcAft>
            </a:pPr>
            <a:r>
              <a:rPr lang="en-IN" sz="1800" b="1" i="1" dirty="0" err="1">
                <a:effectLst/>
                <a:latin typeface="Times New Roman" pitchFamily="18" charset="0"/>
                <a:ea typeface="Calibri"/>
                <a:cs typeface="Times New Roman" pitchFamily="18" charset="0"/>
              </a:rPr>
              <a:t>Bytecode</a:t>
            </a:r>
            <a:r>
              <a:rPr lang="en-IN" sz="1800" b="1" i="1" dirty="0">
                <a:effectLst/>
                <a:latin typeface="Times New Roman" pitchFamily="18" charset="0"/>
                <a:ea typeface="Calibri"/>
                <a:cs typeface="Times New Roman" pitchFamily="18" charset="0"/>
              </a:rPr>
              <a:t> </a:t>
            </a:r>
            <a:r>
              <a:rPr lang="en-IN" sz="1800" i="1" dirty="0">
                <a:effectLst/>
                <a:latin typeface="Times New Roman" pitchFamily="18" charset="0"/>
                <a:ea typeface="Calibri"/>
                <a:cs typeface="Times New Roman" pitchFamily="18" charset="0"/>
              </a:rPr>
              <a:t>is a highly optimized set of instructions designed to be executed by the Java run-time system, which is called</a:t>
            </a:r>
            <a:r>
              <a:rPr lang="en-IN" sz="1800" i="1" spc="-25" dirty="0">
                <a:effectLst/>
                <a:latin typeface="Times New Roman" pitchFamily="18" charset="0"/>
                <a:ea typeface="Calibri"/>
                <a:cs typeface="Times New Roman" pitchFamily="18" charset="0"/>
              </a:rPr>
              <a:t> </a:t>
            </a:r>
            <a:r>
              <a:rPr lang="en-IN" sz="1800" i="1" dirty="0">
                <a:effectLst/>
                <a:latin typeface="Times New Roman" pitchFamily="18" charset="0"/>
                <a:ea typeface="Calibri"/>
                <a:cs typeface="Times New Roman" pitchFamily="18" charset="0"/>
              </a:rPr>
              <a:t>the</a:t>
            </a:r>
            <a:r>
              <a:rPr lang="en-IN" sz="1800" i="1" spc="-20" dirty="0">
                <a:effectLst/>
                <a:latin typeface="Times New Roman" pitchFamily="18" charset="0"/>
                <a:ea typeface="Calibri"/>
                <a:cs typeface="Times New Roman" pitchFamily="18" charset="0"/>
              </a:rPr>
              <a:t> </a:t>
            </a:r>
            <a:r>
              <a:rPr lang="en-IN" sz="1800" i="1" dirty="0">
                <a:effectLst/>
                <a:latin typeface="Times New Roman" pitchFamily="18" charset="0"/>
                <a:ea typeface="Calibri"/>
                <a:cs typeface="Times New Roman" pitchFamily="18" charset="0"/>
              </a:rPr>
              <a:t>Java</a:t>
            </a:r>
            <a:r>
              <a:rPr lang="en-IN" sz="1800" i="1" spc="-25" dirty="0">
                <a:effectLst/>
                <a:latin typeface="Times New Roman" pitchFamily="18" charset="0"/>
                <a:ea typeface="Calibri"/>
                <a:cs typeface="Times New Roman" pitchFamily="18" charset="0"/>
              </a:rPr>
              <a:t> </a:t>
            </a:r>
            <a:r>
              <a:rPr lang="en-IN" sz="1800" i="1" dirty="0">
                <a:effectLst/>
                <a:latin typeface="Times New Roman" pitchFamily="18" charset="0"/>
                <a:ea typeface="Calibri"/>
                <a:cs typeface="Times New Roman" pitchFamily="18" charset="0"/>
              </a:rPr>
              <a:t>Virtual</a:t>
            </a:r>
            <a:r>
              <a:rPr lang="en-IN" sz="1800" i="1" spc="-20" dirty="0">
                <a:effectLst/>
                <a:latin typeface="Times New Roman" pitchFamily="18" charset="0"/>
                <a:ea typeface="Calibri"/>
                <a:cs typeface="Times New Roman" pitchFamily="18" charset="0"/>
              </a:rPr>
              <a:t> </a:t>
            </a:r>
            <a:r>
              <a:rPr lang="en-IN" sz="1800" i="1" dirty="0">
                <a:effectLst/>
                <a:latin typeface="Times New Roman" pitchFamily="18" charset="0"/>
                <a:ea typeface="Calibri"/>
                <a:cs typeface="Times New Roman" pitchFamily="18" charset="0"/>
              </a:rPr>
              <a:t>Machine</a:t>
            </a:r>
            <a:r>
              <a:rPr lang="en-IN" sz="1800" i="1" spc="-20" dirty="0">
                <a:effectLst/>
                <a:latin typeface="Times New Roman" pitchFamily="18" charset="0"/>
                <a:ea typeface="Calibri"/>
                <a:cs typeface="Times New Roman" pitchFamily="18" charset="0"/>
              </a:rPr>
              <a:t> </a:t>
            </a:r>
            <a:r>
              <a:rPr lang="en-IN" sz="1800" i="1" spc="-10" dirty="0">
                <a:effectLst/>
                <a:latin typeface="Times New Roman" pitchFamily="18" charset="0"/>
                <a:ea typeface="Calibri"/>
                <a:cs typeface="Times New Roman" pitchFamily="18" charset="0"/>
              </a:rPr>
              <a:t>(JVM)</a:t>
            </a:r>
            <a:r>
              <a:rPr lang="en-IN" sz="1800" spc="-10" dirty="0">
                <a:effectLst/>
                <a:latin typeface="Times New Roman" pitchFamily="18" charset="0"/>
                <a:ea typeface="Calibri"/>
                <a:cs typeface="Times New Roman" pitchFamily="18" charset="0"/>
              </a:rPr>
              <a:t>.</a:t>
            </a:r>
            <a:endParaRPr lang="en-IN" sz="1800" dirty="0">
              <a:effectLst/>
              <a:latin typeface="Times New Roman" pitchFamily="18" charset="0"/>
              <a:ea typeface="Calibri"/>
              <a:cs typeface="Times New Roman" pitchFamily="18" charset="0"/>
            </a:endParaRPr>
          </a:p>
          <a:p>
            <a:pPr marL="91440" marR="163830" algn="just">
              <a:lnSpc>
                <a:spcPct val="115000"/>
              </a:lnSpc>
              <a:spcBef>
                <a:spcPts val="5"/>
              </a:spcBef>
              <a:spcAft>
                <a:spcPts val="1000"/>
              </a:spcAft>
            </a:pPr>
            <a:r>
              <a:rPr lang="en-IN" sz="1800" b="1" dirty="0">
                <a:effectLst/>
                <a:latin typeface="Times New Roman" pitchFamily="18" charset="0"/>
                <a:ea typeface="Calibri"/>
                <a:cs typeface="Times New Roman" pitchFamily="18" charset="0"/>
              </a:rPr>
              <a:t>Java is platform independent but JVM is platform dependent:</a:t>
            </a:r>
            <a:endParaRPr lang="en-IN" sz="1800" dirty="0">
              <a:effectLst/>
              <a:latin typeface="Times New Roman" pitchFamily="18" charset="0"/>
              <a:ea typeface="Calibri"/>
              <a:cs typeface="Times New Roman" pitchFamily="18" charset="0"/>
            </a:endParaRPr>
          </a:p>
          <a:p>
            <a:pPr marL="91440">
              <a:lnSpc>
                <a:spcPct val="115000"/>
              </a:lnSpc>
              <a:spcBef>
                <a:spcPts val="975"/>
              </a:spcBef>
              <a:spcAft>
                <a:spcPts val="1000"/>
              </a:spcAft>
            </a:pPr>
            <a:r>
              <a:rPr lang="en-IN" sz="1800" dirty="0">
                <a:effectLst/>
                <a:latin typeface="Times New Roman" pitchFamily="18" charset="0"/>
                <a:ea typeface="Calibri"/>
                <a:cs typeface="Times New Roman" pitchFamily="18" charset="0"/>
              </a:rPr>
              <a:t>JVM</a:t>
            </a:r>
            <a:r>
              <a:rPr lang="en-IN" sz="1800" spc="-55" dirty="0">
                <a:effectLst/>
                <a:latin typeface="Times New Roman" pitchFamily="18" charset="0"/>
                <a:ea typeface="Calibri"/>
                <a:cs typeface="Times New Roman" pitchFamily="18" charset="0"/>
              </a:rPr>
              <a:t> </a:t>
            </a:r>
            <a:r>
              <a:rPr lang="en-IN" sz="1800" dirty="0">
                <a:effectLst/>
                <a:latin typeface="Times New Roman" pitchFamily="18" charset="0"/>
                <a:ea typeface="Calibri"/>
                <a:cs typeface="Times New Roman" pitchFamily="18" charset="0"/>
              </a:rPr>
              <a:t>is</a:t>
            </a:r>
            <a:r>
              <a:rPr lang="en-IN" sz="1800" spc="-55" dirty="0">
                <a:effectLst/>
                <a:latin typeface="Times New Roman" pitchFamily="18" charset="0"/>
                <a:ea typeface="Calibri"/>
                <a:cs typeface="Times New Roman" pitchFamily="18" charset="0"/>
              </a:rPr>
              <a:t> </a:t>
            </a:r>
            <a:r>
              <a:rPr lang="en-IN" sz="1800" dirty="0">
                <a:effectLst/>
                <a:latin typeface="Times New Roman" pitchFamily="18" charset="0"/>
                <a:ea typeface="Calibri"/>
                <a:cs typeface="Times New Roman" pitchFamily="18" charset="0"/>
              </a:rPr>
              <a:t>platform</a:t>
            </a:r>
            <a:r>
              <a:rPr lang="en-IN" sz="1800" spc="-55" dirty="0">
                <a:effectLst/>
                <a:latin typeface="Times New Roman" pitchFamily="18" charset="0"/>
                <a:ea typeface="Calibri"/>
                <a:cs typeface="Times New Roman" pitchFamily="18" charset="0"/>
              </a:rPr>
              <a:t> </a:t>
            </a:r>
            <a:r>
              <a:rPr lang="en-IN" sz="1800" dirty="0">
                <a:effectLst/>
                <a:latin typeface="Times New Roman" pitchFamily="18" charset="0"/>
                <a:ea typeface="Calibri"/>
                <a:cs typeface="Times New Roman" pitchFamily="18" charset="0"/>
              </a:rPr>
              <a:t>independent</a:t>
            </a:r>
            <a:r>
              <a:rPr lang="en-IN" sz="1800" spc="-50" dirty="0">
                <a:effectLst/>
                <a:latin typeface="Times New Roman" pitchFamily="18" charset="0"/>
                <a:ea typeface="Calibri"/>
                <a:cs typeface="Times New Roman" pitchFamily="18" charset="0"/>
              </a:rPr>
              <a:t> </a:t>
            </a:r>
            <a:r>
              <a:rPr lang="en-IN" sz="1800" dirty="0">
                <a:effectLst/>
                <a:latin typeface="Times New Roman" pitchFamily="18" charset="0"/>
                <a:ea typeface="Calibri"/>
                <a:cs typeface="Times New Roman" pitchFamily="18" charset="0"/>
              </a:rPr>
              <a:t>because JVM is designed to each platform </a:t>
            </a:r>
            <a:r>
              <a:rPr lang="en-IN" sz="1800" spc="-10" dirty="0">
                <a:effectLst/>
                <a:latin typeface="Times New Roman" pitchFamily="18" charset="0"/>
                <a:ea typeface="Calibri"/>
                <a:cs typeface="Times New Roman" pitchFamily="18" charset="0"/>
              </a:rPr>
              <a:t>separately.</a:t>
            </a:r>
            <a:endParaRPr lang="en-IN" sz="1800" dirty="0">
              <a:effectLst/>
              <a:latin typeface="Times New Roman" pitchFamily="18" charset="0"/>
              <a:ea typeface="Calibri"/>
              <a:cs typeface="Times New Roman" pitchFamily="18" charset="0"/>
            </a:endParaRPr>
          </a:p>
        </p:txBody>
      </p:sp>
      <p:sp>
        <p:nvSpPr>
          <p:cNvPr id="2" name="Rectangle 3"/>
          <p:cNvSpPr>
            <a:spLocks noChangeArrowheads="1"/>
          </p:cNvSpPr>
          <p:nvPr/>
        </p:nvSpPr>
        <p:spPr bwMode="auto">
          <a:xfrm>
            <a:off x="119336" y="-949263"/>
            <a:ext cx="12072664"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920750" algn="l"/>
                <a:tab pos="922338" algn="l"/>
              </a:tabLst>
            </a:pPr>
            <a:endParaRPr kumimoji="0" lang="en-US" sz="20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920750" algn="l"/>
                <a:tab pos="922338" algn="l"/>
              </a:tabLst>
            </a:pPr>
            <a:endParaRPr kumimoji="0" lang="en-US" sz="20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920750" algn="l"/>
                <a:tab pos="922338" algn="l"/>
              </a:tabLst>
            </a:pPr>
            <a:endParaRPr lang="en-US" sz="2000" b="1" u="sng" dirty="0">
              <a:solidFill>
                <a:schemeClr val="tx1"/>
              </a:solidFill>
              <a:latin typeface="Times New Roman" pitchFamily="18"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920750" algn="l"/>
                <a:tab pos="922338" algn="l"/>
              </a:tabLst>
            </a:pPr>
            <a:endParaRPr kumimoji="0" lang="en-US" sz="20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920750" algn="l"/>
                <a:tab pos="922338" algn="l"/>
              </a:tabLst>
            </a:pPr>
            <a:r>
              <a:rPr kumimoji="0" lang="en-US" sz="28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rPr>
              <a:t>Java Program Execution:</a:t>
            </a:r>
            <a:endParaRPr kumimoji="0" lang="en-US" sz="28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20750" algn="l"/>
                <a:tab pos="922338" algn="l"/>
              </a:tabLst>
            </a:pP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In the Java programming language, all source code is first written in </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plain text files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ending with the </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.java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extension.</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20750" algn="l"/>
                <a:tab pos="922338" algn="l"/>
              </a:tabLst>
            </a:pP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Those source files are then </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compiled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into </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.class files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by the </a:t>
            </a:r>
            <a:r>
              <a:rPr kumimoji="0" lang="en-US" sz="2400" b="1" i="0" u="none" strike="noStrike" cap="none" normalizeH="0" baseline="0" dirty="0" err="1">
                <a:ln>
                  <a:noFill/>
                </a:ln>
                <a:solidFill>
                  <a:schemeClr val="tx1"/>
                </a:solidFill>
                <a:effectLst/>
                <a:latin typeface="Times New Roman" pitchFamily="18" charset="0"/>
                <a:ea typeface="Arial MT"/>
                <a:cs typeface="Times New Roman" pitchFamily="18" charset="0"/>
              </a:rPr>
              <a:t>javac</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compiler.</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20750" algn="l"/>
                <a:tab pos="922338" algn="l"/>
              </a:tabLst>
            </a:pP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A </a:t>
            </a:r>
            <a:r>
              <a:rPr kumimoji="0" lang="en-US" sz="2400" b="1" i="1" u="none" strike="noStrike" cap="none" normalizeH="0" baseline="0" dirty="0">
                <a:ln>
                  <a:noFill/>
                </a:ln>
                <a:solidFill>
                  <a:schemeClr val="tx1"/>
                </a:solidFill>
                <a:effectLst/>
                <a:latin typeface="Times New Roman" pitchFamily="18" charset="0"/>
                <a:ea typeface="Arial MT"/>
                <a:cs typeface="Times New Roman" pitchFamily="18" charset="0"/>
              </a:rPr>
              <a:t>.class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file does not contain code that is native to your processor; it instead contains </a:t>
            </a:r>
            <a:r>
              <a:rPr kumimoji="0" lang="en-US" sz="2400" b="1" i="1" u="none" strike="noStrike" cap="none" normalizeH="0" baseline="0" dirty="0" err="1">
                <a:ln>
                  <a:noFill/>
                </a:ln>
                <a:solidFill>
                  <a:srgbClr val="FF0000"/>
                </a:solidFill>
                <a:effectLst/>
                <a:latin typeface="Times New Roman" pitchFamily="18" charset="0"/>
                <a:ea typeface="Arial MT"/>
                <a:cs typeface="Times New Roman" pitchFamily="18" charset="0"/>
              </a:rPr>
              <a:t>bytecodes</a:t>
            </a:r>
            <a:r>
              <a:rPr kumimoji="0" lang="en-US" sz="2400" b="1" i="1" u="none" strike="noStrike" cap="none" normalizeH="0" baseline="0" dirty="0">
                <a:ln>
                  <a:noFill/>
                </a:ln>
                <a:solidFill>
                  <a:srgbClr val="FF0000"/>
                </a:solidFill>
                <a:effectLst/>
                <a:latin typeface="Times New Roman" pitchFamily="18" charset="0"/>
                <a:ea typeface="Arial MT"/>
                <a:cs typeface="Times New Roman" pitchFamily="18" charset="0"/>
              </a:rPr>
              <a:t>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 the </a:t>
            </a:r>
            <a:r>
              <a:rPr kumimoji="0" lang="en-US" sz="2400" b="0" i="0" u="none" strike="noStrike" cap="none" normalizeH="0" baseline="0" dirty="0">
                <a:ln>
                  <a:noFill/>
                </a:ln>
                <a:solidFill>
                  <a:srgbClr val="FF0000"/>
                </a:solidFill>
                <a:effectLst/>
                <a:latin typeface="Times New Roman" pitchFamily="18" charset="0"/>
                <a:ea typeface="Arial MT"/>
                <a:cs typeface="Times New Roman" pitchFamily="18" charset="0"/>
              </a:rPr>
              <a:t>machine language </a:t>
            </a:r>
            <a:r>
              <a:rPr kumimoji="0" lang="en-US" sz="2400" b="0" i="0" u="none" strike="noStrike" cap="none" normalizeH="0" baseline="0" dirty="0">
                <a:ln>
                  <a:noFill/>
                </a:ln>
                <a:solidFill>
                  <a:schemeClr val="tx1"/>
                </a:solidFill>
                <a:effectLst/>
                <a:latin typeface="Times New Roman" pitchFamily="18" charset="0"/>
                <a:ea typeface="Arial MT"/>
                <a:cs typeface="Times New Roman" pitchFamily="18" charset="0"/>
              </a:rPr>
              <a:t>of the </a:t>
            </a:r>
            <a:r>
              <a:rPr kumimoji="0" lang="en-US" sz="2400" b="1" i="0" u="none" strike="noStrike" cap="none" normalizeH="0" baseline="0" dirty="0">
                <a:ln>
                  <a:noFill/>
                </a:ln>
                <a:solidFill>
                  <a:schemeClr val="tx1"/>
                </a:solidFill>
                <a:effectLst/>
                <a:latin typeface="Times New Roman" pitchFamily="18" charset="0"/>
                <a:ea typeface="Arial MT"/>
                <a:cs typeface="Times New Roman" pitchFamily="18" charset="0"/>
              </a:rPr>
              <a:t>Java Virtual Machine (Java VM).</a:t>
            </a:r>
          </a:p>
          <a:p>
            <a:pPr lvl="0" eaLnBrk="0" fontAlgn="base" hangingPunct="0">
              <a:spcBef>
                <a:spcPct val="0"/>
              </a:spcBef>
              <a:spcAft>
                <a:spcPct val="0"/>
              </a:spcAft>
              <a:buClrTx/>
              <a:tabLst>
                <a:tab pos="920750" algn="l"/>
              </a:tabLst>
            </a:pPr>
            <a:r>
              <a:rPr lang="en-US" sz="2400" dirty="0">
                <a:solidFill>
                  <a:schemeClr val="tx1"/>
                </a:solidFill>
                <a:latin typeface="Times New Roman" pitchFamily="18" charset="0"/>
                <a:ea typeface="Arial MT"/>
                <a:cs typeface="Times New Roman" pitchFamily="18" charset="0"/>
              </a:rPr>
              <a:t>The </a:t>
            </a:r>
            <a:r>
              <a:rPr lang="en-US" sz="2400" b="1" dirty="0">
                <a:solidFill>
                  <a:schemeClr val="tx1"/>
                </a:solidFill>
                <a:latin typeface="Times New Roman" pitchFamily="18" charset="0"/>
                <a:ea typeface="Arial MT"/>
                <a:cs typeface="Times New Roman" pitchFamily="18" charset="0"/>
              </a:rPr>
              <a:t>java </a:t>
            </a:r>
            <a:r>
              <a:rPr lang="en-US" sz="2400" dirty="0">
                <a:solidFill>
                  <a:schemeClr val="tx1"/>
                </a:solidFill>
                <a:latin typeface="Times New Roman" pitchFamily="18" charset="0"/>
                <a:ea typeface="Arial MT"/>
                <a:cs typeface="Times New Roman" pitchFamily="18" charset="0"/>
              </a:rPr>
              <a:t>launcher tool then runs your application with an instance of the Java Virtual Machine.</a:t>
            </a:r>
            <a:endParaRPr lang="en-US" sz="2400" dirty="0">
              <a:solidFill>
                <a:schemeClr val="tx1"/>
              </a:solidFill>
              <a:latin typeface="Times New Roman" pitchFamily="18" charset="0"/>
              <a:cs typeface="Times New Roman" pitchFamily="18" charset="0"/>
            </a:endParaRPr>
          </a:p>
          <a:p>
            <a:pPr lvl="0" eaLnBrk="0" fontAlgn="base" hangingPunct="0">
              <a:spcBef>
                <a:spcPct val="0"/>
              </a:spcBef>
              <a:spcAft>
                <a:spcPct val="0"/>
              </a:spcAft>
              <a:buClrTx/>
              <a:buFontTx/>
              <a:buChar char="•"/>
              <a:tabLst>
                <a:tab pos="920750" algn="l"/>
              </a:tabLst>
            </a:pPr>
            <a:r>
              <a:rPr lang="en-US" sz="2400" b="1" dirty="0">
                <a:solidFill>
                  <a:schemeClr val="tx1"/>
                </a:solidFill>
                <a:latin typeface="Times New Roman" pitchFamily="18" charset="0"/>
                <a:ea typeface="Arial MT"/>
                <a:cs typeface="Times New Roman" pitchFamily="18" charset="0"/>
              </a:rPr>
              <a:t>Through the JVM</a:t>
            </a:r>
            <a:r>
              <a:rPr lang="en-US" sz="2400" dirty="0">
                <a:solidFill>
                  <a:schemeClr val="tx1"/>
                </a:solidFill>
                <a:latin typeface="Times New Roman" pitchFamily="18" charset="0"/>
                <a:ea typeface="Arial MT"/>
                <a:cs typeface="Times New Roman" pitchFamily="18" charset="0"/>
              </a:rPr>
              <a:t>, the same application is capable of running on </a:t>
            </a:r>
            <a:r>
              <a:rPr lang="en-US" sz="2400" dirty="0">
                <a:solidFill>
                  <a:srgbClr val="FF0000"/>
                </a:solidFill>
                <a:latin typeface="Times New Roman" pitchFamily="18" charset="0"/>
                <a:ea typeface="Arial MT"/>
                <a:cs typeface="Times New Roman" pitchFamily="18" charset="0"/>
              </a:rPr>
              <a:t>multiple platforms.</a:t>
            </a:r>
            <a:endParaRPr lang="en-US" sz="2400" dirty="0">
              <a:solidFill>
                <a:srgbClr val="FF0000"/>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20750" algn="l"/>
                <a:tab pos="922338" algn="l"/>
              </a:tabLst>
            </a:pP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0750" algn="l"/>
                <a:tab pos="922338" algn="l"/>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 name="Rectangle 5"/>
          <p:cNvSpPr>
            <a:spLocks noChangeArrowheads="1"/>
          </p:cNvSpPr>
          <p:nvPr/>
        </p:nvSpPr>
        <p:spPr bwMode="auto">
          <a:xfrm>
            <a:off x="457200" y="106432"/>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920750" algn="l"/>
              </a:tabLst>
            </a:pPr>
            <a:endParaRPr kumimoji="0" lang="en-US" sz="1100" b="0" i="0" u="none" strike="noStrike" cap="none" normalizeH="0" baseline="0" dirty="0">
              <a:ln>
                <a:noFill/>
              </a:ln>
              <a:solidFill>
                <a:schemeClr val="tx1"/>
              </a:solidFill>
              <a:effectLst/>
              <a:latin typeface="Arial" pitchFamily="34" charset="0"/>
              <a:ea typeface="Arial MT"/>
              <a:cs typeface="Arial MT"/>
            </a:endParaRPr>
          </a:p>
          <a:p>
            <a:pPr marL="0" marR="0" lvl="0" indent="0" algn="l" defTabSz="914400" rtl="0" eaLnBrk="0" fontAlgn="base" latinLnBrk="0" hangingPunct="0">
              <a:lnSpc>
                <a:spcPct val="100000"/>
              </a:lnSpc>
              <a:spcBef>
                <a:spcPct val="0"/>
              </a:spcBef>
              <a:spcAft>
                <a:spcPct val="0"/>
              </a:spcAft>
              <a:buClrTx/>
              <a:buSzTx/>
              <a:buFontTx/>
              <a:buNone/>
              <a:tabLst>
                <a:tab pos="920750" algn="l"/>
              </a:tabLst>
            </a:pPr>
            <a:br>
              <a:rPr kumimoji="0" lang="en-US" sz="1100" b="0" i="0" u="none" strike="noStrike" cap="none" normalizeH="0" baseline="0" dirty="0">
                <a:ln>
                  <a:noFill/>
                </a:ln>
                <a:solidFill>
                  <a:schemeClr val="tx1"/>
                </a:solidFill>
                <a:effectLst/>
                <a:latin typeface="Arial" pitchFamily="34" charset="0"/>
                <a:ea typeface="Arial MT"/>
                <a:cs typeface="Arial MT"/>
              </a:rPr>
            </a:b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618333" y="3372726"/>
            <a:ext cx="2858475" cy="461665"/>
          </a:xfrm>
          <a:prstGeom prst="rect">
            <a:avLst/>
          </a:prstGeom>
        </p:spPr>
        <p:txBody>
          <a:bodyPr wrap="none">
            <a:spAutoFit/>
          </a:bodyPr>
          <a:lstStyle/>
          <a:p>
            <a:r>
              <a:rPr lang="en-IN" sz="2400" b="1" u="heavy" dirty="0">
                <a:latin typeface="Times New Roman" pitchFamily="18" charset="0"/>
                <a:cs typeface="Times New Roman" pitchFamily="18" charset="0"/>
              </a:rPr>
              <a:t>Java’s</a:t>
            </a:r>
            <a:r>
              <a:rPr lang="en-IN" sz="2000" b="1" u="heavy" dirty="0">
                <a:latin typeface="Times New Roman" pitchFamily="18" charset="0"/>
                <a:cs typeface="Times New Roman" pitchFamily="18" charset="0"/>
              </a:rPr>
              <a:t> magic: </a:t>
            </a:r>
            <a:r>
              <a:rPr lang="en-IN" sz="2000" b="1" u="heavy" dirty="0" err="1">
                <a:latin typeface="Times New Roman" pitchFamily="18" charset="0"/>
                <a:cs typeface="Times New Roman" pitchFamily="18" charset="0"/>
              </a:rPr>
              <a:t>bytecode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90704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Times New Roman" pitchFamily="18" charset="0"/>
                <a:cs typeface="Times New Roman" pitchFamily="18" charset="0"/>
              </a:rPr>
              <a:t>Installation of JAVA</a:t>
            </a:r>
            <a:endParaRPr lang="en-IN" dirty="0">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en-GB" dirty="0">
                <a:latin typeface="Times New Roman" pitchFamily="18" charset="0"/>
                <a:cs typeface="Times New Roman" pitchFamily="18" charset="0"/>
              </a:rPr>
              <a:t>JDK(NEW VERSION)</a:t>
            </a:r>
          </a:p>
          <a:p>
            <a:r>
              <a:rPr lang="en-GB" dirty="0">
                <a:latin typeface="Times New Roman" pitchFamily="18" charset="0"/>
                <a:cs typeface="Times New Roman" pitchFamily="18" charset="0"/>
              </a:rPr>
              <a:t>ECLIPSE:</a:t>
            </a:r>
          </a:p>
          <a:p>
            <a:pPr marL="114300" indent="0">
              <a:buNone/>
            </a:pPr>
            <a:r>
              <a:rPr lang="en-GB" dirty="0">
                <a:latin typeface="Times New Roman" pitchFamily="18" charset="0"/>
                <a:cs typeface="Times New Roman" pitchFamily="18" charset="0"/>
              </a:rPr>
              <a:t>https://youtu.be/Cf2TFrZW2l0?si=CGRAVfCUK0YeYcMn</a:t>
            </a:r>
          </a:p>
          <a:p>
            <a:pPr marL="11430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34942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26183a85b31_0_87"/>
          <p:cNvSpPr txBox="1">
            <a:spLocks noGrp="1"/>
          </p:cNvSpPr>
          <p:nvPr>
            <p:ph type="title"/>
          </p:nvPr>
        </p:nvSpPr>
        <p:spPr>
          <a:xfrm>
            <a:off x="551384" y="0"/>
            <a:ext cx="10515600" cy="1224136"/>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A First Simple Program</a:t>
            </a:r>
            <a:endParaRPr sz="3600" b="1" dirty="0">
              <a:latin typeface="Times New Roman" pitchFamily="18" charset="0"/>
              <a:cs typeface="Times New Roman" pitchFamily="18" charset="0"/>
            </a:endParaRPr>
          </a:p>
        </p:txBody>
      </p:sp>
      <p:sp>
        <p:nvSpPr>
          <p:cNvPr id="312" name="Google Shape;312;g26183a85b31_0_87"/>
          <p:cNvSpPr txBox="1">
            <a:spLocks noGrp="1"/>
          </p:cNvSpPr>
          <p:nvPr>
            <p:ph type="body" idx="1"/>
          </p:nvPr>
        </p:nvSpPr>
        <p:spPr>
          <a:xfrm>
            <a:off x="0" y="692696"/>
            <a:ext cx="11593288" cy="4351200"/>
          </a:xfrm>
          <a:prstGeom prst="rect">
            <a:avLst/>
          </a:prstGeom>
        </p:spPr>
        <p:txBody>
          <a:bodyPr spcFirstLastPara="1" wrap="square" lIns="91425" tIns="45700" rIns="91425" bIns="45700" anchor="t" anchorCtr="0">
            <a:noAutofit/>
          </a:bodyPr>
          <a:lstStyle/>
          <a:p>
            <a:pPr marL="114300" indent="0">
              <a:buNone/>
            </a:pPr>
            <a:r>
              <a:rPr lang="en-IN" sz="2400" dirty="0">
                <a:latin typeface="Times New Roman" pitchFamily="18" charset="0"/>
                <a:cs typeface="Times New Roman" pitchFamily="18" charset="0"/>
              </a:rPr>
              <a:t>class Example </a:t>
            </a:r>
          </a:p>
          <a:p>
            <a:pPr marL="114300" indent="0">
              <a:buNone/>
            </a:pP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public static void main(</a:t>
            </a:r>
            <a:r>
              <a:rPr lang="en-IN" sz="2400" b="1" dirty="0">
                <a:latin typeface="Times New Roman" pitchFamily="18" charset="0"/>
                <a:cs typeface="Times New Roman" pitchFamily="18" charset="0"/>
              </a:rPr>
              <a:t>S</a:t>
            </a:r>
            <a:r>
              <a:rPr lang="en-IN" sz="2400" dirty="0">
                <a:latin typeface="Times New Roman" pitchFamily="18" charset="0"/>
                <a:cs typeface="Times New Roman" pitchFamily="18" charset="0"/>
              </a:rPr>
              <a:t>tring </a:t>
            </a:r>
            <a:r>
              <a:rPr lang="en-IN" sz="2400" dirty="0" err="1">
                <a:latin typeface="Times New Roman" pitchFamily="18" charset="0"/>
                <a:cs typeface="Times New Roman" pitchFamily="18" charset="0"/>
              </a:rPr>
              <a:t>args</a:t>
            </a: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 </a:t>
            </a:r>
          </a:p>
          <a:p>
            <a:pPr marL="114300" indent="0">
              <a:buNone/>
            </a:pPr>
            <a:r>
              <a:rPr lang="en-IN" sz="2400" b="1" dirty="0" err="1">
                <a:latin typeface="Times New Roman" pitchFamily="18" charset="0"/>
                <a:cs typeface="Times New Roman" pitchFamily="18" charset="0"/>
              </a:rPr>
              <a:t>System.out.println</a:t>
            </a:r>
            <a:r>
              <a:rPr lang="en-IN" sz="2400" b="1" dirty="0">
                <a:latin typeface="Times New Roman" pitchFamily="18" charset="0"/>
                <a:cs typeface="Times New Roman" pitchFamily="18" charset="0"/>
              </a:rPr>
              <a:t>(“Welcome to Programming in Java”); </a:t>
            </a:r>
            <a:endParaRPr lang="en-IN" sz="2400" dirty="0">
              <a:latin typeface="Times New Roman" pitchFamily="18" charset="0"/>
              <a:cs typeface="Times New Roman" pitchFamily="18" charset="0"/>
            </a:endParaRPr>
          </a:p>
          <a:p>
            <a:pPr marL="114300" indent="0">
              <a:buNone/>
            </a:pP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Output of the program: </a:t>
            </a:r>
            <a:r>
              <a:rPr lang="en-IN" sz="2400" dirty="0">
                <a:latin typeface="Times New Roman" pitchFamily="18" charset="0"/>
                <a:cs typeface="Times New Roman" pitchFamily="18" charset="0"/>
              </a:rPr>
              <a:t>Welcome to Programming in Java </a:t>
            </a:r>
          </a:p>
          <a:p>
            <a:pPr marL="114300" indent="0">
              <a:buNone/>
            </a:pPr>
            <a:r>
              <a:rPr lang="en-IN" sz="2400" b="1" dirty="0">
                <a:latin typeface="Times New Roman" pitchFamily="18" charset="0"/>
                <a:cs typeface="Times New Roman" pitchFamily="18" charset="0"/>
              </a:rPr>
              <a:t>1. </a:t>
            </a:r>
            <a:r>
              <a:rPr lang="en-IN" sz="2400" dirty="0">
                <a:latin typeface="Times New Roman" pitchFamily="18" charset="0"/>
                <a:cs typeface="Times New Roman" pitchFamily="18" charset="0"/>
              </a:rPr>
              <a:t>Open the notepad and type the above program</a:t>
            </a:r>
          </a:p>
          <a:p>
            <a:pPr marL="114300" indent="0">
              <a:buNone/>
            </a:pPr>
            <a:r>
              <a:rPr lang="en-IN" sz="2400" b="1" dirty="0">
                <a:latin typeface="Times New Roman" pitchFamily="18" charset="0"/>
                <a:cs typeface="Times New Roman" pitchFamily="18" charset="0"/>
              </a:rPr>
              <a:t>2. </a:t>
            </a:r>
            <a:r>
              <a:rPr lang="en-IN" sz="2400" dirty="0">
                <a:latin typeface="Times New Roman" pitchFamily="18" charset="0"/>
                <a:cs typeface="Times New Roman" pitchFamily="18" charset="0"/>
              </a:rPr>
              <a:t>Save the above program with </a:t>
            </a:r>
            <a:r>
              <a:rPr lang="en-IN" sz="2400" b="1" dirty="0">
                <a:latin typeface="Times New Roman" pitchFamily="18" charset="0"/>
                <a:cs typeface="Times New Roman" pitchFamily="18" charset="0"/>
              </a:rPr>
              <a:t>.java </a:t>
            </a:r>
            <a:r>
              <a:rPr lang="en-IN" sz="2400" dirty="0">
                <a:latin typeface="Times New Roman" pitchFamily="18" charset="0"/>
                <a:cs typeface="Times New Roman" pitchFamily="18" charset="0"/>
              </a:rPr>
              <a:t>extension, here file name and class name should be</a:t>
            </a:r>
          </a:p>
          <a:p>
            <a:pPr marL="114300" indent="0">
              <a:buNone/>
            </a:pPr>
            <a:r>
              <a:rPr lang="en-IN" sz="2400" dirty="0">
                <a:latin typeface="Times New Roman" pitchFamily="18" charset="0"/>
                <a:cs typeface="Times New Roman" pitchFamily="18" charset="0"/>
              </a:rPr>
              <a:t>    same, </a:t>
            </a:r>
            <a:r>
              <a:rPr lang="en-IN" sz="2400" b="1" dirty="0">
                <a:latin typeface="Times New Roman" pitchFamily="18" charset="0"/>
                <a:cs typeface="Times New Roman" pitchFamily="18" charset="0"/>
              </a:rPr>
              <a:t>  ex: Example.java </a:t>
            </a:r>
            <a:endParaRPr lang="en-IN" sz="2400" dirty="0">
              <a:latin typeface="Times New Roman" pitchFamily="18" charset="0"/>
              <a:cs typeface="Times New Roman" pitchFamily="18" charset="0"/>
            </a:endParaRPr>
          </a:p>
          <a:p>
            <a:pPr marL="114300" indent="0">
              <a:buNone/>
            </a:pPr>
            <a:r>
              <a:rPr lang="en-IN" sz="2400" b="1" dirty="0">
                <a:latin typeface="Times New Roman" pitchFamily="18" charset="0"/>
                <a:cs typeface="Times New Roman" pitchFamily="18" charset="0"/>
              </a:rPr>
              <a:t>3. </a:t>
            </a:r>
            <a:r>
              <a:rPr lang="en-IN" sz="2400" dirty="0">
                <a:latin typeface="Times New Roman" pitchFamily="18" charset="0"/>
                <a:cs typeface="Times New Roman" pitchFamily="18" charset="0"/>
              </a:rPr>
              <a:t>Open the command prompt and </a:t>
            </a:r>
            <a:r>
              <a:rPr lang="en-IN" sz="2400" b="1" dirty="0">
                <a:latin typeface="Times New Roman" pitchFamily="18" charset="0"/>
                <a:cs typeface="Times New Roman" pitchFamily="18" charset="0"/>
              </a:rPr>
              <a:t>Compile </a:t>
            </a:r>
            <a:r>
              <a:rPr lang="en-IN" sz="2400" dirty="0">
                <a:latin typeface="Times New Roman" pitchFamily="18" charset="0"/>
                <a:cs typeface="Times New Roman" pitchFamily="18" charset="0"/>
              </a:rPr>
              <a:t>the above program </a:t>
            </a:r>
            <a:r>
              <a:rPr lang="en-IN" sz="2400" b="1" dirty="0">
                <a:latin typeface="Times New Roman" pitchFamily="18" charset="0"/>
                <a:cs typeface="Times New Roman" pitchFamily="18" charset="0"/>
              </a:rPr>
              <a:t>    </a:t>
            </a:r>
            <a:r>
              <a:rPr lang="en-IN" sz="2400" b="1" dirty="0" err="1">
                <a:latin typeface="Times New Roman" pitchFamily="18" charset="0"/>
                <a:cs typeface="Times New Roman" pitchFamily="18" charset="0"/>
              </a:rPr>
              <a:t>javac</a:t>
            </a:r>
            <a:r>
              <a:rPr lang="en-IN" sz="2400" b="1" dirty="0">
                <a:latin typeface="Times New Roman" pitchFamily="18" charset="0"/>
                <a:cs typeface="Times New Roman" pitchFamily="18" charset="0"/>
              </a:rPr>
              <a:t> Example.java </a:t>
            </a:r>
            <a:endParaRPr lang="en-IN" sz="2400" dirty="0">
              <a:latin typeface="Times New Roman" pitchFamily="18" charset="0"/>
              <a:cs typeface="Times New Roman" pitchFamily="18" charset="0"/>
            </a:endParaRPr>
          </a:p>
          <a:p>
            <a:pPr marL="114300" indent="0">
              <a:buNone/>
            </a:pPr>
            <a:r>
              <a:rPr lang="en-IN" sz="2400" dirty="0">
                <a:latin typeface="Times New Roman" pitchFamily="18" charset="0"/>
                <a:cs typeface="Times New Roman" pitchFamily="18" charset="0"/>
              </a:rPr>
              <a:t>     From the above compilation the java compiler produces a </a:t>
            </a:r>
            <a:r>
              <a:rPr lang="en-IN" sz="2400" dirty="0" err="1">
                <a:latin typeface="Times New Roman" pitchFamily="18" charset="0"/>
                <a:cs typeface="Times New Roman" pitchFamily="18" charset="0"/>
              </a:rPr>
              <a:t>bytecode</a:t>
            </a:r>
            <a:r>
              <a:rPr lang="en-IN" sz="2400" dirty="0">
                <a:latin typeface="Times New Roman" pitchFamily="18" charset="0"/>
                <a:cs typeface="Times New Roman" pitchFamily="18" charset="0"/>
              </a:rPr>
              <a:t>(.class file) </a:t>
            </a:r>
          </a:p>
          <a:p>
            <a:pPr marL="114300" indent="0">
              <a:buNone/>
            </a:pPr>
            <a:r>
              <a:rPr lang="en-IN" sz="2400" b="1" dirty="0">
                <a:latin typeface="Times New Roman" pitchFamily="18" charset="0"/>
                <a:cs typeface="Times New Roman" pitchFamily="18" charset="0"/>
              </a:rPr>
              <a:t>4. </a:t>
            </a:r>
            <a:r>
              <a:rPr lang="en-IN" sz="2400" dirty="0">
                <a:latin typeface="Times New Roman" pitchFamily="18" charset="0"/>
                <a:cs typeface="Times New Roman" pitchFamily="18" charset="0"/>
              </a:rPr>
              <a:t>Finally run the program through the </a:t>
            </a:r>
            <a:r>
              <a:rPr lang="en-IN" sz="2400" b="1" dirty="0">
                <a:latin typeface="Times New Roman" pitchFamily="18" charset="0"/>
                <a:cs typeface="Times New Roman" pitchFamily="18" charset="0"/>
              </a:rPr>
              <a:t>   interpreter java Example.java</a:t>
            </a:r>
            <a:endParaRPr lang="en-IN" sz="2400" dirty="0">
              <a:latin typeface="Times New Roman" pitchFamily="18" charset="0"/>
              <a:cs typeface="Times New Roman" pitchFamily="18" charset="0"/>
            </a:endParaRPr>
          </a:p>
          <a:p>
            <a:pPr marL="114300" indent="0">
              <a:buNone/>
            </a:pPr>
            <a:endParaRPr lang="en-IN" sz="2400" dirty="0"/>
          </a:p>
          <a:p>
            <a:pPr marL="0" lvl="0" indent="0" algn="l" rtl="0">
              <a:lnSpc>
                <a:spcPct val="70000"/>
              </a:lnSpc>
              <a:spcBef>
                <a:spcPts val="1000"/>
              </a:spcBef>
              <a:spcAft>
                <a:spcPts val="0"/>
              </a:spcAft>
              <a:buSzPts val="935"/>
              <a:buNone/>
            </a:pPr>
            <a:endParaRPr sz="2680" dirty="0"/>
          </a:p>
        </p:txBody>
      </p:sp>
    </p:spTree>
    <p:extLst>
      <p:ext uri="{BB962C8B-B14F-4D97-AF65-F5344CB8AC3E}">
        <p14:creationId xmlns:p14="http://schemas.microsoft.com/office/powerpoint/2010/main" val="193345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6183a85b31_0_95"/>
          <p:cNvSpPr txBox="1">
            <a:spLocks noGrp="1"/>
          </p:cNvSpPr>
          <p:nvPr>
            <p:ph type="body" idx="1"/>
          </p:nvPr>
        </p:nvSpPr>
        <p:spPr>
          <a:xfrm>
            <a:off x="140675" y="281350"/>
            <a:ext cx="11754300" cy="6377400"/>
          </a:xfrm>
          <a:prstGeom prst="rect">
            <a:avLst/>
          </a:prstGeom>
        </p:spPr>
        <p:txBody>
          <a:bodyPr spcFirstLastPara="1" wrap="square" lIns="91425" tIns="45700" rIns="91425" bIns="45700" anchor="t" anchorCtr="0">
            <a:normAutofit fontScale="85000" lnSpcReduction="10000"/>
          </a:bodyPr>
          <a:lstStyle/>
          <a:p>
            <a:pPr marL="114300" indent="0" algn="just">
              <a:buNone/>
            </a:pPr>
            <a:r>
              <a:rPr lang="en-IN" b="1" dirty="0">
                <a:latin typeface="Times New Roman" pitchFamily="18" charset="0"/>
                <a:cs typeface="Times New Roman" pitchFamily="18" charset="0"/>
              </a:rPr>
              <a:t>Description: </a:t>
            </a:r>
            <a:endParaRPr lang="en-IN" dirty="0">
              <a:latin typeface="Times New Roman" pitchFamily="18" charset="0"/>
              <a:cs typeface="Times New Roman" pitchFamily="18" charset="0"/>
            </a:endParaRPr>
          </a:p>
          <a:p>
            <a:pPr algn="just"/>
            <a:r>
              <a:rPr lang="en-IN" b="1" dirty="0">
                <a:latin typeface="Times New Roman" pitchFamily="18" charset="0"/>
                <a:cs typeface="Times New Roman" pitchFamily="18" charset="0"/>
              </a:rPr>
              <a:t>Class declaration: </a:t>
            </a:r>
            <a:r>
              <a:rPr lang="en-IN" dirty="0">
                <a:latin typeface="Times New Roman" pitchFamily="18" charset="0"/>
                <a:cs typeface="Times New Roman" pitchFamily="18" charset="0"/>
              </a:rPr>
              <a:t>―class Example‖ declares a class, which is an object- oriented construct. Sample one is a Java identifier that specifies the name of the class to be defined. </a:t>
            </a:r>
          </a:p>
          <a:p>
            <a:pPr algn="just"/>
            <a:r>
              <a:rPr lang="en-IN" b="1" dirty="0">
                <a:latin typeface="Times New Roman" pitchFamily="18" charset="0"/>
                <a:cs typeface="Times New Roman" pitchFamily="18" charset="0"/>
              </a:rPr>
              <a:t>Opening braces: </a:t>
            </a:r>
            <a:r>
              <a:rPr lang="en-IN" dirty="0">
                <a:latin typeface="Times New Roman" pitchFamily="18" charset="0"/>
                <a:cs typeface="Times New Roman" pitchFamily="18" charset="0"/>
              </a:rPr>
              <a:t>Every class definition of Java starts with opening braces and ends with matching one. </a:t>
            </a:r>
          </a:p>
          <a:p>
            <a:pPr algn="just"/>
            <a:r>
              <a:rPr lang="en-IN" b="1" dirty="0">
                <a:latin typeface="Times New Roman" pitchFamily="18" charset="0"/>
                <a:cs typeface="Times New Roman" pitchFamily="18" charset="0"/>
              </a:rPr>
              <a:t>The main line: </a:t>
            </a:r>
            <a:r>
              <a:rPr lang="en-IN" dirty="0">
                <a:latin typeface="Times New Roman" pitchFamily="18" charset="0"/>
                <a:cs typeface="Times New Roman" pitchFamily="18" charset="0"/>
              </a:rPr>
              <a:t>the line ― public static void main(String </a:t>
            </a:r>
            <a:r>
              <a:rPr lang="en-IN" dirty="0" err="1">
                <a:latin typeface="Times New Roman" pitchFamily="18" charset="0"/>
                <a:cs typeface="Times New Roman" pitchFamily="18" charset="0"/>
              </a:rPr>
              <a:t>args</a:t>
            </a:r>
            <a:r>
              <a:rPr lang="en-IN" dirty="0">
                <a:latin typeface="Times New Roman" pitchFamily="18" charset="0"/>
                <a:cs typeface="Times New Roman" pitchFamily="18" charset="0"/>
              </a:rPr>
              <a:t>[]) ― defines a method name main. Java application program must include this main. This is the starting point of the interpreter from where it starts executing. </a:t>
            </a:r>
            <a:r>
              <a:rPr lang="en-IN" dirty="0">
                <a:solidFill>
                  <a:srgbClr val="FF0000"/>
                </a:solidFill>
                <a:latin typeface="Times New Roman" pitchFamily="18" charset="0"/>
                <a:cs typeface="Times New Roman" pitchFamily="18" charset="0"/>
              </a:rPr>
              <a:t>A Java program can have any number of classes but only one class will have the main method. </a:t>
            </a:r>
          </a:p>
          <a:p>
            <a:pPr algn="just"/>
            <a:r>
              <a:rPr lang="en-IN" b="1" dirty="0">
                <a:latin typeface="Times New Roman" pitchFamily="18" charset="0"/>
                <a:cs typeface="Times New Roman" pitchFamily="18" charset="0"/>
              </a:rPr>
              <a:t>Public: </a:t>
            </a:r>
            <a:r>
              <a:rPr lang="en-IN" dirty="0">
                <a:latin typeface="Times New Roman" pitchFamily="18" charset="0"/>
                <a:cs typeface="Times New Roman" pitchFamily="18" charset="0"/>
              </a:rPr>
              <a:t>This key word is an access specifier that declares the main method as unprotected and therefore making it </a:t>
            </a:r>
            <a:r>
              <a:rPr lang="en-IN" dirty="0">
                <a:solidFill>
                  <a:srgbClr val="FF0000"/>
                </a:solidFill>
                <a:latin typeface="Times New Roman" pitchFamily="18" charset="0"/>
                <a:cs typeface="Times New Roman" pitchFamily="18" charset="0"/>
              </a:rPr>
              <a:t>accessible to the all other classes</a:t>
            </a:r>
            <a:r>
              <a:rPr lang="en-IN" dirty="0">
                <a:latin typeface="Times New Roman" pitchFamily="18" charset="0"/>
                <a:cs typeface="Times New Roman" pitchFamily="18" charset="0"/>
              </a:rPr>
              <a:t>. </a:t>
            </a:r>
          </a:p>
          <a:p>
            <a:pPr algn="just"/>
            <a:r>
              <a:rPr lang="en-IN" b="1" dirty="0">
                <a:latin typeface="Times New Roman" pitchFamily="18" charset="0"/>
                <a:cs typeface="Times New Roman" pitchFamily="18" charset="0"/>
              </a:rPr>
              <a:t>Static: </a:t>
            </a:r>
            <a:r>
              <a:rPr lang="en-IN" dirty="0">
                <a:latin typeface="Times New Roman" pitchFamily="18" charset="0"/>
                <a:cs typeface="Times New Roman" pitchFamily="18" charset="0"/>
              </a:rPr>
              <a:t>Static keyword defines the method as one that belongs to the entire class and not for a particular object of the class. The main must always be declared as static. </a:t>
            </a:r>
          </a:p>
          <a:p>
            <a:pPr algn="just"/>
            <a:r>
              <a:rPr lang="en-IN" b="1" dirty="0">
                <a:latin typeface="Times New Roman" pitchFamily="18" charset="0"/>
                <a:cs typeface="Times New Roman" pitchFamily="18" charset="0"/>
              </a:rPr>
              <a:t>Void: </a:t>
            </a:r>
            <a:r>
              <a:rPr lang="en-IN" dirty="0">
                <a:latin typeface="Times New Roman" pitchFamily="18" charset="0"/>
                <a:cs typeface="Times New Roman" pitchFamily="18" charset="0"/>
              </a:rPr>
              <a:t>the type modifier void specifies that the method main does not return any value. </a:t>
            </a:r>
          </a:p>
          <a:p>
            <a:pPr algn="just"/>
            <a:r>
              <a:rPr lang="en-IN" b="1" dirty="0">
                <a:latin typeface="Times New Roman" pitchFamily="18" charset="0"/>
                <a:cs typeface="Times New Roman" pitchFamily="18" charset="0"/>
              </a:rPr>
              <a:t>The </a:t>
            </a:r>
            <a:r>
              <a:rPr lang="en-IN" b="1" dirty="0" err="1">
                <a:latin typeface="Times New Roman" pitchFamily="18" charset="0"/>
                <a:cs typeface="Times New Roman" pitchFamily="18" charset="0"/>
              </a:rPr>
              <a:t>println</a:t>
            </a:r>
            <a:r>
              <a:rPr lang="en-IN" b="1" dirty="0">
                <a:latin typeface="Times New Roman" pitchFamily="18" charset="0"/>
                <a:cs typeface="Times New Roman" pitchFamily="18" charset="0"/>
              </a:rPr>
              <a:t>: </a:t>
            </a:r>
            <a:r>
              <a:rPr lang="en-IN" dirty="0">
                <a:latin typeface="Times New Roman" pitchFamily="18" charset="0"/>
                <a:cs typeface="Times New Roman" pitchFamily="18" charset="0"/>
              </a:rPr>
              <a:t>It is a method of the object out of system class. It is similar to the printf or </a:t>
            </a:r>
            <a:r>
              <a:rPr lang="en-IN" dirty="0" err="1">
                <a:latin typeface="Times New Roman" pitchFamily="18" charset="0"/>
                <a:cs typeface="Times New Roman" pitchFamily="18" charset="0"/>
              </a:rPr>
              <a:t>cout</a:t>
            </a:r>
            <a:r>
              <a:rPr lang="en-IN" dirty="0">
                <a:latin typeface="Times New Roman" pitchFamily="18" charset="0"/>
                <a:cs typeface="Times New Roman" pitchFamily="18" charset="0"/>
              </a:rPr>
              <a:t> of c or </a:t>
            </a:r>
            <a:r>
              <a:rPr lang="en-IN" dirty="0" err="1">
                <a:latin typeface="Times New Roman" pitchFamily="18" charset="0"/>
                <a:cs typeface="Times New Roman" pitchFamily="18" charset="0"/>
              </a:rPr>
              <a:t>c++</a:t>
            </a:r>
            <a:r>
              <a:rPr lang="en-IN" dirty="0">
                <a:latin typeface="Times New Roman" pitchFamily="18" charset="0"/>
                <a:cs typeface="Times New Roman" pitchFamily="18" charset="0"/>
              </a:rPr>
              <a:t>. This always appends a newline character to the end of the string </a:t>
            </a:r>
            <a:r>
              <a:rPr lang="en-IN" dirty="0" err="1">
                <a:latin typeface="Times New Roman" pitchFamily="18" charset="0"/>
                <a:cs typeface="Times New Roman" pitchFamily="18" charset="0"/>
              </a:rPr>
              <a:t>i.e</a:t>
            </a:r>
            <a:r>
              <a:rPr lang="en-IN" dirty="0">
                <a:latin typeface="Times New Roman" pitchFamily="18" charset="0"/>
                <a:cs typeface="Times New Roman" pitchFamily="18" charset="0"/>
              </a:rPr>
              <a:t>, any subsequent output will start on a new line. </a:t>
            </a:r>
          </a:p>
          <a:p>
            <a:pPr marL="0" lvl="0" indent="0" algn="just" rtl="0">
              <a:spcBef>
                <a:spcPts val="1000"/>
              </a:spcBef>
              <a:spcAft>
                <a:spcPts val="0"/>
              </a:spcAft>
              <a:buNone/>
            </a:pPr>
            <a:endParaRPr dirty="0"/>
          </a:p>
          <a:p>
            <a:pPr marL="0" lvl="0" indent="0" algn="l" rtl="0">
              <a:spcBef>
                <a:spcPts val="1000"/>
              </a:spcBef>
              <a:spcAft>
                <a:spcPts val="0"/>
              </a:spcAft>
              <a:buNone/>
            </a:pPr>
            <a:endParaRPr dirty="0"/>
          </a:p>
        </p:txBody>
      </p:sp>
    </p:spTree>
    <p:extLst>
      <p:ext uri="{BB962C8B-B14F-4D97-AF65-F5344CB8AC3E}">
        <p14:creationId xmlns:p14="http://schemas.microsoft.com/office/powerpoint/2010/main" val="4273309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26183a85b31_0_10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990"/>
              <a:buFont typeface="Arial"/>
              <a:buNone/>
            </a:pPr>
            <a:r>
              <a:rPr lang="en-US" sz="3600" dirty="0">
                <a:latin typeface="Times New Roman" pitchFamily="18" charset="0"/>
                <a:cs typeface="Times New Roman" pitchFamily="18" charset="0"/>
              </a:rPr>
              <a:t>A Second Short Program</a:t>
            </a:r>
            <a:endParaRPr sz="3600" dirty="0">
              <a:latin typeface="Times New Roman" pitchFamily="18" charset="0"/>
              <a:cs typeface="Times New Roman" pitchFamily="18" charset="0"/>
            </a:endParaRPr>
          </a:p>
          <a:p>
            <a:pPr marL="0" lvl="0" indent="0" algn="l" rtl="0">
              <a:spcBef>
                <a:spcPts val="0"/>
              </a:spcBef>
              <a:spcAft>
                <a:spcPts val="0"/>
              </a:spcAft>
              <a:buClr>
                <a:schemeClr val="dk1"/>
              </a:buClr>
              <a:buSzPts val="990"/>
              <a:buFont typeface="Arial"/>
              <a:buNone/>
            </a:pPr>
            <a:endParaRPr dirty="0"/>
          </a:p>
          <a:p>
            <a:pPr marL="0" lvl="0" indent="0" algn="l" rtl="0">
              <a:spcBef>
                <a:spcPts val="0"/>
              </a:spcBef>
              <a:spcAft>
                <a:spcPts val="0"/>
              </a:spcAft>
              <a:buNone/>
            </a:pPr>
            <a:endParaRPr dirty="0"/>
          </a:p>
        </p:txBody>
      </p:sp>
      <p:sp>
        <p:nvSpPr>
          <p:cNvPr id="323" name="Google Shape;323;g26183a85b31_0_101"/>
          <p:cNvSpPr txBox="1">
            <a:spLocks noGrp="1"/>
          </p:cNvSpPr>
          <p:nvPr>
            <p:ph type="body" idx="1"/>
          </p:nvPr>
        </p:nvSpPr>
        <p:spPr>
          <a:xfrm>
            <a:off x="838200" y="934675"/>
            <a:ext cx="10515600" cy="55365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Clr>
                <a:schemeClr val="dk1"/>
              </a:buClr>
              <a:buSzPts val="852"/>
              <a:buFont typeface="Arial"/>
              <a:buNone/>
            </a:pPr>
            <a:r>
              <a:rPr lang="en-US" sz="2770" dirty="0"/>
              <a:t>/*</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Here is another short example.</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Call this file "Example2.java".</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class Example2 {</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public static void main(String </a:t>
            </a:r>
            <a:r>
              <a:rPr lang="en-US" sz="2770" dirty="0" err="1"/>
              <a:t>args</a:t>
            </a:r>
            <a:r>
              <a:rPr lang="en-US" sz="2770" dirty="0"/>
              <a:t> []) {</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r>
              <a:rPr lang="en-US" sz="2770" dirty="0" err="1"/>
              <a:t>int</a:t>
            </a:r>
            <a:r>
              <a:rPr lang="en-US" sz="2770" dirty="0"/>
              <a:t> </a:t>
            </a:r>
            <a:r>
              <a:rPr lang="en-US" sz="2770" dirty="0" err="1"/>
              <a:t>num</a:t>
            </a:r>
            <a:r>
              <a:rPr lang="en-US" sz="2770" dirty="0"/>
              <a:t>; // this declares a variable called </a:t>
            </a:r>
            <a:r>
              <a:rPr lang="en-US" sz="2770" dirty="0" err="1"/>
              <a:t>num</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r>
              <a:rPr lang="en-US" sz="2770" dirty="0" err="1"/>
              <a:t>num</a:t>
            </a:r>
            <a:r>
              <a:rPr lang="en-US" sz="2770" dirty="0"/>
              <a:t> = 100; // this assigns </a:t>
            </a:r>
            <a:r>
              <a:rPr lang="en-US" sz="2770" dirty="0" err="1"/>
              <a:t>num</a:t>
            </a:r>
            <a:r>
              <a:rPr lang="en-US" sz="2770" dirty="0"/>
              <a:t> the value 100</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r>
              <a:rPr lang="en-US" sz="2770" dirty="0" err="1"/>
              <a:t>System.out.println</a:t>
            </a:r>
            <a:r>
              <a:rPr lang="en-US" sz="2770" dirty="0"/>
              <a:t>("This is </a:t>
            </a:r>
            <a:r>
              <a:rPr lang="en-US" sz="2770" dirty="0" err="1"/>
              <a:t>num</a:t>
            </a:r>
            <a:r>
              <a:rPr lang="en-US" sz="2770" dirty="0"/>
              <a:t>: " + </a:t>
            </a:r>
            <a:r>
              <a:rPr lang="en-US" sz="2770" dirty="0" err="1"/>
              <a:t>num</a:t>
            </a:r>
            <a:r>
              <a:rPr lang="en-US" sz="2770" dirty="0"/>
              <a:t>);</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r>
              <a:rPr lang="en-US" sz="2770" dirty="0" err="1"/>
              <a:t>num</a:t>
            </a:r>
            <a:r>
              <a:rPr lang="en-US" sz="2770" dirty="0"/>
              <a:t> = </a:t>
            </a:r>
            <a:r>
              <a:rPr lang="en-US" sz="2770" dirty="0" err="1"/>
              <a:t>num</a:t>
            </a:r>
            <a:r>
              <a:rPr lang="en-US" sz="2770" dirty="0"/>
              <a:t> * 2;</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r>
              <a:rPr lang="en-US" sz="2770" dirty="0" err="1"/>
              <a:t>System.out.print</a:t>
            </a:r>
            <a:r>
              <a:rPr lang="en-US" sz="2770" dirty="0"/>
              <a:t>("The value of </a:t>
            </a:r>
            <a:r>
              <a:rPr lang="en-US" sz="2770" dirty="0" err="1"/>
              <a:t>num</a:t>
            </a:r>
            <a:r>
              <a:rPr lang="en-US" sz="2770" dirty="0"/>
              <a:t> * 2 is ");</a:t>
            </a:r>
            <a:endParaRPr sz="2770" dirty="0"/>
          </a:p>
          <a:p>
            <a:pPr marL="0" lvl="0" indent="0" algn="l" rtl="0">
              <a:lnSpc>
                <a:spcPct val="70000"/>
              </a:lnSpc>
              <a:spcBef>
                <a:spcPts val="1000"/>
              </a:spcBef>
              <a:spcAft>
                <a:spcPts val="0"/>
              </a:spcAft>
              <a:buClr>
                <a:schemeClr val="dk1"/>
              </a:buClr>
              <a:buSzPts val="852"/>
              <a:buFont typeface="Arial"/>
              <a:buNone/>
            </a:pPr>
            <a:r>
              <a:rPr lang="en-US" sz="2770" dirty="0" err="1"/>
              <a:t>System.out.println</a:t>
            </a:r>
            <a:r>
              <a:rPr lang="en-US" sz="2770" dirty="0"/>
              <a:t>(</a:t>
            </a:r>
            <a:r>
              <a:rPr lang="en-US" sz="2770" dirty="0" err="1"/>
              <a:t>num</a:t>
            </a:r>
            <a:r>
              <a:rPr lang="en-US" sz="2770" dirty="0"/>
              <a:t>);</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 }</a:t>
            </a:r>
            <a:endParaRPr sz="2770" dirty="0"/>
          </a:p>
          <a:p>
            <a:pPr marL="0" lvl="0" indent="0" algn="l" rtl="0">
              <a:lnSpc>
                <a:spcPct val="70000"/>
              </a:lnSpc>
              <a:spcBef>
                <a:spcPts val="1000"/>
              </a:spcBef>
              <a:spcAft>
                <a:spcPts val="0"/>
              </a:spcAft>
              <a:buClr>
                <a:schemeClr val="dk1"/>
              </a:buClr>
              <a:buSzPts val="852"/>
              <a:buFont typeface="Arial"/>
              <a:buNone/>
            </a:pPr>
            <a:r>
              <a:rPr lang="en-US" sz="2770" dirty="0"/>
              <a:t>}</a:t>
            </a:r>
            <a:endParaRPr sz="2770" dirty="0"/>
          </a:p>
          <a:p>
            <a:pPr marL="0" lvl="0" indent="0" algn="l" rtl="0">
              <a:lnSpc>
                <a:spcPct val="70000"/>
              </a:lnSpc>
              <a:spcBef>
                <a:spcPts val="1000"/>
              </a:spcBef>
              <a:spcAft>
                <a:spcPts val="0"/>
              </a:spcAft>
              <a:buSzPts val="852"/>
              <a:buNone/>
            </a:pPr>
            <a:endParaRPr sz="2770" dirty="0"/>
          </a:p>
        </p:txBody>
      </p:sp>
    </p:spTree>
    <p:extLst>
      <p:ext uri="{BB962C8B-B14F-4D97-AF65-F5344CB8AC3E}">
        <p14:creationId xmlns:p14="http://schemas.microsoft.com/office/powerpoint/2010/main" val="2100672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0"/>
            <a:ext cx="10515600" cy="1052735"/>
          </a:xfrm>
        </p:spPr>
        <p:txBody>
          <a:bodyPr/>
          <a:lstStyle/>
          <a:p>
            <a:pPr algn="ctr"/>
            <a:r>
              <a:rPr lang="en-US" dirty="0"/>
              <a:t> </a:t>
            </a:r>
            <a:r>
              <a:rPr lang="en-US" sz="3600" b="1" dirty="0">
                <a:latin typeface="Times New Roman" pitchFamily="18" charset="0"/>
                <a:cs typeface="Times New Roman" pitchFamily="18" charset="0"/>
              </a:rPr>
              <a:t>Data Types, Variables, and Arrays</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335360" y="1052736"/>
            <a:ext cx="11521280" cy="5589240"/>
          </a:xfrm>
        </p:spPr>
        <p:txBody>
          <a:bodyPr>
            <a:normAutofit/>
          </a:bodyPr>
          <a:lstStyle/>
          <a:p>
            <a:pPr marL="114300" indent="0">
              <a:buNone/>
            </a:pPr>
            <a:r>
              <a:rPr lang="en-US" b="1" dirty="0">
                <a:latin typeface="Times New Roman" pitchFamily="18" charset="0"/>
                <a:cs typeface="Times New Roman" pitchFamily="18" charset="0"/>
              </a:rPr>
              <a:t>Java Is a Strongly Typed Language</a:t>
            </a:r>
            <a:endParaRPr lang="en-IN"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is important to state at the outset that Java is a strongly typed language. Indeed, part of </a:t>
            </a:r>
            <a:r>
              <a:rPr lang="en-US" dirty="0">
                <a:solidFill>
                  <a:srgbClr val="FF0000"/>
                </a:solidFill>
                <a:latin typeface="Times New Roman" pitchFamily="18" charset="0"/>
                <a:cs typeface="Times New Roman" pitchFamily="18" charset="0"/>
              </a:rPr>
              <a:t>Java’s safety and robustness </a:t>
            </a:r>
            <a:r>
              <a:rPr lang="en-US" dirty="0">
                <a:latin typeface="Times New Roman" pitchFamily="18" charset="0"/>
                <a:cs typeface="Times New Roman" pitchFamily="18" charset="0"/>
              </a:rPr>
              <a:t>comes from this fact. </a:t>
            </a:r>
          </a:p>
          <a:p>
            <a:pPr algn="just"/>
            <a:r>
              <a:rPr lang="en-US" dirty="0">
                <a:latin typeface="Times New Roman" pitchFamily="18" charset="0"/>
                <a:cs typeface="Times New Roman" pitchFamily="18" charset="0"/>
              </a:rPr>
              <a:t> First, every variable has a type, every expression has a type, and every type is strictly defined. </a:t>
            </a:r>
          </a:p>
          <a:p>
            <a:pPr algn="just"/>
            <a:r>
              <a:rPr lang="en-US" dirty="0">
                <a:latin typeface="Times New Roman" pitchFamily="18" charset="0"/>
                <a:cs typeface="Times New Roman" pitchFamily="18" charset="0"/>
              </a:rPr>
              <a:t>Second, all assignments, whether explicit or via parameter passing in method calls, are checked for type compatibility.</a:t>
            </a:r>
          </a:p>
          <a:p>
            <a:pPr algn="just"/>
            <a:r>
              <a:rPr lang="en-US" dirty="0">
                <a:latin typeface="Times New Roman" pitchFamily="18" charset="0"/>
                <a:cs typeface="Times New Roman" pitchFamily="18" charset="0"/>
              </a:rPr>
              <a:t> There are no automatic coercions </a:t>
            </a:r>
            <a:r>
              <a:rPr lang="en-US" dirty="0">
                <a:solidFill>
                  <a:srgbClr val="FF0000"/>
                </a:solidFill>
                <a:latin typeface="Times New Roman" pitchFamily="18" charset="0"/>
                <a:cs typeface="Times New Roman" pitchFamily="18" charset="0"/>
              </a:rPr>
              <a:t>or conversions of conflicting types </a:t>
            </a:r>
            <a:r>
              <a:rPr lang="en-US" dirty="0">
                <a:latin typeface="Times New Roman" pitchFamily="18" charset="0"/>
                <a:cs typeface="Times New Roman" pitchFamily="18" charset="0"/>
              </a:rPr>
              <a:t>as in some languages. </a:t>
            </a:r>
          </a:p>
          <a:p>
            <a:pPr algn="just"/>
            <a:r>
              <a:rPr lang="en-US" dirty="0">
                <a:latin typeface="Times New Roman" pitchFamily="18" charset="0"/>
                <a:cs typeface="Times New Roman" pitchFamily="18" charset="0"/>
              </a:rPr>
              <a:t>The Java compiler checks all expressions and parameters to ensure that the </a:t>
            </a:r>
            <a:r>
              <a:rPr lang="en-US" dirty="0">
                <a:solidFill>
                  <a:srgbClr val="FF0000"/>
                </a:solidFill>
                <a:latin typeface="Times New Roman" pitchFamily="18" charset="0"/>
                <a:cs typeface="Times New Roman" pitchFamily="18" charset="0"/>
              </a:rPr>
              <a:t>types are compatible</a:t>
            </a:r>
            <a:r>
              <a:rPr lang="en-US" dirty="0">
                <a:latin typeface="Times New Roman" pitchFamily="18" charset="0"/>
                <a:cs typeface="Times New Roman" pitchFamily="18" charset="0"/>
              </a:rPr>
              <a:t>. Any type mismatches are errors that must be corrected before the compiler will finish compiling the class.</a:t>
            </a:r>
          </a:p>
          <a:p>
            <a:pPr algn="just"/>
            <a:endParaRPr lang="en-IN" dirty="0"/>
          </a:p>
          <a:p>
            <a:endParaRPr lang="en-IN" dirty="0"/>
          </a:p>
        </p:txBody>
      </p:sp>
    </p:spTree>
    <p:extLst>
      <p:ext uri="{BB962C8B-B14F-4D97-AF65-F5344CB8AC3E}">
        <p14:creationId xmlns:p14="http://schemas.microsoft.com/office/powerpoint/2010/main" val="300507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A40567-F5D9-4CF6-8C1D-33F9EBC5F36D}"/>
              </a:ext>
            </a:extLst>
          </p:cNvPr>
          <p:cNvPicPr>
            <a:picLocks noChangeAspect="1"/>
          </p:cNvPicPr>
          <p:nvPr/>
        </p:nvPicPr>
        <p:blipFill>
          <a:blip r:embed="rId2"/>
          <a:stretch>
            <a:fillRect/>
          </a:stretch>
        </p:blipFill>
        <p:spPr>
          <a:xfrm>
            <a:off x="551384" y="332656"/>
            <a:ext cx="10657184" cy="6408712"/>
          </a:xfrm>
          <a:prstGeom prst="rect">
            <a:avLst/>
          </a:prstGeom>
        </p:spPr>
      </p:pic>
    </p:spTree>
    <p:extLst>
      <p:ext uri="{BB962C8B-B14F-4D97-AF65-F5344CB8AC3E}">
        <p14:creationId xmlns:p14="http://schemas.microsoft.com/office/powerpoint/2010/main" val="106802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29c65cd7469_0_52"/>
          <p:cNvSpPr txBox="1">
            <a:spLocks noGrp="1"/>
          </p:cNvSpPr>
          <p:nvPr>
            <p:ph type="title"/>
          </p:nvPr>
        </p:nvSpPr>
        <p:spPr>
          <a:xfrm>
            <a:off x="695400" y="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The Primitive Types</a:t>
            </a:r>
            <a:endParaRPr sz="3600" b="1" dirty="0">
              <a:latin typeface="Times New Roman" pitchFamily="18" charset="0"/>
              <a:cs typeface="Times New Roman" pitchFamily="18" charset="0"/>
            </a:endParaRPr>
          </a:p>
        </p:txBody>
      </p:sp>
      <p:sp>
        <p:nvSpPr>
          <p:cNvPr id="422" name="Google Shape;422;g29c65cd7469_0_52"/>
          <p:cNvSpPr txBox="1">
            <a:spLocks noGrp="1"/>
          </p:cNvSpPr>
          <p:nvPr>
            <p:ph type="body" idx="1"/>
          </p:nvPr>
        </p:nvSpPr>
        <p:spPr>
          <a:xfrm>
            <a:off x="263352" y="1484784"/>
            <a:ext cx="11479200" cy="4670400"/>
          </a:xfrm>
          <a:prstGeom prst="rect">
            <a:avLst/>
          </a:prstGeom>
        </p:spPr>
        <p:txBody>
          <a:bodyPr spcFirstLastPara="1" wrap="square" lIns="91425" tIns="45700" rIns="91425" bIns="45700" anchor="t" anchorCtr="0">
            <a:normAutofit fontScale="92500" lnSpcReduction="20000"/>
          </a:bodyPr>
          <a:lstStyle/>
          <a:p>
            <a:pPr marL="0" lvl="0" indent="0" algn="just" rtl="0">
              <a:spcBef>
                <a:spcPts val="1000"/>
              </a:spcBef>
              <a:spcAft>
                <a:spcPts val="0"/>
              </a:spcAft>
              <a:buNone/>
            </a:pPr>
            <a:r>
              <a:rPr lang="en-US" dirty="0">
                <a:latin typeface="Times New Roman" pitchFamily="18" charset="0"/>
                <a:cs typeface="Times New Roman" pitchFamily="18" charset="0"/>
              </a:rPr>
              <a:t>Java defines eight primitive types of data: </a:t>
            </a:r>
            <a:endParaRPr dirty="0">
              <a:latin typeface="Times New Roman" pitchFamily="18" charset="0"/>
              <a:cs typeface="Times New Roman" pitchFamily="18" charset="0"/>
            </a:endParaRPr>
          </a:p>
          <a:p>
            <a:pPr marL="0" lvl="0" indent="0" algn="just" rtl="0">
              <a:spcBef>
                <a:spcPts val="1000"/>
              </a:spcBef>
              <a:spcAft>
                <a:spcPts val="0"/>
              </a:spcAft>
              <a:buNone/>
            </a:pPr>
            <a:r>
              <a:rPr lang="en-US" b="1" dirty="0">
                <a:latin typeface="Times New Roman" pitchFamily="18" charset="0"/>
                <a:cs typeface="Times New Roman" pitchFamily="18" charset="0"/>
              </a:rPr>
              <a:t>byte, short, </a:t>
            </a:r>
            <a:r>
              <a:rPr lang="en-US" b="1" dirty="0" err="1">
                <a:latin typeface="Times New Roman" pitchFamily="18" charset="0"/>
                <a:cs typeface="Times New Roman" pitchFamily="18" charset="0"/>
              </a:rPr>
              <a:t>int</a:t>
            </a:r>
            <a:r>
              <a:rPr lang="en-US" b="1" dirty="0">
                <a:latin typeface="Times New Roman" pitchFamily="18" charset="0"/>
                <a:cs typeface="Times New Roman" pitchFamily="18" charset="0"/>
              </a:rPr>
              <a:t>, long, char, float, double, and </a:t>
            </a:r>
            <a:r>
              <a:rPr lang="en-US" b="1" dirty="0" err="1">
                <a:latin typeface="Times New Roman" pitchFamily="18" charset="0"/>
                <a:cs typeface="Times New Roman" pitchFamily="18" charset="0"/>
              </a:rPr>
              <a:t>boolean</a:t>
            </a:r>
            <a:r>
              <a:rPr lang="en-US" b="1" dirty="0">
                <a:latin typeface="Times New Roman" pitchFamily="18" charset="0"/>
                <a:cs typeface="Times New Roman" pitchFamily="18" charset="0"/>
              </a:rPr>
              <a:t>. </a:t>
            </a:r>
            <a:endParaRPr b="1"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The primitive types are also commonly referred to as </a:t>
            </a:r>
            <a:r>
              <a:rPr lang="en-US" b="1" dirty="0">
                <a:latin typeface="Times New Roman" pitchFamily="18" charset="0"/>
                <a:cs typeface="Times New Roman" pitchFamily="18" charset="0"/>
              </a:rPr>
              <a:t>simple types</a:t>
            </a: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These are grouped into 4 groups: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I</a:t>
            </a:r>
            <a:r>
              <a:rPr lang="en-US" b="1" dirty="0">
                <a:latin typeface="Times New Roman" pitchFamily="18" charset="0"/>
                <a:cs typeface="Times New Roman" pitchFamily="18" charset="0"/>
              </a:rPr>
              <a:t>ntegers </a:t>
            </a:r>
            <a:r>
              <a:rPr lang="en-US" dirty="0">
                <a:latin typeface="Times New Roman" pitchFamily="18" charset="0"/>
                <a:cs typeface="Times New Roman" pitchFamily="18" charset="0"/>
              </a:rPr>
              <a:t>This group includes byte, short,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and long, which are for whole-valued signed numbers.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Floating-point numbers </a:t>
            </a:r>
            <a:r>
              <a:rPr lang="en-US" dirty="0">
                <a:latin typeface="Times New Roman" pitchFamily="18" charset="0"/>
                <a:cs typeface="Times New Roman" pitchFamily="18" charset="0"/>
              </a:rPr>
              <a:t>This group includes float and double, which represent numbers with fractional precision.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Characters</a:t>
            </a:r>
            <a:r>
              <a:rPr lang="en-US" dirty="0">
                <a:latin typeface="Times New Roman" pitchFamily="18" charset="0"/>
                <a:cs typeface="Times New Roman" pitchFamily="18" charset="0"/>
              </a:rPr>
              <a:t> This group includes char, which represents symbols in a character set, like letters and numbers.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Boolean</a:t>
            </a:r>
            <a:r>
              <a:rPr lang="en-US" dirty="0">
                <a:latin typeface="Times New Roman" pitchFamily="18" charset="0"/>
                <a:cs typeface="Times New Roman" pitchFamily="18" charset="0"/>
              </a:rPr>
              <a:t> This group includes </a:t>
            </a:r>
            <a:r>
              <a:rPr lang="en-US" dirty="0" err="1">
                <a:latin typeface="Times New Roman" pitchFamily="18" charset="0"/>
                <a:cs typeface="Times New Roman" pitchFamily="18" charset="0"/>
              </a:rPr>
              <a:t>boolean</a:t>
            </a:r>
            <a:r>
              <a:rPr lang="en-US" dirty="0">
                <a:latin typeface="Times New Roman" pitchFamily="18" charset="0"/>
                <a:cs typeface="Times New Roman" pitchFamily="18" charset="0"/>
              </a:rPr>
              <a:t>, which is a special type for representing true/false values.</a:t>
            </a:r>
            <a:endParaRPr dirty="0">
              <a:latin typeface="Times New Roman" pitchFamily="18" charset="0"/>
              <a:cs typeface="Times New Roman" pitchFamily="18" charset="0"/>
            </a:endParaRPr>
          </a:p>
        </p:txBody>
      </p:sp>
    </p:spTree>
    <p:extLst>
      <p:ext uri="{BB962C8B-B14F-4D97-AF65-F5344CB8AC3E}">
        <p14:creationId xmlns:p14="http://schemas.microsoft.com/office/powerpoint/2010/main" val="700668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29c65cd7469_0_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b="1" dirty="0">
                <a:latin typeface="Times New Roman" pitchFamily="18" charset="0"/>
                <a:cs typeface="Times New Roman" pitchFamily="18" charset="0"/>
              </a:rPr>
              <a:t>Integers</a:t>
            </a:r>
            <a:endParaRPr sz="3600" b="1" dirty="0">
              <a:latin typeface="Times New Roman" pitchFamily="18" charset="0"/>
              <a:cs typeface="Times New Roman" pitchFamily="18" charset="0"/>
            </a:endParaRPr>
          </a:p>
        </p:txBody>
      </p:sp>
      <p:sp>
        <p:nvSpPr>
          <p:cNvPr id="428" name="Google Shape;428;g29c65cd7469_0_60"/>
          <p:cNvSpPr txBox="1">
            <a:spLocks noGrp="1"/>
          </p:cNvSpPr>
          <p:nvPr>
            <p:ph type="body" idx="1"/>
          </p:nvPr>
        </p:nvSpPr>
        <p:spPr>
          <a:xfrm>
            <a:off x="407368" y="1700808"/>
            <a:ext cx="11161240" cy="4351200"/>
          </a:xfrm>
          <a:prstGeom prst="rect">
            <a:avLst/>
          </a:prstGeom>
        </p:spPr>
        <p:txBody>
          <a:bodyPr spcFirstLastPara="1" wrap="square" lIns="91425" tIns="45700" rIns="91425" bIns="45700" anchor="t" anchorCtr="0">
            <a:normAutofit/>
          </a:bodyPr>
          <a:lstStyle/>
          <a:p>
            <a:pPr indent="-457200" algn="just"/>
            <a:r>
              <a:rPr lang="en-US" dirty="0">
                <a:latin typeface="Times New Roman" pitchFamily="18" charset="0"/>
                <a:cs typeface="Times New Roman" pitchFamily="18" charset="0"/>
              </a:rPr>
              <a:t>Java defines four integer types: byte, short,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and long. All of these are signed, positive and negative values. </a:t>
            </a:r>
            <a:endParaRPr dirty="0">
              <a:latin typeface="Times New Roman" pitchFamily="18" charset="0"/>
              <a:cs typeface="Times New Roman" pitchFamily="18" charset="0"/>
            </a:endParaRPr>
          </a:p>
          <a:p>
            <a:pPr indent="-457200" algn="just"/>
            <a:r>
              <a:rPr lang="en-US" dirty="0">
                <a:latin typeface="Times New Roman" pitchFamily="18" charset="0"/>
                <a:cs typeface="Times New Roman" pitchFamily="18" charset="0"/>
              </a:rPr>
              <a:t>Java does not support unsigned values. Java’s designers felt that unsigned integers were unnecessary.</a:t>
            </a:r>
            <a:endParaRPr dirty="0">
              <a:latin typeface="Times New Roman" pitchFamily="18" charset="0"/>
              <a:cs typeface="Times New Roman" pitchFamily="18" charset="0"/>
            </a:endParaRPr>
          </a:p>
        </p:txBody>
      </p:sp>
      <p:pic>
        <p:nvPicPr>
          <p:cNvPr id="429" name="Google Shape;429;g29c65cd7469_0_60"/>
          <p:cNvPicPr preferRelativeResize="0"/>
          <p:nvPr/>
        </p:nvPicPr>
        <p:blipFill>
          <a:blip r:embed="rId3">
            <a:alphaModFix/>
          </a:blip>
          <a:stretch>
            <a:fillRect/>
          </a:stretch>
        </p:blipFill>
        <p:spPr>
          <a:xfrm>
            <a:off x="115125" y="3737150"/>
            <a:ext cx="11791799" cy="3031725"/>
          </a:xfrm>
          <a:prstGeom prst="rect">
            <a:avLst/>
          </a:prstGeom>
          <a:noFill/>
          <a:ln>
            <a:noFill/>
          </a:ln>
        </p:spPr>
      </p:pic>
    </p:spTree>
    <p:extLst>
      <p:ext uri="{BB962C8B-B14F-4D97-AF65-F5344CB8AC3E}">
        <p14:creationId xmlns:p14="http://schemas.microsoft.com/office/powerpoint/2010/main" val="249722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g29c65cd7469_0_6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byte</a:t>
            </a:r>
            <a:endParaRPr/>
          </a:p>
        </p:txBody>
      </p:sp>
      <p:sp>
        <p:nvSpPr>
          <p:cNvPr id="435" name="Google Shape;435;g29c65cd7469_0_69"/>
          <p:cNvSpPr txBox="1">
            <a:spLocks noGrp="1"/>
          </p:cNvSpPr>
          <p:nvPr>
            <p:ph type="body" idx="1"/>
          </p:nvPr>
        </p:nvSpPr>
        <p:spPr>
          <a:xfrm>
            <a:off x="246700" y="1595275"/>
            <a:ext cx="11693100" cy="4581600"/>
          </a:xfrm>
          <a:prstGeom prst="rect">
            <a:avLst/>
          </a:prstGeom>
        </p:spPr>
        <p:txBody>
          <a:bodyPr spcFirstLastPara="1" wrap="square" lIns="91425" tIns="45700" rIns="91425" bIns="45700" anchor="t" anchorCtr="0">
            <a:normAutofit lnSpcReduction="10000"/>
          </a:bodyPr>
          <a:lstStyle/>
          <a:p>
            <a:pPr marL="457200" lvl="0" indent="-342900" algn="just" rtl="0">
              <a:lnSpc>
                <a:spcPct val="150000"/>
              </a:lnSpc>
              <a:spcBef>
                <a:spcPts val="1000"/>
              </a:spcBef>
              <a:spcAft>
                <a:spcPts val="0"/>
              </a:spcAft>
              <a:buSzPts val="1800"/>
              <a:buChar char="•"/>
            </a:pPr>
            <a:r>
              <a:rPr lang="en-US"/>
              <a:t>The smallest integer type is byte. </a:t>
            </a:r>
            <a:endParaRPr/>
          </a:p>
          <a:p>
            <a:pPr marL="457200" lvl="0" indent="-342900" algn="just" rtl="0">
              <a:lnSpc>
                <a:spcPct val="150000"/>
              </a:lnSpc>
              <a:spcBef>
                <a:spcPts val="0"/>
              </a:spcBef>
              <a:spcAft>
                <a:spcPts val="0"/>
              </a:spcAft>
              <a:buSzPts val="1800"/>
              <a:buChar char="•"/>
            </a:pPr>
            <a:r>
              <a:rPr lang="en-US"/>
              <a:t>This is a signed 8-bit type that has a range from </a:t>
            </a:r>
            <a:r>
              <a:rPr lang="en-US" b="1"/>
              <a:t>–128 to 127. </a:t>
            </a:r>
            <a:endParaRPr b="1"/>
          </a:p>
          <a:p>
            <a:pPr marL="457200" lvl="0" indent="-342900" algn="just" rtl="0">
              <a:lnSpc>
                <a:spcPct val="150000"/>
              </a:lnSpc>
              <a:spcBef>
                <a:spcPts val="0"/>
              </a:spcBef>
              <a:spcAft>
                <a:spcPts val="0"/>
              </a:spcAft>
              <a:buSzPts val="1800"/>
              <a:buChar char="•"/>
            </a:pPr>
            <a:r>
              <a:rPr lang="en-US"/>
              <a:t>Variables of type byte are especially useful when you’re working with a stream of data from a network or file. </a:t>
            </a:r>
            <a:endParaRPr/>
          </a:p>
          <a:p>
            <a:pPr marL="457200" lvl="0" indent="-342900" algn="just" rtl="0">
              <a:lnSpc>
                <a:spcPct val="150000"/>
              </a:lnSpc>
              <a:spcBef>
                <a:spcPts val="0"/>
              </a:spcBef>
              <a:spcAft>
                <a:spcPts val="0"/>
              </a:spcAft>
              <a:buSzPts val="1800"/>
              <a:buChar char="•"/>
            </a:pPr>
            <a:r>
              <a:rPr lang="en-US"/>
              <a:t>Byte variables are declared by use of the</a:t>
            </a:r>
            <a:r>
              <a:rPr lang="en-US" b="1"/>
              <a:t> byte keyword. </a:t>
            </a:r>
            <a:endParaRPr b="1"/>
          </a:p>
          <a:p>
            <a:pPr marL="457200" lvl="0" indent="-342900" algn="just" rtl="0">
              <a:lnSpc>
                <a:spcPct val="150000"/>
              </a:lnSpc>
              <a:spcBef>
                <a:spcPts val="0"/>
              </a:spcBef>
              <a:spcAft>
                <a:spcPts val="0"/>
              </a:spcAft>
              <a:buSzPts val="1800"/>
              <a:buChar char="•"/>
            </a:pPr>
            <a:r>
              <a:rPr lang="en-US"/>
              <a:t>For example, the following declares two byte variables called b and c: </a:t>
            </a:r>
            <a:endParaRPr/>
          </a:p>
          <a:p>
            <a:pPr marL="457200" lvl="0" indent="-342900" algn="just" rtl="0">
              <a:lnSpc>
                <a:spcPct val="150000"/>
              </a:lnSpc>
              <a:spcBef>
                <a:spcPts val="0"/>
              </a:spcBef>
              <a:spcAft>
                <a:spcPts val="0"/>
              </a:spcAft>
              <a:buSzPts val="1800"/>
              <a:buChar char="•"/>
            </a:pPr>
            <a:r>
              <a:rPr lang="en-US" b="1"/>
              <a:t>byte b, c;</a:t>
            </a:r>
            <a:endParaRPr b="1"/>
          </a:p>
        </p:txBody>
      </p:sp>
    </p:spTree>
    <p:extLst>
      <p:ext uri="{BB962C8B-B14F-4D97-AF65-F5344CB8AC3E}">
        <p14:creationId xmlns:p14="http://schemas.microsoft.com/office/powerpoint/2010/main" val="2913296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29c65cd7469_0_7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1000"/>
              </a:spcBef>
              <a:spcAft>
                <a:spcPts val="0"/>
              </a:spcAft>
              <a:buClr>
                <a:schemeClr val="dk1"/>
              </a:buClr>
              <a:buSzPts val="1100"/>
              <a:buFont typeface="Arial"/>
              <a:buNone/>
            </a:pPr>
            <a:r>
              <a:rPr lang="en-US" sz="4500" b="1"/>
              <a:t>short </a:t>
            </a:r>
            <a:endParaRPr sz="6100" b="1"/>
          </a:p>
        </p:txBody>
      </p:sp>
      <p:sp>
        <p:nvSpPr>
          <p:cNvPr id="441" name="Google Shape;441;g29c65cd7469_0_76"/>
          <p:cNvSpPr txBox="1">
            <a:spLocks noGrp="1"/>
          </p:cNvSpPr>
          <p:nvPr>
            <p:ph type="body" idx="1"/>
          </p:nvPr>
        </p:nvSpPr>
        <p:spPr>
          <a:xfrm>
            <a:off x="838200" y="1496600"/>
            <a:ext cx="10515600" cy="4680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short is a signed </a:t>
            </a:r>
            <a:r>
              <a:rPr lang="en-US" b="1"/>
              <a:t>16-bit type.</a:t>
            </a:r>
            <a:r>
              <a:rPr lang="en-US"/>
              <a:t> </a:t>
            </a:r>
            <a:endParaRPr/>
          </a:p>
          <a:p>
            <a:pPr marL="0" lvl="0" indent="0" algn="l" rtl="0">
              <a:spcBef>
                <a:spcPts val="1000"/>
              </a:spcBef>
              <a:spcAft>
                <a:spcPts val="0"/>
              </a:spcAft>
              <a:buNone/>
            </a:pPr>
            <a:r>
              <a:rPr lang="en-US"/>
              <a:t>It has a range from </a:t>
            </a:r>
            <a:r>
              <a:rPr lang="en-US" b="1"/>
              <a:t>–32,768 to 32,767.</a:t>
            </a:r>
            <a:r>
              <a:rPr lang="en-US"/>
              <a:t> </a:t>
            </a:r>
            <a:endParaRPr/>
          </a:p>
          <a:p>
            <a:pPr marL="0" lvl="0" indent="0" algn="l" rtl="0">
              <a:spcBef>
                <a:spcPts val="1000"/>
              </a:spcBef>
              <a:spcAft>
                <a:spcPts val="0"/>
              </a:spcAft>
              <a:buNone/>
            </a:pPr>
            <a:r>
              <a:rPr lang="en-US"/>
              <a:t>It is probably the least-used Java type. </a:t>
            </a:r>
            <a:endParaRPr/>
          </a:p>
          <a:p>
            <a:pPr marL="0" lvl="0" indent="0" algn="l" rtl="0">
              <a:spcBef>
                <a:spcPts val="1000"/>
              </a:spcBef>
              <a:spcAft>
                <a:spcPts val="0"/>
              </a:spcAft>
              <a:buNone/>
            </a:pPr>
            <a:r>
              <a:rPr lang="en-US"/>
              <a:t>Here are some examples of short variable declarations: </a:t>
            </a:r>
            <a:endParaRPr/>
          </a:p>
          <a:p>
            <a:pPr marL="0" lvl="0" indent="0" algn="l" rtl="0">
              <a:spcBef>
                <a:spcPts val="1000"/>
              </a:spcBef>
              <a:spcAft>
                <a:spcPts val="0"/>
              </a:spcAft>
              <a:buNone/>
            </a:pPr>
            <a:r>
              <a:rPr lang="en-US" b="1"/>
              <a:t>short s; </a:t>
            </a:r>
            <a:endParaRPr b="1"/>
          </a:p>
          <a:p>
            <a:pPr marL="0" lvl="0" indent="0" algn="l" rtl="0">
              <a:spcBef>
                <a:spcPts val="1000"/>
              </a:spcBef>
              <a:spcAft>
                <a:spcPts val="0"/>
              </a:spcAft>
              <a:buNone/>
            </a:pPr>
            <a:r>
              <a:rPr lang="en-US" b="1"/>
              <a:t>short t;</a:t>
            </a:r>
            <a:endParaRPr b="1"/>
          </a:p>
        </p:txBody>
      </p:sp>
    </p:spTree>
    <p:extLst>
      <p:ext uri="{BB962C8B-B14F-4D97-AF65-F5344CB8AC3E}">
        <p14:creationId xmlns:p14="http://schemas.microsoft.com/office/powerpoint/2010/main" val="2184467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g29c65cd7469_0_8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 </a:t>
            </a:r>
            <a:endParaRPr/>
          </a:p>
        </p:txBody>
      </p:sp>
      <p:sp>
        <p:nvSpPr>
          <p:cNvPr id="447" name="Google Shape;447;g29c65cd7469_0_82"/>
          <p:cNvSpPr txBox="1">
            <a:spLocks noGrp="1"/>
          </p:cNvSpPr>
          <p:nvPr>
            <p:ph type="body" idx="1"/>
          </p:nvPr>
        </p:nvSpPr>
        <p:spPr>
          <a:xfrm>
            <a:off x="838200" y="1384300"/>
            <a:ext cx="10515600" cy="4792500"/>
          </a:xfrm>
          <a:prstGeom prst="rect">
            <a:avLst/>
          </a:prstGeom>
        </p:spPr>
        <p:txBody>
          <a:bodyPr spcFirstLastPara="1" wrap="square" lIns="91425" tIns="45700" rIns="91425" bIns="45700" anchor="t" anchorCtr="0">
            <a:normAutofit fontScale="92500" lnSpcReduction="10000"/>
          </a:bodyPr>
          <a:lstStyle/>
          <a:p>
            <a:pPr marL="0" lvl="0" indent="0" algn="just" rtl="0">
              <a:spcBef>
                <a:spcPts val="1000"/>
              </a:spcBef>
              <a:spcAft>
                <a:spcPts val="0"/>
              </a:spcAft>
              <a:buNone/>
            </a:pPr>
            <a:r>
              <a:rPr lang="en-US"/>
              <a:t>The </a:t>
            </a:r>
            <a:r>
              <a:rPr lang="en-US" b="1"/>
              <a:t>most commonly used</a:t>
            </a:r>
            <a:r>
              <a:rPr lang="en-US"/>
              <a:t> integer type is int. </a:t>
            </a:r>
            <a:endParaRPr/>
          </a:p>
          <a:p>
            <a:pPr marL="0" lvl="0" indent="0" algn="just" rtl="0">
              <a:spcBef>
                <a:spcPts val="1000"/>
              </a:spcBef>
              <a:spcAft>
                <a:spcPts val="0"/>
              </a:spcAft>
              <a:buNone/>
            </a:pPr>
            <a:r>
              <a:rPr lang="en-US"/>
              <a:t>It is a signed 32-bit type that has a range from </a:t>
            </a:r>
            <a:r>
              <a:rPr lang="en-US" b="1"/>
              <a:t>–2,147,483,648 to 2,147,483,647. </a:t>
            </a:r>
            <a:endParaRPr b="1"/>
          </a:p>
          <a:p>
            <a:pPr marL="0" lvl="0" indent="0" algn="just" rtl="0">
              <a:spcBef>
                <a:spcPts val="1000"/>
              </a:spcBef>
              <a:spcAft>
                <a:spcPts val="0"/>
              </a:spcAft>
              <a:buNone/>
            </a:pPr>
            <a:r>
              <a:rPr lang="en-US"/>
              <a:t>Variables of type int are commonly employed to control </a:t>
            </a:r>
            <a:r>
              <a:rPr lang="en-US" b="1"/>
              <a:t>loops</a:t>
            </a:r>
            <a:r>
              <a:rPr lang="en-US"/>
              <a:t> and to </a:t>
            </a:r>
            <a:r>
              <a:rPr lang="en-US" b="1"/>
              <a:t>index arrays. </a:t>
            </a:r>
            <a:endParaRPr b="1"/>
          </a:p>
          <a:p>
            <a:pPr marL="0" lvl="0" indent="0" algn="just" rtl="0">
              <a:spcBef>
                <a:spcPts val="1000"/>
              </a:spcBef>
              <a:spcAft>
                <a:spcPts val="0"/>
              </a:spcAft>
              <a:buNone/>
            </a:pPr>
            <a:r>
              <a:rPr lang="en-US"/>
              <a:t>Although you might think that using a byte or short would be more efficient than using an int in situations in which the larger range of an int is not needed, this may not be the case. </a:t>
            </a:r>
            <a:endParaRPr/>
          </a:p>
          <a:p>
            <a:pPr marL="0" lvl="0" indent="0" algn="just" rtl="0">
              <a:spcBef>
                <a:spcPts val="1000"/>
              </a:spcBef>
              <a:spcAft>
                <a:spcPts val="0"/>
              </a:spcAft>
              <a:buNone/>
            </a:pPr>
            <a:r>
              <a:rPr lang="en-US"/>
              <a:t>The reason is that when byte and short values are used in an expression, they are promoted to int when the expression is evaluated. (Type promotion is described later in this chapter.) </a:t>
            </a:r>
            <a:endParaRPr/>
          </a:p>
          <a:p>
            <a:pPr marL="0" lvl="0" indent="0" algn="just" rtl="0">
              <a:spcBef>
                <a:spcPts val="1000"/>
              </a:spcBef>
              <a:spcAft>
                <a:spcPts val="0"/>
              </a:spcAft>
              <a:buNone/>
            </a:pPr>
            <a:r>
              <a:rPr lang="en-US"/>
              <a:t>Therefore, </a:t>
            </a:r>
            <a:r>
              <a:rPr lang="en-US" b="1"/>
              <a:t>int is often the best choice</a:t>
            </a:r>
            <a:r>
              <a:rPr lang="en-US"/>
              <a:t> when an integer is needed.</a:t>
            </a:r>
            <a:endParaRPr/>
          </a:p>
        </p:txBody>
      </p:sp>
    </p:spTree>
    <p:extLst>
      <p:ext uri="{BB962C8B-B14F-4D97-AF65-F5344CB8AC3E}">
        <p14:creationId xmlns:p14="http://schemas.microsoft.com/office/powerpoint/2010/main" val="145248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g29c65cd7469_0_8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long</a:t>
            </a:r>
            <a:endParaRPr/>
          </a:p>
        </p:txBody>
      </p:sp>
      <p:sp>
        <p:nvSpPr>
          <p:cNvPr id="453" name="Google Shape;453;g29c65cd7469_0_89"/>
          <p:cNvSpPr txBox="1">
            <a:spLocks noGrp="1"/>
          </p:cNvSpPr>
          <p:nvPr>
            <p:ph type="body" idx="1"/>
          </p:nvPr>
        </p:nvSpPr>
        <p:spPr>
          <a:xfrm>
            <a:off x="838200" y="1409700"/>
            <a:ext cx="10515600" cy="4767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long is a </a:t>
            </a:r>
            <a:r>
              <a:rPr lang="en-US" b="1"/>
              <a:t>signed 64-bit type</a:t>
            </a:r>
            <a:r>
              <a:rPr lang="en-US"/>
              <a:t> and is useful for those occasions where an int type is not large enough to hold the desired value. </a:t>
            </a:r>
            <a:endParaRPr/>
          </a:p>
          <a:p>
            <a:pPr marL="0" lvl="0" indent="0" algn="l" rtl="0">
              <a:spcBef>
                <a:spcPts val="1000"/>
              </a:spcBef>
              <a:spcAft>
                <a:spcPts val="0"/>
              </a:spcAft>
              <a:buNone/>
            </a:pPr>
            <a:r>
              <a:rPr lang="en-US"/>
              <a:t>The range of a long is quite large. This makes it useful </a:t>
            </a:r>
            <a:r>
              <a:rPr lang="en-US" b="1"/>
              <a:t>when big, whole numbers are needed.</a:t>
            </a:r>
            <a:endParaRPr b="1"/>
          </a:p>
        </p:txBody>
      </p:sp>
    </p:spTree>
    <p:extLst>
      <p:ext uri="{BB962C8B-B14F-4D97-AF65-F5344CB8AC3E}">
        <p14:creationId xmlns:p14="http://schemas.microsoft.com/office/powerpoint/2010/main" val="995256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g29c65cd7469_0_110"/>
          <p:cNvSpPr txBox="1">
            <a:spLocks noGrp="1"/>
          </p:cNvSpPr>
          <p:nvPr>
            <p:ph type="title"/>
          </p:nvPr>
        </p:nvSpPr>
        <p:spPr>
          <a:xfrm>
            <a:off x="839788" y="457200"/>
            <a:ext cx="3932100" cy="16002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1100"/>
              <a:buFont typeface="Arial"/>
              <a:buNone/>
            </a:pPr>
            <a:r>
              <a:rPr lang="en-US" sz="4400"/>
              <a:t>long </a:t>
            </a:r>
            <a:endParaRPr/>
          </a:p>
        </p:txBody>
      </p:sp>
      <p:sp>
        <p:nvSpPr>
          <p:cNvPr id="459" name="Google Shape;459;g29c65cd7469_0_110"/>
          <p:cNvSpPr>
            <a:spLocks noGrp="1"/>
          </p:cNvSpPr>
          <p:nvPr>
            <p:ph type="pic" idx="2"/>
          </p:nvPr>
        </p:nvSpPr>
        <p:spPr>
          <a:xfrm>
            <a:off x="5183188" y="987425"/>
            <a:ext cx="6172200" cy="4873500"/>
          </a:xfrm>
          <a:prstGeom prst="rect">
            <a:avLst/>
          </a:prstGeom>
        </p:spPr>
      </p:sp>
      <p:sp>
        <p:nvSpPr>
          <p:cNvPr id="460" name="Google Shape;460;g29c65cd7469_0_110"/>
          <p:cNvSpPr txBox="1">
            <a:spLocks noGrp="1"/>
          </p:cNvSpPr>
          <p:nvPr>
            <p:ph type="body" idx="1"/>
          </p:nvPr>
        </p:nvSpPr>
        <p:spPr>
          <a:xfrm>
            <a:off x="839788" y="2057400"/>
            <a:ext cx="3932100" cy="38115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Clr>
                <a:schemeClr val="dk1"/>
              </a:buClr>
              <a:buSzPts val="1100"/>
              <a:buFont typeface="Arial"/>
              <a:buNone/>
            </a:pPr>
            <a:r>
              <a:rPr lang="en-US" sz="2800"/>
              <a:t>For example, here is a program that computes the number of miles that light will travel in a specified number of days: </a:t>
            </a:r>
            <a:endParaRPr sz="2800"/>
          </a:p>
          <a:p>
            <a:pPr marL="0" lvl="0" indent="0" algn="l" rtl="0">
              <a:spcBef>
                <a:spcPts val="1000"/>
              </a:spcBef>
              <a:spcAft>
                <a:spcPts val="0"/>
              </a:spcAft>
              <a:buNone/>
            </a:pPr>
            <a:endParaRPr/>
          </a:p>
        </p:txBody>
      </p:sp>
      <p:pic>
        <p:nvPicPr>
          <p:cNvPr id="461" name="Google Shape;461;g29c65cd7469_0_110"/>
          <p:cNvPicPr preferRelativeResize="0"/>
          <p:nvPr/>
        </p:nvPicPr>
        <p:blipFill>
          <a:blip r:embed="rId3">
            <a:alphaModFix/>
          </a:blip>
          <a:stretch>
            <a:fillRect/>
          </a:stretch>
        </p:blipFill>
        <p:spPr>
          <a:xfrm>
            <a:off x="5232350" y="771800"/>
            <a:ext cx="6286552" cy="5097100"/>
          </a:xfrm>
          <a:prstGeom prst="rect">
            <a:avLst/>
          </a:prstGeom>
          <a:noFill/>
          <a:ln w="9525" cap="flat" cmpd="sng">
            <a:solidFill>
              <a:schemeClr val="dk2"/>
            </a:solidFill>
            <a:prstDash val="solid"/>
            <a:round/>
            <a:headEnd type="none" w="sm" len="sm"/>
            <a:tailEnd type="none" w="sm" len="sm"/>
          </a:ln>
        </p:spPr>
      </p:pic>
    </p:spTree>
    <p:extLst>
      <p:ext uri="{BB962C8B-B14F-4D97-AF65-F5344CB8AC3E}">
        <p14:creationId xmlns:p14="http://schemas.microsoft.com/office/powerpoint/2010/main" val="962043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g29c65cd7469_0_1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Floating-Point Types </a:t>
            </a:r>
            <a:endParaRPr/>
          </a:p>
        </p:txBody>
      </p:sp>
      <p:sp>
        <p:nvSpPr>
          <p:cNvPr id="467" name="Google Shape;467;g29c65cd7469_0_123"/>
          <p:cNvSpPr txBox="1">
            <a:spLocks noGrp="1"/>
          </p:cNvSpPr>
          <p:nvPr>
            <p:ph type="body" idx="1"/>
          </p:nvPr>
        </p:nvSpPr>
        <p:spPr>
          <a:xfrm>
            <a:off x="838200" y="1498600"/>
            <a:ext cx="10515600" cy="4627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Also known as </a:t>
            </a:r>
            <a:r>
              <a:rPr lang="en-US" b="1"/>
              <a:t>real numbers.</a:t>
            </a:r>
            <a:endParaRPr b="1"/>
          </a:p>
          <a:p>
            <a:pPr marL="0" lvl="0" indent="0" algn="l" rtl="0">
              <a:spcBef>
                <a:spcPts val="1000"/>
              </a:spcBef>
              <a:spcAft>
                <a:spcPts val="0"/>
              </a:spcAft>
              <a:buNone/>
            </a:pPr>
            <a:r>
              <a:rPr lang="en-US"/>
              <a:t>Used when evaluating expressions that require </a:t>
            </a:r>
            <a:r>
              <a:rPr lang="en-US" b="1"/>
              <a:t>fractional precision. </a:t>
            </a:r>
            <a:endParaRPr b="1"/>
          </a:p>
          <a:p>
            <a:pPr marL="0" lvl="0" indent="0" algn="l" rtl="0">
              <a:spcBef>
                <a:spcPts val="1000"/>
              </a:spcBef>
              <a:spcAft>
                <a:spcPts val="0"/>
              </a:spcAft>
              <a:buNone/>
            </a:pPr>
            <a:r>
              <a:rPr lang="en-US"/>
              <a:t>For example, calculations such as </a:t>
            </a:r>
            <a:r>
              <a:rPr lang="en-US" b="1"/>
              <a:t>square root,  sine and cosine.</a:t>
            </a:r>
            <a:endParaRPr b="1"/>
          </a:p>
          <a:p>
            <a:pPr marL="0" lvl="0" indent="0" algn="l" rtl="0">
              <a:spcBef>
                <a:spcPts val="1000"/>
              </a:spcBef>
              <a:spcAft>
                <a:spcPts val="0"/>
              </a:spcAft>
              <a:buNone/>
            </a:pPr>
            <a:r>
              <a:rPr lang="en-US"/>
              <a:t> Java implements the standard </a:t>
            </a:r>
            <a:r>
              <a:rPr lang="en-US" b="1"/>
              <a:t>(IEEE– 754) </a:t>
            </a:r>
            <a:r>
              <a:rPr lang="en-US"/>
              <a:t>set of floating-point types and operators. </a:t>
            </a:r>
            <a:endParaRPr/>
          </a:p>
          <a:p>
            <a:pPr marL="0" lvl="0" indent="0" algn="l" rtl="0">
              <a:spcBef>
                <a:spcPts val="1000"/>
              </a:spcBef>
              <a:spcAft>
                <a:spcPts val="0"/>
              </a:spcAft>
              <a:buNone/>
            </a:pPr>
            <a:r>
              <a:rPr lang="en-US"/>
              <a:t>There are two kinds of floatingpoint types, </a:t>
            </a:r>
            <a:endParaRPr/>
          </a:p>
          <a:p>
            <a:pPr marL="0" lvl="0" indent="0" algn="l" rtl="0">
              <a:spcBef>
                <a:spcPts val="1000"/>
              </a:spcBef>
              <a:spcAft>
                <a:spcPts val="0"/>
              </a:spcAft>
              <a:buNone/>
            </a:pPr>
            <a:r>
              <a:rPr lang="en-US" b="1"/>
              <a:t>float (single-precision) and</a:t>
            </a:r>
            <a:endParaRPr b="1"/>
          </a:p>
          <a:p>
            <a:pPr marL="0" lvl="0" indent="0" algn="l" rtl="0">
              <a:spcBef>
                <a:spcPts val="1000"/>
              </a:spcBef>
              <a:spcAft>
                <a:spcPts val="0"/>
              </a:spcAft>
              <a:buNone/>
            </a:pPr>
            <a:r>
              <a:rPr lang="en-US" b="1"/>
              <a:t>double (double-precision), </a:t>
            </a:r>
            <a:endParaRPr b="1"/>
          </a:p>
          <a:p>
            <a:pPr marL="0" lvl="0" indent="0" algn="l" rtl="0">
              <a:spcBef>
                <a:spcPts val="1000"/>
              </a:spcBef>
              <a:spcAft>
                <a:spcPts val="0"/>
              </a:spcAft>
              <a:buNone/>
            </a:pPr>
            <a:r>
              <a:rPr lang="en-US"/>
              <a:t>Their width and ranges are shown here:</a:t>
            </a:r>
            <a:endParaRPr/>
          </a:p>
        </p:txBody>
      </p:sp>
      <p:pic>
        <p:nvPicPr>
          <p:cNvPr id="468" name="Google Shape;468;g29c65cd7469_0_123"/>
          <p:cNvPicPr preferRelativeResize="0"/>
          <p:nvPr/>
        </p:nvPicPr>
        <p:blipFill>
          <a:blip r:embed="rId3">
            <a:alphaModFix/>
          </a:blip>
          <a:stretch>
            <a:fillRect/>
          </a:stretch>
        </p:blipFill>
        <p:spPr>
          <a:xfrm>
            <a:off x="7327425" y="5574350"/>
            <a:ext cx="4597874" cy="978850"/>
          </a:xfrm>
          <a:prstGeom prst="rect">
            <a:avLst/>
          </a:prstGeom>
          <a:noFill/>
          <a:ln>
            <a:noFill/>
          </a:ln>
        </p:spPr>
      </p:pic>
    </p:spTree>
    <p:extLst>
      <p:ext uri="{BB962C8B-B14F-4D97-AF65-F5344CB8AC3E}">
        <p14:creationId xmlns:p14="http://schemas.microsoft.com/office/powerpoint/2010/main" val="1491207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g29c65cd7469_0_1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a:t>float</a:t>
            </a:r>
            <a:endParaRPr b="1"/>
          </a:p>
        </p:txBody>
      </p:sp>
      <p:sp>
        <p:nvSpPr>
          <p:cNvPr id="474" name="Google Shape;474;g29c65cd7469_0_1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just" rtl="0">
              <a:spcBef>
                <a:spcPts val="1000"/>
              </a:spcBef>
              <a:spcAft>
                <a:spcPts val="0"/>
              </a:spcAft>
              <a:buNone/>
            </a:pPr>
            <a:r>
              <a:rPr lang="en-US"/>
              <a:t>The type float specifies a </a:t>
            </a:r>
            <a:r>
              <a:rPr lang="en-US" b="1"/>
              <a:t>single-precision</a:t>
            </a:r>
            <a:r>
              <a:rPr lang="en-US"/>
              <a:t> value that uses 32 bits of storage. </a:t>
            </a:r>
            <a:endParaRPr/>
          </a:p>
          <a:p>
            <a:pPr marL="0" lvl="0" indent="0" algn="just" rtl="0">
              <a:spcBef>
                <a:spcPts val="1000"/>
              </a:spcBef>
              <a:spcAft>
                <a:spcPts val="0"/>
              </a:spcAft>
              <a:buNone/>
            </a:pPr>
            <a:r>
              <a:rPr lang="en-US" b="1"/>
              <a:t>Single precision is faster</a:t>
            </a:r>
            <a:r>
              <a:rPr lang="en-US"/>
              <a:t> on some processors and </a:t>
            </a:r>
            <a:r>
              <a:rPr lang="en-US" b="1"/>
              <a:t>takes half as much space as double precision,</a:t>
            </a:r>
            <a:r>
              <a:rPr lang="en-US"/>
              <a:t> but will become </a:t>
            </a:r>
            <a:r>
              <a:rPr lang="en-US" b="1"/>
              <a:t>imprecise when the values are either very large or very small. </a:t>
            </a:r>
            <a:endParaRPr b="1"/>
          </a:p>
          <a:p>
            <a:pPr marL="0" lvl="0" indent="0" algn="just" rtl="0">
              <a:spcBef>
                <a:spcPts val="1000"/>
              </a:spcBef>
              <a:spcAft>
                <a:spcPts val="0"/>
              </a:spcAft>
              <a:buNone/>
            </a:pPr>
            <a:r>
              <a:rPr lang="en-US"/>
              <a:t>Variables of type float are useful when you need a fractional component, but don’t require a large degree of precision. </a:t>
            </a:r>
            <a:endParaRPr/>
          </a:p>
          <a:p>
            <a:pPr marL="0" lvl="0" indent="0" algn="just" rtl="0">
              <a:spcBef>
                <a:spcPts val="1000"/>
              </a:spcBef>
              <a:spcAft>
                <a:spcPts val="0"/>
              </a:spcAft>
              <a:buNone/>
            </a:pPr>
            <a:r>
              <a:rPr lang="en-US"/>
              <a:t>For example, float can be useful when representing dollars and cents. Here are some example float variable declarations: </a:t>
            </a:r>
            <a:endParaRPr/>
          </a:p>
          <a:p>
            <a:pPr marL="0" lvl="0" indent="0" algn="just" rtl="0">
              <a:spcBef>
                <a:spcPts val="1000"/>
              </a:spcBef>
              <a:spcAft>
                <a:spcPts val="0"/>
              </a:spcAft>
              <a:buNone/>
            </a:pPr>
            <a:r>
              <a:rPr lang="en-US" b="1"/>
              <a:t>float hightemp, lowtemp;</a:t>
            </a:r>
            <a:endParaRPr b="1"/>
          </a:p>
        </p:txBody>
      </p:sp>
    </p:spTree>
    <p:extLst>
      <p:ext uri="{BB962C8B-B14F-4D97-AF65-F5344CB8AC3E}">
        <p14:creationId xmlns:p14="http://schemas.microsoft.com/office/powerpoint/2010/main" val="390026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29c65cd7469_0_1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just" rtl="0">
              <a:spcBef>
                <a:spcPts val="0"/>
              </a:spcBef>
              <a:spcAft>
                <a:spcPts val="0"/>
              </a:spcAft>
              <a:buNone/>
            </a:pPr>
            <a:r>
              <a:rPr lang="en-US" b="1"/>
              <a:t>double</a:t>
            </a:r>
            <a:endParaRPr b="1"/>
          </a:p>
        </p:txBody>
      </p:sp>
      <p:sp>
        <p:nvSpPr>
          <p:cNvPr id="480" name="Google Shape;480;g29c65cd7469_0_13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a:t>Double precision</a:t>
            </a:r>
            <a:r>
              <a:rPr lang="en-US"/>
              <a:t>, as denoted by the double keyword, </a:t>
            </a:r>
            <a:r>
              <a:rPr lang="en-US" b="1"/>
              <a:t>uses 64 bits to store a value. </a:t>
            </a:r>
            <a:endParaRPr b="1"/>
          </a:p>
          <a:p>
            <a:pPr marL="0" lvl="0" indent="0" algn="l" rtl="0">
              <a:spcBef>
                <a:spcPts val="1000"/>
              </a:spcBef>
              <a:spcAft>
                <a:spcPts val="0"/>
              </a:spcAft>
              <a:buNone/>
            </a:pPr>
            <a:r>
              <a:rPr lang="en-US"/>
              <a:t>Double precision is </a:t>
            </a:r>
            <a:r>
              <a:rPr lang="en-US" b="1"/>
              <a:t>actually faster than single precision on some modern processors </a:t>
            </a:r>
            <a:r>
              <a:rPr lang="en-US"/>
              <a:t>that have been optimized for high-speed mathematical calculations. </a:t>
            </a:r>
            <a:endParaRPr/>
          </a:p>
          <a:p>
            <a:pPr marL="0" lvl="0" indent="0" algn="l" rtl="0">
              <a:spcBef>
                <a:spcPts val="1000"/>
              </a:spcBef>
              <a:spcAft>
                <a:spcPts val="0"/>
              </a:spcAft>
              <a:buNone/>
            </a:pPr>
            <a:r>
              <a:rPr lang="en-US"/>
              <a:t>All math functions, such as sin( ), cos( ), and sqrt( ), return </a:t>
            </a:r>
            <a:r>
              <a:rPr lang="en-US" b="1"/>
              <a:t>double values. </a:t>
            </a:r>
            <a:endParaRPr b="1"/>
          </a:p>
          <a:p>
            <a:pPr marL="0" lvl="0" indent="0" algn="l" rtl="0">
              <a:spcBef>
                <a:spcPts val="1000"/>
              </a:spcBef>
              <a:spcAft>
                <a:spcPts val="0"/>
              </a:spcAft>
              <a:buNone/>
            </a:pPr>
            <a:r>
              <a:rPr lang="en-US"/>
              <a:t>When you need to </a:t>
            </a:r>
            <a:r>
              <a:rPr lang="en-US" b="1"/>
              <a:t>maintain accuracy o</a:t>
            </a:r>
            <a:r>
              <a:rPr lang="en-US"/>
              <a:t>ver many iterative calculations, or are manipulating large-valued numbers, double is the best choice. </a:t>
            </a:r>
            <a:endParaRPr/>
          </a:p>
        </p:txBody>
      </p:sp>
    </p:spTree>
    <p:extLst>
      <p:ext uri="{BB962C8B-B14F-4D97-AF65-F5344CB8AC3E}">
        <p14:creationId xmlns:p14="http://schemas.microsoft.com/office/powerpoint/2010/main" val="3550574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29c65cd7469_0_14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double-example</a:t>
            </a:r>
            <a:endParaRPr/>
          </a:p>
        </p:txBody>
      </p:sp>
      <p:sp>
        <p:nvSpPr>
          <p:cNvPr id="486" name="Google Shape;486;g29c65cd7469_0_145"/>
          <p:cNvSpPr txBox="1">
            <a:spLocks noGrp="1"/>
          </p:cNvSpPr>
          <p:nvPr>
            <p:ph type="body" idx="1"/>
          </p:nvPr>
        </p:nvSpPr>
        <p:spPr>
          <a:xfrm>
            <a:off x="838200" y="1825625"/>
            <a:ext cx="30480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Clr>
                <a:schemeClr val="dk1"/>
              </a:buClr>
              <a:buSzPts val="1100"/>
              <a:buFont typeface="Arial"/>
              <a:buNone/>
            </a:pPr>
            <a:r>
              <a:rPr lang="en-US"/>
              <a:t>Here is a short program that uses double variables to compute the area of a circle</a:t>
            </a:r>
            <a:endParaRPr/>
          </a:p>
          <a:p>
            <a:pPr marL="0" lvl="0" indent="0" algn="l" rtl="0">
              <a:spcBef>
                <a:spcPts val="1000"/>
              </a:spcBef>
              <a:spcAft>
                <a:spcPts val="0"/>
              </a:spcAft>
              <a:buNone/>
            </a:pPr>
            <a:endParaRPr/>
          </a:p>
        </p:txBody>
      </p:sp>
      <p:pic>
        <p:nvPicPr>
          <p:cNvPr id="487" name="Google Shape;487;g29c65cd7469_0_145"/>
          <p:cNvPicPr preferRelativeResize="0"/>
          <p:nvPr/>
        </p:nvPicPr>
        <p:blipFill>
          <a:blip r:embed="rId3">
            <a:alphaModFix/>
          </a:blip>
          <a:stretch>
            <a:fillRect/>
          </a:stretch>
        </p:blipFill>
        <p:spPr>
          <a:xfrm>
            <a:off x="4635500" y="1843225"/>
            <a:ext cx="7404100" cy="3543300"/>
          </a:xfrm>
          <a:prstGeom prst="rect">
            <a:avLst/>
          </a:prstGeom>
          <a:noFill/>
          <a:ln w="9525" cap="flat" cmpd="sng">
            <a:solidFill>
              <a:schemeClr val="dk2"/>
            </a:solidFill>
            <a:prstDash val="solid"/>
            <a:round/>
            <a:headEnd type="none" w="sm" len="sm"/>
            <a:tailEnd type="none" w="sm" len="sm"/>
          </a:ln>
        </p:spPr>
      </p:pic>
    </p:spTree>
    <p:extLst>
      <p:ext uri="{BB962C8B-B14F-4D97-AF65-F5344CB8AC3E}">
        <p14:creationId xmlns:p14="http://schemas.microsoft.com/office/powerpoint/2010/main" val="704631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29c65cd7469_0_15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Characters</a:t>
            </a:r>
            <a:endParaRPr dirty="0"/>
          </a:p>
        </p:txBody>
      </p:sp>
      <p:sp>
        <p:nvSpPr>
          <p:cNvPr id="493" name="Google Shape;493;g29c65cd7469_0_151"/>
          <p:cNvSpPr txBox="1">
            <a:spLocks noGrp="1"/>
          </p:cNvSpPr>
          <p:nvPr>
            <p:ph type="body" idx="1"/>
          </p:nvPr>
        </p:nvSpPr>
        <p:spPr>
          <a:xfrm>
            <a:off x="838200" y="1596400"/>
            <a:ext cx="10515600" cy="45804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dirty="0"/>
              <a:t>In Java, the data type used to store characters is char. </a:t>
            </a:r>
            <a:endParaRPr dirty="0"/>
          </a:p>
          <a:p>
            <a:pPr marL="0" lvl="0" indent="0" algn="l" rtl="0">
              <a:spcBef>
                <a:spcPts val="1000"/>
              </a:spcBef>
              <a:spcAft>
                <a:spcPts val="0"/>
              </a:spcAft>
              <a:buNone/>
            </a:pPr>
            <a:r>
              <a:rPr lang="en-US" dirty="0"/>
              <a:t>char in Java is not the same as char in C or C++. </a:t>
            </a:r>
            <a:endParaRPr dirty="0"/>
          </a:p>
          <a:p>
            <a:pPr marL="0" lvl="0" indent="0" algn="l" rtl="0">
              <a:spcBef>
                <a:spcPts val="1000"/>
              </a:spcBef>
              <a:spcAft>
                <a:spcPts val="0"/>
              </a:spcAft>
              <a:buNone/>
            </a:pPr>
            <a:r>
              <a:rPr lang="en-US" dirty="0"/>
              <a:t>In C/C++, char is 8 bits wide.</a:t>
            </a:r>
            <a:endParaRPr dirty="0"/>
          </a:p>
          <a:p>
            <a:pPr marL="0" lvl="0" indent="0" algn="l" rtl="0">
              <a:spcBef>
                <a:spcPts val="1000"/>
              </a:spcBef>
              <a:spcAft>
                <a:spcPts val="0"/>
              </a:spcAft>
              <a:buNone/>
            </a:pPr>
            <a:r>
              <a:rPr lang="en-US" dirty="0"/>
              <a:t>Java uses </a:t>
            </a:r>
            <a:r>
              <a:rPr lang="en-US" b="1" dirty="0"/>
              <a:t>Unicode to represent characters.</a:t>
            </a:r>
            <a:r>
              <a:rPr lang="en-US" dirty="0"/>
              <a:t> </a:t>
            </a:r>
            <a:endParaRPr dirty="0"/>
          </a:p>
          <a:p>
            <a:pPr marL="0" lvl="0" indent="0" algn="l" rtl="0">
              <a:spcBef>
                <a:spcPts val="1000"/>
              </a:spcBef>
              <a:spcAft>
                <a:spcPts val="0"/>
              </a:spcAft>
              <a:buNone/>
            </a:pPr>
            <a:r>
              <a:rPr lang="en-US" dirty="0"/>
              <a:t>Unicode defines a fully international character set that can represent all of the characters found in all human languages. </a:t>
            </a:r>
            <a:endParaRPr dirty="0"/>
          </a:p>
          <a:p>
            <a:pPr marL="0" lvl="0" indent="0" algn="l" rtl="0">
              <a:spcBef>
                <a:spcPts val="1000"/>
              </a:spcBef>
              <a:spcAft>
                <a:spcPts val="0"/>
              </a:spcAft>
              <a:buNone/>
            </a:pPr>
            <a:r>
              <a:rPr lang="en-US" dirty="0"/>
              <a:t>It is a unification of dozens of character sets, such as </a:t>
            </a:r>
            <a:r>
              <a:rPr lang="en-US" b="1" dirty="0"/>
              <a:t>Latin, Greek, Arabic, Cyrillic, Hebrew, Katakana, Hangul,</a:t>
            </a:r>
            <a:r>
              <a:rPr lang="en-US" dirty="0"/>
              <a:t> and many more. </a:t>
            </a:r>
            <a:endParaRPr dirty="0"/>
          </a:p>
          <a:p>
            <a:pPr marL="0" lvl="0" indent="0" algn="just" rtl="0">
              <a:spcBef>
                <a:spcPts val="1000"/>
              </a:spcBef>
              <a:spcAft>
                <a:spcPts val="0"/>
              </a:spcAft>
              <a:buNone/>
            </a:pPr>
            <a:r>
              <a:rPr lang="en-US" dirty="0"/>
              <a:t>At the time of Java's creation, Unicode required 16 bits. Thus, in Java </a:t>
            </a:r>
            <a:r>
              <a:rPr lang="en-US" b="1" dirty="0"/>
              <a:t>char is a 16-bit type.</a:t>
            </a:r>
            <a:endParaRPr b="1" dirty="0"/>
          </a:p>
        </p:txBody>
      </p:sp>
    </p:spTree>
    <p:extLst>
      <p:ext uri="{BB962C8B-B14F-4D97-AF65-F5344CB8AC3E}">
        <p14:creationId xmlns:p14="http://schemas.microsoft.com/office/powerpoint/2010/main" val="628894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g2a026ff4b91_0_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CharDemo.java</a:t>
            </a:r>
            <a:endParaRPr/>
          </a:p>
        </p:txBody>
      </p:sp>
      <p:sp>
        <p:nvSpPr>
          <p:cNvPr id="499" name="Google Shape;499;g2a026ff4b91_0_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39285"/>
              <a:buFont typeface="Arial"/>
              <a:buNone/>
            </a:pPr>
            <a:r>
              <a:rPr lang="en-US"/>
              <a:t>/ Demonstrate char data type.</a:t>
            </a:r>
            <a:endParaRPr/>
          </a:p>
          <a:p>
            <a:pPr marL="0" lvl="0" indent="0" algn="l" rtl="0">
              <a:spcBef>
                <a:spcPts val="1000"/>
              </a:spcBef>
              <a:spcAft>
                <a:spcPts val="0"/>
              </a:spcAft>
              <a:buClr>
                <a:schemeClr val="dk1"/>
              </a:buClr>
              <a:buSzPct val="39285"/>
              <a:buFont typeface="Arial"/>
              <a:buNone/>
            </a:pPr>
            <a:r>
              <a:rPr lang="en-US"/>
              <a:t>class CharDemo {</a:t>
            </a:r>
            <a:endParaRPr/>
          </a:p>
          <a:p>
            <a:pPr marL="0" lvl="0" indent="0" algn="l" rtl="0">
              <a:spcBef>
                <a:spcPts val="1000"/>
              </a:spcBef>
              <a:spcAft>
                <a:spcPts val="0"/>
              </a:spcAft>
              <a:buClr>
                <a:schemeClr val="dk1"/>
              </a:buClr>
              <a:buSzPct val="39285"/>
              <a:buFont typeface="Arial"/>
              <a:buNone/>
            </a:pPr>
            <a:r>
              <a:rPr lang="en-US"/>
              <a:t> public static void main(String args[]) {</a:t>
            </a:r>
            <a:endParaRPr/>
          </a:p>
          <a:p>
            <a:pPr marL="0" lvl="0" indent="0" algn="l" rtl="0">
              <a:spcBef>
                <a:spcPts val="1000"/>
              </a:spcBef>
              <a:spcAft>
                <a:spcPts val="0"/>
              </a:spcAft>
              <a:buClr>
                <a:schemeClr val="dk1"/>
              </a:buClr>
              <a:buSzPct val="39285"/>
              <a:buFont typeface="Arial"/>
              <a:buNone/>
            </a:pPr>
            <a:r>
              <a:rPr lang="en-US"/>
              <a:t> char ch1, ch2;</a:t>
            </a:r>
            <a:endParaRPr/>
          </a:p>
          <a:p>
            <a:pPr marL="0" lvl="0" indent="0" algn="l" rtl="0">
              <a:spcBef>
                <a:spcPts val="1000"/>
              </a:spcBef>
              <a:spcAft>
                <a:spcPts val="0"/>
              </a:spcAft>
              <a:buClr>
                <a:schemeClr val="dk1"/>
              </a:buClr>
              <a:buSzPct val="39285"/>
              <a:buFont typeface="Arial"/>
              <a:buNone/>
            </a:pPr>
            <a:r>
              <a:rPr lang="en-US"/>
              <a:t> ch1 = 88; // code for X</a:t>
            </a:r>
            <a:endParaRPr/>
          </a:p>
          <a:p>
            <a:pPr marL="0" lvl="0" indent="0" algn="l" rtl="0">
              <a:spcBef>
                <a:spcPts val="1000"/>
              </a:spcBef>
              <a:spcAft>
                <a:spcPts val="0"/>
              </a:spcAft>
              <a:buClr>
                <a:schemeClr val="dk1"/>
              </a:buClr>
              <a:buSzPct val="39285"/>
              <a:buFont typeface="Arial"/>
              <a:buNone/>
            </a:pPr>
            <a:r>
              <a:rPr lang="en-US"/>
              <a:t> ch2 = 'Y';</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Clr>
                <a:schemeClr val="dk1"/>
              </a:buClr>
              <a:buSzPct val="39285"/>
              <a:buFont typeface="Arial"/>
              <a:buNone/>
            </a:pPr>
            <a:r>
              <a:rPr lang="en-US"/>
              <a:t> System.out.print("ch1 and ch2: ");</a:t>
            </a:r>
            <a:endParaRPr/>
          </a:p>
          <a:p>
            <a:pPr marL="0" lvl="0" indent="0" algn="l" rtl="0">
              <a:spcBef>
                <a:spcPts val="1000"/>
              </a:spcBef>
              <a:spcAft>
                <a:spcPts val="0"/>
              </a:spcAft>
              <a:buClr>
                <a:schemeClr val="dk1"/>
              </a:buClr>
              <a:buSzPct val="39285"/>
              <a:buFont typeface="Arial"/>
              <a:buNone/>
            </a:pPr>
            <a:r>
              <a:rPr lang="en-US"/>
              <a:t> System.out.println(ch1 + " " + ch2);</a:t>
            </a:r>
            <a:endParaRPr/>
          </a:p>
          <a:p>
            <a:pPr marL="0" lvl="0" indent="0" algn="l" rtl="0">
              <a:spcBef>
                <a:spcPts val="1000"/>
              </a:spcBef>
              <a:spcAft>
                <a:spcPts val="0"/>
              </a:spcAft>
              <a:buClr>
                <a:schemeClr val="dk1"/>
              </a:buClr>
              <a:buSzPct val="39285"/>
              <a:buFont typeface="Arial"/>
              <a:buNone/>
            </a:pPr>
            <a:r>
              <a:rPr lang="en-US"/>
              <a:t> }</a:t>
            </a:r>
            <a:endParaRPr/>
          </a:p>
          <a:p>
            <a:pPr marL="0" lvl="0" indent="0" algn="l" rtl="0">
              <a:spcBef>
                <a:spcPts val="1000"/>
              </a:spcBef>
              <a:spcAft>
                <a:spcPts val="0"/>
              </a:spcAft>
              <a:buClr>
                <a:schemeClr val="dk1"/>
              </a:buClr>
              <a:buSzPct val="39285"/>
              <a:buFont typeface="Arial"/>
              <a:buNone/>
            </a:pPr>
            <a:r>
              <a:rPr lang="en-US"/>
              <a:t>}</a:t>
            </a:r>
            <a:endParaRPr/>
          </a:p>
          <a:p>
            <a:pPr marL="0" lvl="0" indent="0" algn="l" rtl="0">
              <a:spcBef>
                <a:spcPts val="1000"/>
              </a:spcBef>
              <a:spcAft>
                <a:spcPts val="0"/>
              </a:spcAft>
              <a:buNone/>
            </a:pPr>
            <a:endParaRPr/>
          </a:p>
        </p:txBody>
      </p:sp>
      <p:sp>
        <p:nvSpPr>
          <p:cNvPr id="500" name="Google Shape;500;g2a026ff4b91_0_1"/>
          <p:cNvSpPr txBox="1"/>
          <p:nvPr/>
        </p:nvSpPr>
        <p:spPr>
          <a:xfrm>
            <a:off x="7020875" y="1922175"/>
            <a:ext cx="3000000" cy="1262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t> ----jGRASP exec: java CharDemo</a:t>
            </a:r>
            <a:endParaRPr/>
          </a:p>
          <a:p>
            <a:pPr marL="0" lvl="0" indent="0" algn="l" rtl="0">
              <a:spcBef>
                <a:spcPts val="0"/>
              </a:spcBef>
              <a:spcAft>
                <a:spcPts val="0"/>
              </a:spcAft>
              <a:buNone/>
            </a:pPr>
            <a:r>
              <a:rPr lang="en-US"/>
              <a:t>ch1 and ch2: X Y</a:t>
            </a:r>
            <a:endParaRPr/>
          </a:p>
          <a:p>
            <a:pPr marL="0" lvl="0" indent="0" algn="l" rtl="0">
              <a:spcBef>
                <a:spcPts val="0"/>
              </a:spcBef>
              <a:spcAft>
                <a:spcPts val="0"/>
              </a:spcAft>
              <a:buNone/>
            </a:pPr>
            <a:endParaRPr/>
          </a:p>
          <a:p>
            <a:pPr marL="0" lvl="0" indent="0" algn="l" rtl="0">
              <a:spcBef>
                <a:spcPts val="0"/>
              </a:spcBef>
              <a:spcAft>
                <a:spcPts val="0"/>
              </a:spcAft>
              <a:buNone/>
            </a:pPr>
            <a:r>
              <a:rPr lang="en-US"/>
              <a:t> ----jGRASP: operation complete.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61107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g2a026ff4b91_0_1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CharDemo2.java</a:t>
            </a:r>
            <a:endParaRPr dirty="0"/>
          </a:p>
        </p:txBody>
      </p:sp>
      <p:sp>
        <p:nvSpPr>
          <p:cNvPr id="506" name="Google Shape;506;g2a026ff4b91_0_1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Clr>
                <a:schemeClr val="dk1"/>
              </a:buClr>
              <a:buSzPct val="39285"/>
              <a:buFont typeface="Arial"/>
              <a:buNone/>
            </a:pPr>
            <a:r>
              <a:rPr lang="en-US" dirty="0"/>
              <a:t>// char variables behave like integers.</a:t>
            </a:r>
            <a:endParaRPr dirty="0"/>
          </a:p>
          <a:p>
            <a:pPr marL="0" lvl="0" indent="0" algn="l" rtl="0">
              <a:spcBef>
                <a:spcPts val="1000"/>
              </a:spcBef>
              <a:spcAft>
                <a:spcPts val="0"/>
              </a:spcAft>
              <a:buClr>
                <a:schemeClr val="dk1"/>
              </a:buClr>
              <a:buSzPct val="39285"/>
              <a:buFont typeface="Arial"/>
              <a:buNone/>
            </a:pPr>
            <a:r>
              <a:rPr lang="en-US" dirty="0"/>
              <a:t>class CharDemo2 {</a:t>
            </a:r>
            <a:endParaRPr dirty="0"/>
          </a:p>
          <a:p>
            <a:pPr marL="0" lvl="0" indent="0" algn="l" rtl="0">
              <a:spcBef>
                <a:spcPts val="1000"/>
              </a:spcBef>
              <a:spcAft>
                <a:spcPts val="0"/>
              </a:spcAft>
              <a:buClr>
                <a:schemeClr val="dk1"/>
              </a:buClr>
              <a:buSzPct val="39285"/>
              <a:buFont typeface="Arial"/>
              <a:buNone/>
            </a:pPr>
            <a:r>
              <a:rPr lang="en-US" dirty="0"/>
              <a:t> public static void main(String </a:t>
            </a:r>
            <a:r>
              <a:rPr lang="en-US" dirty="0" err="1"/>
              <a:t>args</a:t>
            </a:r>
            <a:r>
              <a:rPr lang="en-US" dirty="0"/>
              <a:t>[]) {</a:t>
            </a:r>
            <a:endParaRPr dirty="0"/>
          </a:p>
          <a:p>
            <a:pPr marL="0" lvl="0" indent="0" algn="l" rtl="0">
              <a:spcBef>
                <a:spcPts val="1000"/>
              </a:spcBef>
              <a:spcAft>
                <a:spcPts val="0"/>
              </a:spcAft>
              <a:buClr>
                <a:schemeClr val="dk1"/>
              </a:buClr>
              <a:buSzPct val="39285"/>
              <a:buFont typeface="Arial"/>
              <a:buNone/>
            </a:pPr>
            <a:r>
              <a:rPr lang="en-US" dirty="0"/>
              <a:t> char ch1;</a:t>
            </a:r>
            <a:endParaRPr dirty="0"/>
          </a:p>
          <a:p>
            <a:pPr marL="0" lvl="0" indent="0" algn="l" rtl="0">
              <a:spcBef>
                <a:spcPts val="1000"/>
              </a:spcBef>
              <a:spcAft>
                <a:spcPts val="0"/>
              </a:spcAft>
              <a:buClr>
                <a:schemeClr val="dk1"/>
              </a:buClr>
              <a:buSzPct val="39285"/>
              <a:buFont typeface="Arial"/>
              <a:buNone/>
            </a:pPr>
            <a:r>
              <a:rPr lang="en-US" dirty="0"/>
              <a:t> ch1 = 'X';</a:t>
            </a:r>
            <a:endParaRPr dirty="0"/>
          </a:p>
          <a:p>
            <a:pPr marL="0" lvl="0" indent="0" algn="l" rtl="0">
              <a:spcBef>
                <a:spcPts val="1000"/>
              </a:spcBef>
              <a:spcAft>
                <a:spcPts val="0"/>
              </a:spcAft>
              <a:buClr>
                <a:schemeClr val="dk1"/>
              </a:buClr>
              <a:buSzPct val="39285"/>
              <a:buFont typeface="Arial"/>
              <a:buNone/>
            </a:pPr>
            <a:r>
              <a:rPr lang="en-US" dirty="0"/>
              <a:t> </a:t>
            </a:r>
            <a:r>
              <a:rPr lang="en-US" dirty="0" err="1"/>
              <a:t>System.out.println</a:t>
            </a:r>
            <a:r>
              <a:rPr lang="en-US" dirty="0"/>
              <a:t>("ch1 contains " + ch1);</a:t>
            </a:r>
            <a:endParaRPr dirty="0"/>
          </a:p>
          <a:p>
            <a:pPr marL="0" lvl="0" indent="0" algn="l" rtl="0">
              <a:spcBef>
                <a:spcPts val="1000"/>
              </a:spcBef>
              <a:spcAft>
                <a:spcPts val="0"/>
              </a:spcAft>
              <a:buClr>
                <a:schemeClr val="dk1"/>
              </a:buClr>
              <a:buSzPct val="39285"/>
              <a:buFont typeface="Arial"/>
              <a:buNone/>
            </a:pPr>
            <a:r>
              <a:rPr lang="en-US" dirty="0"/>
              <a:t> ch1++; // increment ch1</a:t>
            </a:r>
            <a:endParaRPr dirty="0"/>
          </a:p>
          <a:p>
            <a:pPr marL="0" lvl="0" indent="0" algn="l" rtl="0">
              <a:spcBef>
                <a:spcPts val="1000"/>
              </a:spcBef>
              <a:spcAft>
                <a:spcPts val="0"/>
              </a:spcAft>
              <a:buClr>
                <a:schemeClr val="dk1"/>
              </a:buClr>
              <a:buSzPct val="39285"/>
              <a:buFont typeface="Arial"/>
              <a:buNone/>
            </a:pPr>
            <a:r>
              <a:rPr lang="en-US" dirty="0"/>
              <a:t> </a:t>
            </a:r>
            <a:r>
              <a:rPr lang="en-US" dirty="0" err="1"/>
              <a:t>System.out.println</a:t>
            </a:r>
            <a:r>
              <a:rPr lang="en-US" dirty="0"/>
              <a:t>("ch1 is now " + ch1);</a:t>
            </a:r>
            <a:endParaRPr dirty="0"/>
          </a:p>
          <a:p>
            <a:pPr marL="0" lvl="0" indent="0" algn="l" rtl="0">
              <a:spcBef>
                <a:spcPts val="1000"/>
              </a:spcBef>
              <a:spcAft>
                <a:spcPts val="0"/>
              </a:spcAft>
              <a:buClr>
                <a:schemeClr val="dk1"/>
              </a:buClr>
              <a:buSzPct val="39285"/>
              <a:buFont typeface="Arial"/>
              <a:buNone/>
            </a:pPr>
            <a:r>
              <a:rPr lang="en-US" dirty="0"/>
              <a:t> }</a:t>
            </a:r>
            <a:endParaRPr dirty="0"/>
          </a:p>
          <a:p>
            <a:pPr marL="0" lvl="0" indent="0" algn="l" rtl="0">
              <a:spcBef>
                <a:spcPts val="1000"/>
              </a:spcBef>
              <a:spcAft>
                <a:spcPts val="0"/>
              </a:spcAft>
              <a:buClr>
                <a:schemeClr val="dk1"/>
              </a:buClr>
              <a:buSzPct val="39285"/>
              <a:buFont typeface="Arial"/>
              <a:buNone/>
            </a:pPr>
            <a:r>
              <a:rPr lang="en-US" dirty="0"/>
              <a:t>}</a:t>
            </a:r>
            <a:endParaRPr dirty="0"/>
          </a:p>
          <a:p>
            <a:pPr marL="0" lvl="0" indent="0" algn="l" rtl="0">
              <a:spcBef>
                <a:spcPts val="1000"/>
              </a:spcBef>
              <a:spcAft>
                <a:spcPts val="0"/>
              </a:spcAft>
              <a:buNone/>
            </a:pPr>
            <a:endParaRPr dirty="0"/>
          </a:p>
        </p:txBody>
      </p:sp>
      <p:sp>
        <p:nvSpPr>
          <p:cNvPr id="507" name="Google Shape;507;g2a026ff4b91_0_10"/>
          <p:cNvSpPr txBox="1"/>
          <p:nvPr/>
        </p:nvSpPr>
        <p:spPr>
          <a:xfrm>
            <a:off x="7330400" y="2622650"/>
            <a:ext cx="3000000" cy="1477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t> ----jGRASP exec: java CharDemo2</a:t>
            </a:r>
            <a:endParaRPr/>
          </a:p>
          <a:p>
            <a:pPr marL="0" lvl="0" indent="0" algn="l" rtl="0">
              <a:spcBef>
                <a:spcPts val="0"/>
              </a:spcBef>
              <a:spcAft>
                <a:spcPts val="0"/>
              </a:spcAft>
              <a:buNone/>
            </a:pPr>
            <a:r>
              <a:rPr lang="en-US"/>
              <a:t>ch1 contains X</a:t>
            </a:r>
            <a:endParaRPr/>
          </a:p>
          <a:p>
            <a:pPr marL="0" lvl="0" indent="0" algn="l" rtl="0">
              <a:spcBef>
                <a:spcPts val="0"/>
              </a:spcBef>
              <a:spcAft>
                <a:spcPts val="0"/>
              </a:spcAft>
              <a:buNone/>
            </a:pPr>
            <a:r>
              <a:rPr lang="en-US"/>
              <a:t>ch1 is now Y</a:t>
            </a:r>
            <a:endParaRPr/>
          </a:p>
          <a:p>
            <a:pPr marL="0" lvl="0" indent="0" algn="l" rtl="0">
              <a:spcBef>
                <a:spcPts val="0"/>
              </a:spcBef>
              <a:spcAft>
                <a:spcPts val="0"/>
              </a:spcAft>
              <a:buNone/>
            </a:pPr>
            <a:endParaRPr/>
          </a:p>
          <a:p>
            <a:pPr marL="0" lvl="0" indent="0" algn="l" rtl="0">
              <a:spcBef>
                <a:spcPts val="0"/>
              </a:spcBef>
              <a:spcAft>
                <a:spcPts val="0"/>
              </a:spcAft>
              <a:buNone/>
            </a:pPr>
            <a:r>
              <a:rPr lang="en-US"/>
              <a:t> ----jGRASP: operation complete.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331266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2a026ff4b91_0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Booleans</a:t>
            </a:r>
            <a:endParaRPr/>
          </a:p>
        </p:txBody>
      </p:sp>
      <p:sp>
        <p:nvSpPr>
          <p:cNvPr id="513" name="Google Shape;513;g2a026ff4b91_0_1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Java has a primitive type, called boolean, for logical values. </a:t>
            </a:r>
            <a:endParaRPr/>
          </a:p>
          <a:p>
            <a:pPr marL="0" lvl="0" indent="0" algn="l" rtl="0">
              <a:spcBef>
                <a:spcPts val="1000"/>
              </a:spcBef>
              <a:spcAft>
                <a:spcPts val="0"/>
              </a:spcAft>
              <a:buNone/>
            </a:pPr>
            <a:r>
              <a:rPr lang="en-US"/>
              <a:t>It can have only one of two possible values, true or false.</a:t>
            </a: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Tree>
    <p:extLst>
      <p:ext uri="{BB962C8B-B14F-4D97-AF65-F5344CB8AC3E}">
        <p14:creationId xmlns:p14="http://schemas.microsoft.com/office/powerpoint/2010/main" val="3512613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2a026ff4b91_0_26"/>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BoolTest.java</a:t>
            </a:r>
            <a:endParaRPr/>
          </a:p>
        </p:txBody>
      </p:sp>
      <p:sp>
        <p:nvSpPr>
          <p:cNvPr id="519" name="Google Shape;519;g2a026ff4b91_0_26"/>
          <p:cNvSpPr txBox="1">
            <a:spLocks noGrp="1"/>
          </p:cNvSpPr>
          <p:nvPr>
            <p:ph type="body" idx="1"/>
          </p:nvPr>
        </p:nvSpPr>
        <p:spPr>
          <a:xfrm>
            <a:off x="838200" y="1026250"/>
            <a:ext cx="10515600" cy="56037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Clr>
                <a:schemeClr val="dk1"/>
              </a:buClr>
              <a:buSzPts val="523"/>
              <a:buFont typeface="Arial"/>
              <a:buNone/>
            </a:pPr>
            <a:r>
              <a:rPr lang="en-US" sz="1729" dirty="0"/>
              <a:t>// Demonstrate </a:t>
            </a:r>
            <a:r>
              <a:rPr lang="en-US" sz="1729" dirty="0" err="1"/>
              <a:t>boolean</a:t>
            </a:r>
            <a:r>
              <a:rPr lang="en-US" sz="1729" dirty="0"/>
              <a:t> values.</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class </a:t>
            </a:r>
            <a:r>
              <a:rPr lang="en-US" sz="1729" dirty="0" err="1"/>
              <a:t>BoolTest</a:t>
            </a:r>
            <a:r>
              <a:rPr lang="en-US" sz="1729" dirty="0"/>
              <a:t> {</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public static void main(String </a:t>
            </a:r>
            <a:r>
              <a:rPr lang="en-US" sz="1729" dirty="0" err="1"/>
              <a:t>args</a:t>
            </a:r>
            <a:r>
              <a:rPr lang="en-US" sz="1729" dirty="0"/>
              <a:t>[]) {</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boolean</a:t>
            </a:r>
            <a:r>
              <a:rPr lang="en-US" sz="1729" dirty="0"/>
              <a:t> b;</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b = false;</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System.out.println</a:t>
            </a:r>
            <a:r>
              <a:rPr lang="en-US" sz="1729" dirty="0"/>
              <a:t>("b is " + b);</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b = true;</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System.out.println</a:t>
            </a:r>
            <a:r>
              <a:rPr lang="en-US" sz="1729" dirty="0"/>
              <a:t>("b is " + b);</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 a </a:t>
            </a:r>
            <a:r>
              <a:rPr lang="en-US" sz="1729" dirty="0" err="1"/>
              <a:t>boolean</a:t>
            </a:r>
            <a:r>
              <a:rPr lang="en-US" sz="1729" dirty="0"/>
              <a:t> value can control the if statement</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if(b) </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System.out.println</a:t>
            </a:r>
            <a:r>
              <a:rPr lang="en-US" sz="1729" dirty="0"/>
              <a:t>("This is executed.");</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b = false;</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if(b) </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System.out.println</a:t>
            </a:r>
            <a:r>
              <a:rPr lang="en-US" sz="1729" dirty="0"/>
              <a:t>("This is not executed.");</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 outcome of a relational operator is a </a:t>
            </a:r>
            <a:r>
              <a:rPr lang="en-US" sz="1729" dirty="0" err="1"/>
              <a:t>boolean</a:t>
            </a:r>
            <a:r>
              <a:rPr lang="en-US" sz="1729" dirty="0"/>
              <a:t> value</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r>
              <a:rPr lang="en-US" sz="1729" dirty="0" err="1"/>
              <a:t>System.out.println</a:t>
            </a:r>
            <a:r>
              <a:rPr lang="en-US" sz="1729" dirty="0"/>
              <a:t>("10 &gt; 9 is " + (10 &gt; 9));</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 }</a:t>
            </a:r>
            <a:endParaRPr sz="1729" dirty="0"/>
          </a:p>
          <a:p>
            <a:pPr marL="0" lvl="0" indent="0" algn="l" rtl="0">
              <a:lnSpc>
                <a:spcPct val="70000"/>
              </a:lnSpc>
              <a:spcBef>
                <a:spcPts val="1000"/>
              </a:spcBef>
              <a:spcAft>
                <a:spcPts val="0"/>
              </a:spcAft>
              <a:buClr>
                <a:schemeClr val="dk1"/>
              </a:buClr>
              <a:buSzPts val="523"/>
              <a:buFont typeface="Arial"/>
              <a:buNone/>
            </a:pPr>
            <a:r>
              <a:rPr lang="en-US" sz="1729" dirty="0"/>
              <a:t>}</a:t>
            </a:r>
            <a:endParaRPr sz="1729" dirty="0"/>
          </a:p>
          <a:p>
            <a:pPr marL="0" lvl="0" indent="0" algn="l" rtl="0">
              <a:lnSpc>
                <a:spcPct val="70000"/>
              </a:lnSpc>
              <a:spcBef>
                <a:spcPts val="1000"/>
              </a:spcBef>
              <a:spcAft>
                <a:spcPts val="0"/>
              </a:spcAft>
              <a:buSzPts val="523"/>
              <a:buNone/>
            </a:pPr>
            <a:endParaRPr sz="1729" dirty="0"/>
          </a:p>
        </p:txBody>
      </p:sp>
      <p:sp>
        <p:nvSpPr>
          <p:cNvPr id="520" name="Google Shape;520;g2a026ff4b91_0_26"/>
          <p:cNvSpPr txBox="1"/>
          <p:nvPr/>
        </p:nvSpPr>
        <p:spPr>
          <a:xfrm>
            <a:off x="7998275" y="1726700"/>
            <a:ext cx="3000000" cy="1908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t> ----jGRASP exec: java BoolTest</a:t>
            </a:r>
            <a:endParaRPr/>
          </a:p>
          <a:p>
            <a:pPr marL="0" lvl="0" indent="0" algn="l" rtl="0">
              <a:spcBef>
                <a:spcPts val="0"/>
              </a:spcBef>
              <a:spcAft>
                <a:spcPts val="0"/>
              </a:spcAft>
              <a:buNone/>
            </a:pPr>
            <a:r>
              <a:rPr lang="en-US"/>
              <a:t>b is false</a:t>
            </a:r>
            <a:endParaRPr/>
          </a:p>
          <a:p>
            <a:pPr marL="0" lvl="0" indent="0" algn="l" rtl="0">
              <a:spcBef>
                <a:spcPts val="0"/>
              </a:spcBef>
              <a:spcAft>
                <a:spcPts val="0"/>
              </a:spcAft>
              <a:buNone/>
            </a:pPr>
            <a:r>
              <a:rPr lang="en-US"/>
              <a:t>b is true</a:t>
            </a:r>
            <a:endParaRPr/>
          </a:p>
          <a:p>
            <a:pPr marL="0" lvl="0" indent="0" algn="l" rtl="0">
              <a:spcBef>
                <a:spcPts val="0"/>
              </a:spcBef>
              <a:spcAft>
                <a:spcPts val="0"/>
              </a:spcAft>
              <a:buNone/>
            </a:pPr>
            <a:r>
              <a:rPr lang="en-US"/>
              <a:t>This is executed.</a:t>
            </a:r>
            <a:endParaRPr/>
          </a:p>
          <a:p>
            <a:pPr marL="0" lvl="0" indent="0" algn="l" rtl="0">
              <a:spcBef>
                <a:spcPts val="0"/>
              </a:spcBef>
              <a:spcAft>
                <a:spcPts val="0"/>
              </a:spcAft>
              <a:buNone/>
            </a:pPr>
            <a:r>
              <a:rPr lang="en-US"/>
              <a:t>10 &gt; 9 is true</a:t>
            </a:r>
            <a:endParaRPr/>
          </a:p>
          <a:p>
            <a:pPr marL="0" lvl="0" indent="0" algn="l" rtl="0">
              <a:spcBef>
                <a:spcPts val="0"/>
              </a:spcBef>
              <a:spcAft>
                <a:spcPts val="0"/>
              </a:spcAft>
              <a:buNone/>
            </a:pPr>
            <a:endParaRPr/>
          </a:p>
          <a:p>
            <a:pPr marL="0" lvl="0" indent="0" algn="l" rtl="0">
              <a:spcBef>
                <a:spcPts val="0"/>
              </a:spcBef>
              <a:spcAft>
                <a:spcPts val="0"/>
              </a:spcAft>
              <a:buNone/>
            </a:pPr>
            <a:r>
              <a:rPr lang="en-US"/>
              <a:t> ----jGRASP: operation complete.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6544880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a026ff4b91_0_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Integer Literals</a:t>
            </a:r>
            <a:endParaRPr/>
          </a:p>
        </p:txBody>
      </p:sp>
      <p:sp>
        <p:nvSpPr>
          <p:cNvPr id="526" name="Google Shape;526;g2a026ff4b91_0_3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Any whole number value is an integer literal. </a:t>
            </a:r>
            <a:endParaRPr/>
          </a:p>
          <a:p>
            <a:pPr marL="0" lvl="0" indent="0" algn="l" rtl="0">
              <a:spcBef>
                <a:spcPts val="1000"/>
              </a:spcBef>
              <a:spcAft>
                <a:spcPts val="0"/>
              </a:spcAft>
              <a:buNone/>
            </a:pPr>
            <a:r>
              <a:rPr lang="en-US"/>
              <a:t>Examples are 1, 2, 3, and 42. These are all decimal values, meaning they are describing a base 10 number. </a:t>
            </a:r>
            <a:endParaRPr/>
          </a:p>
          <a:p>
            <a:pPr marL="0" lvl="0" indent="0" algn="l" rtl="0">
              <a:spcBef>
                <a:spcPts val="1000"/>
              </a:spcBef>
              <a:spcAft>
                <a:spcPts val="0"/>
              </a:spcAft>
              <a:buNone/>
            </a:pPr>
            <a:r>
              <a:rPr lang="en-US"/>
              <a:t>Two other bases that can be used in integer literals are </a:t>
            </a:r>
            <a:r>
              <a:rPr lang="en-US" b="1"/>
              <a:t>octal (base eight) and hexadecimal (base 16).</a:t>
            </a:r>
            <a:endParaRPr b="1"/>
          </a:p>
          <a:p>
            <a:pPr marL="0" lvl="0" indent="0" algn="l" rtl="0">
              <a:spcBef>
                <a:spcPts val="1000"/>
              </a:spcBef>
              <a:spcAft>
                <a:spcPts val="0"/>
              </a:spcAft>
              <a:buNone/>
            </a:pPr>
            <a:r>
              <a:rPr lang="en-US"/>
              <a:t>Octal values are denoted in Java by a leading zero. </a:t>
            </a:r>
            <a:endParaRPr/>
          </a:p>
          <a:p>
            <a:pPr marL="0" lvl="0" indent="0" algn="l" rtl="0">
              <a:spcBef>
                <a:spcPts val="1000"/>
              </a:spcBef>
              <a:spcAft>
                <a:spcPts val="0"/>
              </a:spcAft>
              <a:buNone/>
            </a:pPr>
            <a:r>
              <a:rPr lang="en-US"/>
              <a:t>Normal decimal numbers cannot have a leading zero. </a:t>
            </a:r>
            <a:endParaRPr/>
          </a:p>
          <a:p>
            <a:pPr marL="0" lvl="0" indent="0" algn="l" rtl="0">
              <a:spcBef>
                <a:spcPts val="1000"/>
              </a:spcBef>
              <a:spcAft>
                <a:spcPts val="0"/>
              </a:spcAft>
              <a:buNone/>
            </a:pPr>
            <a:r>
              <a:rPr lang="en-US"/>
              <a:t>octal’s  have range from 0 to 7.</a:t>
            </a:r>
            <a:endParaRPr/>
          </a:p>
        </p:txBody>
      </p:sp>
    </p:spTree>
    <p:extLst>
      <p:ext uri="{BB962C8B-B14F-4D97-AF65-F5344CB8AC3E}">
        <p14:creationId xmlns:p14="http://schemas.microsoft.com/office/powerpoint/2010/main" val="1794712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2BC-655A-4454-9A5F-358D97D85B91}"/>
              </a:ext>
            </a:extLst>
          </p:cNvPr>
          <p:cNvSpPr>
            <a:spLocks noGrp="1"/>
          </p:cNvSpPr>
          <p:nvPr>
            <p:ph type="title"/>
          </p:nvPr>
        </p:nvSpPr>
        <p:spPr>
          <a:xfrm>
            <a:off x="839416" y="188640"/>
            <a:ext cx="10515600" cy="615603"/>
          </a:xfrm>
        </p:spPr>
        <p:txBody>
          <a:bodyPr>
            <a:normAutofit/>
          </a:bodyPr>
          <a:lstStyle/>
          <a:p>
            <a:pPr algn="ctr"/>
            <a:r>
              <a:rPr lang="en-US" sz="3200" b="1" i="0" u="none" strike="noStrike" baseline="0" dirty="0">
                <a:solidFill>
                  <a:srgbClr val="000000"/>
                </a:solidFill>
                <a:latin typeface="Times New Roman" panose="02020603050405020304" pitchFamily="18" charset="0"/>
              </a:rPr>
              <a:t>Variables </a:t>
            </a:r>
            <a:endParaRPr lang="en-US" sz="6600" dirty="0"/>
          </a:p>
        </p:txBody>
      </p:sp>
      <p:sp>
        <p:nvSpPr>
          <p:cNvPr id="3" name="Text Placeholder 2">
            <a:extLst>
              <a:ext uri="{FF2B5EF4-FFF2-40B4-BE49-F238E27FC236}">
                <a16:creationId xmlns:a16="http://schemas.microsoft.com/office/drawing/2014/main" id="{62C9156D-D44F-46A4-9E63-6F8CA67260E2}"/>
              </a:ext>
            </a:extLst>
          </p:cNvPr>
          <p:cNvSpPr>
            <a:spLocks noGrp="1"/>
          </p:cNvSpPr>
          <p:nvPr>
            <p:ph type="body" idx="1"/>
          </p:nvPr>
        </p:nvSpPr>
        <p:spPr>
          <a:xfrm>
            <a:off x="983432" y="1052736"/>
            <a:ext cx="10515600" cy="5184576"/>
          </a:xfrm>
        </p:spPr>
        <p:txBody>
          <a:bodyPr>
            <a:noAutofit/>
          </a:bodyPr>
          <a:lstStyle/>
          <a:p>
            <a:r>
              <a:rPr lang="en-US" dirty="0">
                <a:latin typeface="Times New Roman" panose="02020603050405020304" pitchFamily="18" charset="0"/>
                <a:cs typeface="Times New Roman" panose="02020603050405020304" pitchFamily="18" charset="0"/>
              </a:rPr>
              <a:t>The variable is the basic </a:t>
            </a:r>
            <a:r>
              <a:rPr lang="en-US" dirty="0">
                <a:solidFill>
                  <a:srgbClr val="FF0000"/>
                </a:solidFill>
                <a:latin typeface="Times New Roman" panose="02020603050405020304" pitchFamily="18" charset="0"/>
                <a:cs typeface="Times New Roman" panose="02020603050405020304" pitchFamily="18" charset="0"/>
              </a:rPr>
              <a:t>unit of storage </a:t>
            </a:r>
            <a:r>
              <a:rPr lang="en-US" dirty="0">
                <a:latin typeface="Times New Roman" panose="02020603050405020304" pitchFamily="18" charset="0"/>
                <a:cs typeface="Times New Roman" panose="02020603050405020304" pitchFamily="18" charset="0"/>
              </a:rPr>
              <a:t>in a Java program.</a:t>
            </a:r>
          </a:p>
          <a:p>
            <a:r>
              <a:rPr lang="en-US" dirty="0">
                <a:latin typeface="Times New Roman" panose="02020603050405020304" pitchFamily="18" charset="0"/>
                <a:cs typeface="Times New Roman" panose="02020603050405020304" pitchFamily="18" charset="0"/>
              </a:rPr>
              <a:t> A variable is defined by the combination of an identifier, a type, and an optional initializer. In addition, all variables have a scope, which defines their visibility, and a lifetime. These elements are examined next</a:t>
            </a:r>
          </a:p>
          <a:p>
            <a:pPr marL="114300" indent="0">
              <a:buNone/>
            </a:pPr>
            <a:r>
              <a:rPr lang="en-US" b="1" i="0" u="none" strike="noStrike" baseline="0" dirty="0">
                <a:solidFill>
                  <a:srgbClr val="000000"/>
                </a:solidFill>
                <a:latin typeface="Times New Roman" panose="02020603050405020304" pitchFamily="18" charset="0"/>
                <a:cs typeface="Times New Roman" panose="02020603050405020304" pitchFamily="18" charset="0"/>
              </a:rPr>
              <a:t>Declaring a Variable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In Java, all variables must be </a:t>
            </a:r>
            <a:r>
              <a:rPr lang="en-US" b="0" i="0" u="none" strike="noStrike" baseline="0" dirty="0">
                <a:solidFill>
                  <a:srgbClr val="FF0000"/>
                </a:solidFill>
                <a:latin typeface="Times New Roman" panose="02020603050405020304" pitchFamily="18" charset="0"/>
                <a:cs typeface="Times New Roman" panose="02020603050405020304" pitchFamily="18" charset="0"/>
              </a:rPr>
              <a:t>declared before they can be used</a:t>
            </a:r>
            <a:r>
              <a:rPr lang="en-US" b="0" i="0" u="none" strike="noStrike" baseline="0" dirty="0">
                <a:solidFill>
                  <a:srgbClr val="000000"/>
                </a:solidFill>
                <a:latin typeface="Times New Roman" panose="02020603050405020304" pitchFamily="18" charset="0"/>
                <a:cs typeface="Times New Roman" panose="02020603050405020304" pitchFamily="18" charset="0"/>
              </a:rPr>
              <a:t>. The basic form of a variable declaration is shown here: </a:t>
            </a:r>
          </a:p>
          <a:p>
            <a:r>
              <a:rPr lang="en-US" b="0" i="1" u="none" strike="noStrike" baseline="0" dirty="0">
                <a:solidFill>
                  <a:srgbClr val="000000"/>
                </a:solidFill>
                <a:latin typeface="Times New Roman" panose="02020603050405020304" pitchFamily="18" charset="0"/>
                <a:cs typeface="Times New Roman" panose="02020603050405020304" pitchFamily="18" charset="0"/>
              </a:rPr>
              <a:t>type identifier </a:t>
            </a:r>
            <a:r>
              <a:rPr lang="en-US" b="0" i="0" u="none" strike="noStrike" baseline="0" dirty="0">
                <a:solidFill>
                  <a:srgbClr val="000000"/>
                </a:solidFill>
                <a:latin typeface="Times New Roman" panose="02020603050405020304" pitchFamily="18" charset="0"/>
                <a:cs typeface="Times New Roman" panose="02020603050405020304" pitchFamily="18" charset="0"/>
              </a:rPr>
              <a:t>[ = </a:t>
            </a:r>
            <a:r>
              <a:rPr lang="en-US" b="0" i="1" u="none" strike="noStrike" baseline="0" dirty="0">
                <a:solidFill>
                  <a:srgbClr val="000000"/>
                </a:solidFill>
                <a:latin typeface="Times New Roman" panose="02020603050405020304" pitchFamily="18" charset="0"/>
                <a:cs typeface="Times New Roman" panose="02020603050405020304" pitchFamily="18" charset="0"/>
              </a:rPr>
              <a:t>value </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en-US" b="0" i="1" u="none" strike="noStrike" baseline="0" dirty="0">
                <a:solidFill>
                  <a:srgbClr val="000000"/>
                </a:solidFill>
                <a:latin typeface="Times New Roman" panose="02020603050405020304" pitchFamily="18" charset="0"/>
                <a:cs typeface="Times New Roman" panose="02020603050405020304" pitchFamily="18" charset="0"/>
              </a:rPr>
              <a:t>identifier </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en-US" b="0" i="1" u="none" strike="noStrike" baseline="0" dirty="0">
                <a:solidFill>
                  <a:srgbClr val="000000"/>
                </a:solidFill>
                <a:latin typeface="Times New Roman" panose="02020603050405020304" pitchFamily="18" charset="0"/>
                <a:cs typeface="Times New Roman" panose="02020603050405020304" pitchFamily="18" charset="0"/>
              </a:rPr>
              <a:t>value </a:t>
            </a:r>
            <a:r>
              <a:rPr lang="en-US" b="0" i="0" u="none" strike="noStrike" baseline="0" dirty="0">
                <a:solidFill>
                  <a:srgbClr val="000000"/>
                </a:solidFill>
                <a:latin typeface="Times New Roman" panose="02020603050405020304" pitchFamily="18" charset="0"/>
                <a:cs typeface="Times New Roman" panose="02020603050405020304" pitchFamily="18" charset="0"/>
              </a:rPr>
              <a:t>] …];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Here, </a:t>
            </a:r>
            <a:r>
              <a:rPr lang="en-US" b="0" i="1" u="none" strike="noStrike" baseline="0" dirty="0">
                <a:solidFill>
                  <a:srgbClr val="000000"/>
                </a:solidFill>
                <a:latin typeface="Times New Roman" panose="02020603050405020304" pitchFamily="18" charset="0"/>
                <a:cs typeface="Times New Roman" panose="02020603050405020304" pitchFamily="18" charset="0"/>
              </a:rPr>
              <a:t>type </a:t>
            </a:r>
            <a:r>
              <a:rPr lang="en-US" b="0" i="0" u="none" strike="noStrike" baseline="0" dirty="0">
                <a:solidFill>
                  <a:srgbClr val="000000"/>
                </a:solidFill>
                <a:latin typeface="Times New Roman" panose="02020603050405020304" pitchFamily="18" charset="0"/>
                <a:cs typeface="Times New Roman" panose="02020603050405020304" pitchFamily="18" charset="0"/>
              </a:rPr>
              <a:t>is one of Java’s atomic types, or the name of a class or interface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563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2BC-655A-4454-9A5F-358D97D85B91}"/>
              </a:ext>
            </a:extLst>
          </p:cNvPr>
          <p:cNvSpPr>
            <a:spLocks noGrp="1"/>
          </p:cNvSpPr>
          <p:nvPr>
            <p:ph type="title"/>
          </p:nvPr>
        </p:nvSpPr>
        <p:spPr>
          <a:xfrm>
            <a:off x="839416" y="116632"/>
            <a:ext cx="10515600" cy="615603"/>
          </a:xfrm>
        </p:spPr>
        <p:txBody>
          <a:bodyPr>
            <a:normAutofit/>
          </a:bodyPr>
          <a:lstStyle/>
          <a:p>
            <a:pPr algn="ctr"/>
            <a:r>
              <a:rPr lang="en-US" sz="3200" b="1" i="0" u="none" strike="noStrike" baseline="0" dirty="0">
                <a:solidFill>
                  <a:srgbClr val="000000"/>
                </a:solidFill>
                <a:latin typeface="Times New Roman" panose="02020603050405020304" pitchFamily="18" charset="0"/>
              </a:rPr>
              <a:t>Variables </a:t>
            </a:r>
            <a:endParaRPr lang="en-US" sz="6600" dirty="0"/>
          </a:p>
        </p:txBody>
      </p:sp>
      <p:sp>
        <p:nvSpPr>
          <p:cNvPr id="3" name="Text Placeholder 2">
            <a:extLst>
              <a:ext uri="{FF2B5EF4-FFF2-40B4-BE49-F238E27FC236}">
                <a16:creationId xmlns:a16="http://schemas.microsoft.com/office/drawing/2014/main" id="{62C9156D-D44F-46A4-9E63-6F8CA67260E2}"/>
              </a:ext>
            </a:extLst>
          </p:cNvPr>
          <p:cNvSpPr>
            <a:spLocks noGrp="1"/>
          </p:cNvSpPr>
          <p:nvPr>
            <p:ph type="body" idx="1"/>
          </p:nvPr>
        </p:nvSpPr>
        <p:spPr>
          <a:xfrm>
            <a:off x="983432" y="764704"/>
            <a:ext cx="10515600" cy="5904656"/>
          </a:xfrm>
        </p:spPr>
        <p:txBody>
          <a:bodyPr>
            <a:normAutofit/>
          </a:bodyPr>
          <a:lstStyle/>
          <a:p>
            <a:pPr marL="114300" indent="0">
              <a:buNone/>
            </a:pP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6F5C323-D4AC-4C8D-9DEC-887FB3E8783C}"/>
              </a:ext>
            </a:extLst>
          </p:cNvPr>
          <p:cNvPicPr>
            <a:picLocks noChangeAspect="1"/>
          </p:cNvPicPr>
          <p:nvPr/>
        </p:nvPicPr>
        <p:blipFill>
          <a:blip r:embed="rId2"/>
          <a:stretch>
            <a:fillRect/>
          </a:stretch>
        </p:blipFill>
        <p:spPr>
          <a:xfrm>
            <a:off x="1166730" y="908720"/>
            <a:ext cx="4104456" cy="1855184"/>
          </a:xfrm>
          <a:prstGeom prst="rect">
            <a:avLst/>
          </a:prstGeom>
        </p:spPr>
      </p:pic>
      <p:pic>
        <p:nvPicPr>
          <p:cNvPr id="9" name="Picture 8">
            <a:extLst>
              <a:ext uri="{FF2B5EF4-FFF2-40B4-BE49-F238E27FC236}">
                <a16:creationId xmlns:a16="http://schemas.microsoft.com/office/drawing/2014/main" id="{4E760410-1F77-4744-8BC6-7E2D4E1F3339}"/>
              </a:ext>
            </a:extLst>
          </p:cNvPr>
          <p:cNvPicPr>
            <a:picLocks noChangeAspect="1"/>
          </p:cNvPicPr>
          <p:nvPr/>
        </p:nvPicPr>
        <p:blipFill>
          <a:blip r:embed="rId3">
            <a:lum bright="-31000" contrast="-12000"/>
          </a:blip>
          <a:stretch>
            <a:fillRect/>
          </a:stretch>
        </p:blipFill>
        <p:spPr>
          <a:xfrm>
            <a:off x="1055440" y="3140968"/>
            <a:ext cx="6225413" cy="3026572"/>
          </a:xfrm>
          <a:prstGeom prst="rect">
            <a:avLst/>
          </a:prstGeom>
        </p:spPr>
      </p:pic>
    </p:spTree>
    <p:extLst>
      <p:ext uri="{BB962C8B-B14F-4D97-AF65-F5344CB8AC3E}">
        <p14:creationId xmlns:p14="http://schemas.microsoft.com/office/powerpoint/2010/main" val="28585348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2BC-655A-4454-9A5F-358D97D85B91}"/>
              </a:ext>
            </a:extLst>
          </p:cNvPr>
          <p:cNvSpPr>
            <a:spLocks noGrp="1"/>
          </p:cNvSpPr>
          <p:nvPr>
            <p:ph type="title"/>
          </p:nvPr>
        </p:nvSpPr>
        <p:spPr>
          <a:xfrm>
            <a:off x="838200" y="56755"/>
            <a:ext cx="10515600" cy="615603"/>
          </a:xfrm>
        </p:spPr>
        <p:txBody>
          <a:bodyPr>
            <a:normAutofit/>
          </a:bodyPr>
          <a:lstStyle/>
          <a:p>
            <a:pPr algn="ctr"/>
            <a:r>
              <a:rPr lang="en-US" sz="2400" b="1" i="0" u="none" strike="noStrike" baseline="0" dirty="0">
                <a:solidFill>
                  <a:srgbClr val="000000"/>
                </a:solidFill>
                <a:latin typeface="Times New Roman" panose="02020603050405020304" pitchFamily="18" charset="0"/>
              </a:rPr>
              <a:t>The Scope and Lifetime of Variables </a:t>
            </a:r>
            <a:endParaRPr lang="en-US" sz="8000" dirty="0"/>
          </a:p>
        </p:txBody>
      </p:sp>
      <p:sp>
        <p:nvSpPr>
          <p:cNvPr id="3" name="Text Placeholder 2">
            <a:extLst>
              <a:ext uri="{FF2B5EF4-FFF2-40B4-BE49-F238E27FC236}">
                <a16:creationId xmlns:a16="http://schemas.microsoft.com/office/drawing/2014/main" id="{62C9156D-D44F-46A4-9E63-6F8CA67260E2}"/>
              </a:ext>
            </a:extLst>
          </p:cNvPr>
          <p:cNvSpPr>
            <a:spLocks noGrp="1"/>
          </p:cNvSpPr>
          <p:nvPr>
            <p:ph type="body" idx="1"/>
          </p:nvPr>
        </p:nvSpPr>
        <p:spPr>
          <a:xfrm>
            <a:off x="191344" y="672358"/>
            <a:ext cx="11809312" cy="5865117"/>
          </a:xfrm>
        </p:spPr>
        <p:txBody>
          <a:bodyPr>
            <a:normAutofit/>
          </a:bodyPr>
          <a:lstStyle/>
          <a:p>
            <a:pPr algn="just">
              <a:lnSpc>
                <a:spcPct val="120000"/>
              </a:lnSpc>
            </a:pPr>
            <a:r>
              <a:rPr lang="en-US" sz="2400" b="0" i="0" u="none" strike="noStrike" baseline="0" dirty="0">
                <a:solidFill>
                  <a:srgbClr val="000000"/>
                </a:solidFill>
                <a:latin typeface="Times New Roman" panose="02020603050405020304" pitchFamily="18" charset="0"/>
              </a:rPr>
              <a:t>So far, all of the variables used have been declared at the start of the </a:t>
            </a:r>
            <a:r>
              <a:rPr lang="en-US" sz="2400" b="1" i="0" u="none" strike="noStrike" baseline="0" dirty="0">
                <a:solidFill>
                  <a:srgbClr val="000000"/>
                </a:solidFill>
                <a:latin typeface="Times New Roman" panose="02020603050405020304" pitchFamily="18" charset="0"/>
              </a:rPr>
              <a:t>main( ) </a:t>
            </a:r>
            <a:r>
              <a:rPr lang="en-US" sz="2400" b="0" i="0" u="none" strike="noStrike" baseline="0" dirty="0">
                <a:solidFill>
                  <a:srgbClr val="000000"/>
                </a:solidFill>
                <a:latin typeface="Times New Roman" panose="02020603050405020304" pitchFamily="18" charset="0"/>
              </a:rPr>
              <a:t>method. However, </a:t>
            </a:r>
            <a:r>
              <a:rPr lang="en-US" sz="2400" b="0" i="0" u="none" strike="noStrike" baseline="0" dirty="0">
                <a:solidFill>
                  <a:srgbClr val="FF0000"/>
                </a:solidFill>
                <a:latin typeface="Times New Roman" panose="02020603050405020304" pitchFamily="18" charset="0"/>
              </a:rPr>
              <a:t>Java allows variables to be declared within any block</a:t>
            </a:r>
            <a:r>
              <a:rPr lang="en-US" sz="2400" b="0" i="0" u="none" strike="noStrike" baseline="0" dirty="0">
                <a:solidFill>
                  <a:srgbClr val="000000"/>
                </a:solidFill>
                <a:latin typeface="Times New Roman" panose="02020603050405020304" pitchFamily="18" charset="0"/>
              </a:rPr>
              <a:t>. A block defines a </a:t>
            </a:r>
            <a:r>
              <a:rPr lang="en-US" sz="2400" b="0" i="1" u="none" strike="noStrike" baseline="0" dirty="0">
                <a:solidFill>
                  <a:srgbClr val="000000"/>
                </a:solidFill>
                <a:latin typeface="Times New Roman" panose="02020603050405020304" pitchFamily="18" charset="0"/>
              </a:rPr>
              <a:t>scope</a:t>
            </a:r>
            <a:r>
              <a:rPr lang="en-US" sz="2400" b="0" i="0" u="none" strike="noStrike" baseline="0" dirty="0">
                <a:solidFill>
                  <a:srgbClr val="000000"/>
                </a:solidFill>
                <a:latin typeface="Times New Roman" panose="02020603050405020304" pitchFamily="18" charset="0"/>
              </a:rPr>
              <a:t>. </a:t>
            </a:r>
          </a:p>
          <a:p>
            <a:pPr algn="just">
              <a:lnSpc>
                <a:spcPct val="120000"/>
              </a:lnSpc>
            </a:pPr>
            <a:r>
              <a:rPr lang="en-US" sz="2400" b="0" i="0" u="none" strike="noStrike" baseline="0" dirty="0">
                <a:solidFill>
                  <a:srgbClr val="000000"/>
                </a:solidFill>
                <a:latin typeface="Times New Roman" panose="02020603050405020304" pitchFamily="18" charset="0"/>
              </a:rPr>
              <a:t>Thus, </a:t>
            </a:r>
            <a:r>
              <a:rPr lang="en-US" sz="2400" b="0" i="0" u="none" strike="noStrike" baseline="0" dirty="0">
                <a:solidFill>
                  <a:srgbClr val="FF0000"/>
                </a:solidFill>
                <a:latin typeface="Times New Roman" panose="02020603050405020304" pitchFamily="18" charset="0"/>
              </a:rPr>
              <a:t>each time you start a new block</a:t>
            </a:r>
            <a:r>
              <a:rPr lang="en-US" sz="2400" b="0" i="0" u="none" strike="noStrike" baseline="0" dirty="0">
                <a:solidFill>
                  <a:srgbClr val="000000"/>
                </a:solidFill>
                <a:latin typeface="Times New Roman" panose="02020603050405020304" pitchFamily="18" charset="0"/>
              </a:rPr>
              <a:t>, you are creating a </a:t>
            </a:r>
            <a:r>
              <a:rPr lang="en-US" sz="2400" b="0" i="0" u="none" strike="noStrike" baseline="0" dirty="0">
                <a:solidFill>
                  <a:srgbClr val="FF0000"/>
                </a:solidFill>
                <a:latin typeface="Times New Roman" panose="02020603050405020304" pitchFamily="18" charset="0"/>
              </a:rPr>
              <a:t>new scope</a:t>
            </a:r>
            <a:r>
              <a:rPr lang="en-US" sz="2400" b="0" i="0" u="none" strike="noStrike" baseline="0" dirty="0">
                <a:solidFill>
                  <a:srgbClr val="000000"/>
                </a:solidFill>
                <a:latin typeface="Times New Roman" panose="02020603050405020304" pitchFamily="18" charset="0"/>
              </a:rPr>
              <a:t>. A scope determines what objects are visible to other parts of your program. It also determines the lifetime of those objects. </a:t>
            </a:r>
          </a:p>
          <a:p>
            <a:pPr algn="just">
              <a:lnSpc>
                <a:spcPct val="120000"/>
              </a:lnSpc>
            </a:pPr>
            <a:r>
              <a:rPr lang="en-US" sz="2400" b="0" i="0" u="none" strike="noStrike" baseline="0" dirty="0">
                <a:solidFill>
                  <a:srgbClr val="000000"/>
                </a:solidFill>
                <a:latin typeface="Times New Roman" panose="02020603050405020304" pitchFamily="18" charset="0"/>
              </a:rPr>
              <a:t>It is not uncommon to think in terms of two general categories of scopes: </a:t>
            </a:r>
            <a:r>
              <a:rPr lang="en-US" sz="2400" b="1" i="0" u="none" strike="noStrike" baseline="0" dirty="0">
                <a:solidFill>
                  <a:srgbClr val="000000"/>
                </a:solidFill>
                <a:latin typeface="Times New Roman" panose="02020603050405020304" pitchFamily="18" charset="0"/>
              </a:rPr>
              <a:t>global and local. </a:t>
            </a:r>
          </a:p>
          <a:p>
            <a:pPr algn="just">
              <a:lnSpc>
                <a:spcPct val="120000"/>
              </a:lnSpc>
            </a:pPr>
            <a:r>
              <a:rPr lang="en-US" sz="2400" b="0" i="0" u="none" strike="noStrike" baseline="0" dirty="0">
                <a:solidFill>
                  <a:srgbClr val="000000"/>
                </a:solidFill>
                <a:latin typeface="Times New Roman" panose="02020603050405020304" pitchFamily="18" charset="0"/>
              </a:rPr>
              <a:t>However, these traditional scopes do not fit well with Java’s strict, object-oriented model.</a:t>
            </a:r>
          </a:p>
          <a:p>
            <a:pPr algn="just">
              <a:lnSpc>
                <a:spcPct val="120000"/>
              </a:lnSpc>
            </a:pPr>
            <a:r>
              <a:rPr lang="en-US" sz="2400" b="0" i="0" u="none" strike="noStrike" baseline="0" dirty="0">
                <a:solidFill>
                  <a:srgbClr val="000000"/>
                </a:solidFill>
                <a:latin typeface="Times New Roman" panose="02020603050405020304" pitchFamily="18" charset="0"/>
              </a:rPr>
              <a:t> While it is possible to create what amounts to being a global scope, it is by far the exception, not the rule. </a:t>
            </a:r>
          </a:p>
          <a:p>
            <a:pPr algn="just">
              <a:lnSpc>
                <a:spcPct val="120000"/>
              </a:lnSpc>
            </a:pPr>
            <a:r>
              <a:rPr lang="en-US" sz="2400" b="0" i="0" u="none" strike="noStrike" baseline="0" dirty="0">
                <a:solidFill>
                  <a:srgbClr val="000000"/>
                </a:solidFill>
                <a:latin typeface="Times New Roman" panose="02020603050405020304" pitchFamily="18" charset="0"/>
              </a:rPr>
              <a:t>In Java, the two major scopes are those defined by a class and those defined by a method. </a:t>
            </a:r>
          </a:p>
        </p:txBody>
      </p:sp>
    </p:spTree>
    <p:extLst>
      <p:ext uri="{BB962C8B-B14F-4D97-AF65-F5344CB8AC3E}">
        <p14:creationId xmlns:p14="http://schemas.microsoft.com/office/powerpoint/2010/main" val="10125765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2BC-655A-4454-9A5F-358D97D85B91}"/>
              </a:ext>
            </a:extLst>
          </p:cNvPr>
          <p:cNvSpPr>
            <a:spLocks noGrp="1"/>
          </p:cNvSpPr>
          <p:nvPr>
            <p:ph type="title"/>
          </p:nvPr>
        </p:nvSpPr>
        <p:spPr>
          <a:xfrm>
            <a:off x="838200" y="56755"/>
            <a:ext cx="10515600" cy="615603"/>
          </a:xfrm>
        </p:spPr>
        <p:txBody>
          <a:bodyPr>
            <a:normAutofit/>
          </a:bodyPr>
          <a:lstStyle/>
          <a:p>
            <a:pPr algn="ctr"/>
            <a:r>
              <a:rPr lang="en-US" sz="2400" b="1" i="0" u="none" strike="noStrike" baseline="0" dirty="0">
                <a:solidFill>
                  <a:srgbClr val="000000"/>
                </a:solidFill>
                <a:latin typeface="Times New Roman" panose="02020603050405020304" pitchFamily="18" charset="0"/>
              </a:rPr>
              <a:t>The Scope and Lifetime of Variables </a:t>
            </a:r>
            <a:endParaRPr lang="en-US" sz="8000" dirty="0"/>
          </a:p>
        </p:txBody>
      </p:sp>
      <p:sp>
        <p:nvSpPr>
          <p:cNvPr id="3" name="Text Placeholder 2">
            <a:extLst>
              <a:ext uri="{FF2B5EF4-FFF2-40B4-BE49-F238E27FC236}">
                <a16:creationId xmlns:a16="http://schemas.microsoft.com/office/drawing/2014/main" id="{62C9156D-D44F-46A4-9E63-6F8CA67260E2}"/>
              </a:ext>
            </a:extLst>
          </p:cNvPr>
          <p:cNvSpPr>
            <a:spLocks noGrp="1"/>
          </p:cNvSpPr>
          <p:nvPr>
            <p:ph type="body" idx="1"/>
          </p:nvPr>
        </p:nvSpPr>
        <p:spPr>
          <a:xfrm>
            <a:off x="6221" y="548680"/>
            <a:ext cx="11809312" cy="5865117"/>
          </a:xfrm>
        </p:spPr>
        <p:txBody>
          <a:bodyPr>
            <a:noAutofit/>
          </a:bodyPr>
          <a:lstStyle/>
          <a:p>
            <a:pPr algn="just">
              <a:lnSpc>
                <a:spcPct val="120000"/>
              </a:lnSpc>
            </a:pPr>
            <a:r>
              <a:rPr lang="en-US" sz="2200" b="0" i="0" u="none" strike="noStrike" baseline="0" dirty="0">
                <a:solidFill>
                  <a:srgbClr val="C00000"/>
                </a:solidFill>
                <a:latin typeface="Times New Roman" panose="02020603050405020304" pitchFamily="18" charset="0"/>
              </a:rPr>
              <a:t>The scope defined by a method begins with its opening curly brace</a:t>
            </a:r>
            <a:r>
              <a:rPr lang="en-US" sz="2200" b="0" i="0" u="none" strike="noStrike" baseline="0" dirty="0">
                <a:solidFill>
                  <a:srgbClr val="000000"/>
                </a:solidFill>
                <a:latin typeface="Times New Roman" panose="02020603050405020304" pitchFamily="18" charset="0"/>
              </a:rPr>
              <a:t>. However, if that method has parameters, they too are included within the method’s scope. A method’s scope ends with its closing curly brace. This block of code is called the </a:t>
            </a:r>
            <a:r>
              <a:rPr lang="en-US" sz="2200" b="0" i="1" u="none" strike="noStrike" baseline="0" dirty="0">
                <a:solidFill>
                  <a:srgbClr val="000000"/>
                </a:solidFill>
                <a:latin typeface="Times New Roman" panose="02020603050405020304" pitchFamily="18" charset="0"/>
              </a:rPr>
              <a:t>method body</a:t>
            </a:r>
            <a:r>
              <a:rPr lang="en-US" sz="2200" b="0" i="0" u="none" strike="noStrike" baseline="0" dirty="0">
                <a:solidFill>
                  <a:srgbClr val="000000"/>
                </a:solidFill>
                <a:latin typeface="Times New Roman" panose="02020603050405020304" pitchFamily="18" charset="0"/>
              </a:rPr>
              <a:t>. </a:t>
            </a:r>
          </a:p>
          <a:p>
            <a:pPr algn="just">
              <a:lnSpc>
                <a:spcPct val="120000"/>
              </a:lnSpc>
            </a:pPr>
            <a:r>
              <a:rPr lang="en-US" sz="2200" b="0" i="0" u="none" strike="noStrike" baseline="0" dirty="0">
                <a:solidFill>
                  <a:srgbClr val="000000"/>
                </a:solidFill>
                <a:latin typeface="Times New Roman" panose="02020603050405020304" pitchFamily="18" charset="0"/>
              </a:rPr>
              <a:t>As a general rule, </a:t>
            </a:r>
            <a:r>
              <a:rPr lang="en-US" sz="2200" b="0" i="0" u="none" strike="noStrike" baseline="0" dirty="0">
                <a:solidFill>
                  <a:srgbClr val="C00000"/>
                </a:solidFill>
                <a:latin typeface="Times New Roman" panose="02020603050405020304" pitchFamily="18" charset="0"/>
              </a:rPr>
              <a:t>variables declared inside a scope are not visible (that is, accessible) to code that is defined outside that scope. </a:t>
            </a:r>
          </a:p>
          <a:p>
            <a:pPr algn="just">
              <a:lnSpc>
                <a:spcPct val="120000"/>
              </a:lnSpc>
            </a:pPr>
            <a:r>
              <a:rPr lang="en-US" sz="2200" b="0" i="0" u="none" strike="noStrike" baseline="0" dirty="0">
                <a:solidFill>
                  <a:srgbClr val="000000"/>
                </a:solidFill>
                <a:latin typeface="Times New Roman" panose="02020603050405020304" pitchFamily="18" charset="0"/>
              </a:rPr>
              <a:t>Thus, when you </a:t>
            </a:r>
            <a:r>
              <a:rPr lang="en-US" sz="2200" b="0" i="0" u="none" strike="noStrike" baseline="0" dirty="0">
                <a:solidFill>
                  <a:srgbClr val="C00000"/>
                </a:solidFill>
                <a:latin typeface="Times New Roman" panose="02020603050405020304" pitchFamily="18" charset="0"/>
              </a:rPr>
              <a:t>declare a variable within a scope, you are localizing that variable and protecting it from unauthorized access and/or modification. </a:t>
            </a:r>
            <a:r>
              <a:rPr lang="en-US" sz="2200" b="0" i="0" u="none" strike="noStrike" baseline="0" dirty="0">
                <a:solidFill>
                  <a:srgbClr val="000000"/>
                </a:solidFill>
                <a:latin typeface="Times New Roman" panose="02020603050405020304" pitchFamily="18" charset="0"/>
              </a:rPr>
              <a:t>Indeed, the scope rules provide the foundation for encapsulation. </a:t>
            </a:r>
          </a:p>
          <a:p>
            <a:pPr algn="just">
              <a:lnSpc>
                <a:spcPct val="120000"/>
              </a:lnSpc>
            </a:pPr>
            <a:r>
              <a:rPr lang="en-US" sz="2200" b="0" i="0" u="none" strike="noStrike" baseline="0" dirty="0">
                <a:solidFill>
                  <a:srgbClr val="C00000"/>
                </a:solidFill>
                <a:latin typeface="Times New Roman" panose="02020603050405020304" pitchFamily="18" charset="0"/>
              </a:rPr>
              <a:t>A variable declared within a block </a:t>
            </a:r>
            <a:r>
              <a:rPr lang="en-US" sz="2200" b="0" i="0" u="none" strike="noStrike" baseline="0" dirty="0">
                <a:solidFill>
                  <a:srgbClr val="000000"/>
                </a:solidFill>
                <a:latin typeface="Times New Roman" panose="02020603050405020304" pitchFamily="18" charset="0"/>
              </a:rPr>
              <a:t>is called a </a:t>
            </a:r>
            <a:r>
              <a:rPr lang="en-US" sz="2200" b="0" i="1" u="none" strike="noStrike" baseline="0" dirty="0">
                <a:solidFill>
                  <a:srgbClr val="000000"/>
                </a:solidFill>
                <a:latin typeface="Times New Roman" panose="02020603050405020304" pitchFamily="18" charset="0"/>
              </a:rPr>
              <a:t>local variable</a:t>
            </a:r>
            <a:r>
              <a:rPr lang="en-US" sz="2200" b="0" i="0" u="none" strike="noStrike" baseline="0" dirty="0">
                <a:solidFill>
                  <a:srgbClr val="000000"/>
                </a:solidFill>
                <a:latin typeface="Times New Roman" panose="02020603050405020304" pitchFamily="18" charset="0"/>
              </a:rPr>
              <a:t>. </a:t>
            </a:r>
          </a:p>
          <a:p>
            <a:pPr algn="just">
              <a:lnSpc>
                <a:spcPct val="120000"/>
              </a:lnSpc>
            </a:pPr>
            <a:r>
              <a:rPr lang="en-US" sz="2200" b="0" i="0" u="none" strike="noStrike" baseline="0" dirty="0">
                <a:solidFill>
                  <a:srgbClr val="000000"/>
                </a:solidFill>
                <a:latin typeface="Times New Roman" panose="02020603050405020304" pitchFamily="18" charset="0"/>
              </a:rPr>
              <a:t>Scopes can be nested. For example, each time you create a block of code, you are creating a new, nested scope. When this occurs, the outer scope encloses the inner scope. This means that objects declared in the outer scope will be visible to code within the inner scope. However, the reverse is not true. Objects declared within the inner scope will not be visible outside it. </a:t>
            </a:r>
          </a:p>
        </p:txBody>
      </p:sp>
    </p:spTree>
    <p:extLst>
      <p:ext uri="{BB962C8B-B14F-4D97-AF65-F5344CB8AC3E}">
        <p14:creationId xmlns:p14="http://schemas.microsoft.com/office/powerpoint/2010/main" val="7406785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2BC-655A-4454-9A5F-358D97D85B91}"/>
              </a:ext>
            </a:extLst>
          </p:cNvPr>
          <p:cNvSpPr>
            <a:spLocks noGrp="1"/>
          </p:cNvSpPr>
          <p:nvPr>
            <p:ph type="title"/>
          </p:nvPr>
        </p:nvSpPr>
        <p:spPr>
          <a:xfrm>
            <a:off x="838200" y="365125"/>
            <a:ext cx="10515600" cy="615603"/>
          </a:xfrm>
        </p:spPr>
        <p:txBody>
          <a:bodyPr>
            <a:normAutofit/>
          </a:bodyPr>
          <a:lstStyle/>
          <a:p>
            <a:pPr algn="ctr"/>
            <a:r>
              <a:rPr lang="en-US" sz="2400" b="1" i="0" u="none" strike="noStrike" baseline="0" dirty="0">
                <a:solidFill>
                  <a:srgbClr val="000000"/>
                </a:solidFill>
                <a:latin typeface="Times New Roman" panose="02020603050405020304" pitchFamily="18" charset="0"/>
              </a:rPr>
              <a:t>The Scope and Lifetime of Variables </a:t>
            </a:r>
            <a:endParaRPr lang="en-US" sz="8000" dirty="0"/>
          </a:p>
        </p:txBody>
      </p:sp>
      <p:sp>
        <p:nvSpPr>
          <p:cNvPr id="3" name="Text Placeholder 2">
            <a:extLst>
              <a:ext uri="{FF2B5EF4-FFF2-40B4-BE49-F238E27FC236}">
                <a16:creationId xmlns:a16="http://schemas.microsoft.com/office/drawing/2014/main" id="{62C9156D-D44F-46A4-9E63-6F8CA67260E2}"/>
              </a:ext>
            </a:extLst>
          </p:cNvPr>
          <p:cNvSpPr>
            <a:spLocks noGrp="1"/>
          </p:cNvSpPr>
          <p:nvPr>
            <p:ph type="body" idx="1"/>
          </p:nvPr>
        </p:nvSpPr>
        <p:spPr>
          <a:xfrm>
            <a:off x="983432" y="1196752"/>
            <a:ext cx="10515600" cy="5184576"/>
          </a:xfrm>
        </p:spPr>
        <p:txBody>
          <a:bodyPr>
            <a:normAutofit/>
          </a:bodyPr>
          <a:lstStyle/>
          <a:p>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FE9852-E442-443A-8BCA-99A84E5AF593}"/>
              </a:ext>
            </a:extLst>
          </p:cNvPr>
          <p:cNvPicPr>
            <a:picLocks noChangeAspect="1"/>
          </p:cNvPicPr>
          <p:nvPr/>
        </p:nvPicPr>
        <p:blipFill>
          <a:blip r:embed="rId2">
            <a:lum bright="-35000"/>
          </a:blip>
          <a:stretch>
            <a:fillRect/>
          </a:stretch>
        </p:blipFill>
        <p:spPr>
          <a:xfrm>
            <a:off x="623393" y="1052736"/>
            <a:ext cx="5328592" cy="5300101"/>
          </a:xfrm>
          <a:prstGeom prst="rect">
            <a:avLst/>
          </a:prstGeom>
        </p:spPr>
      </p:pic>
      <p:pic>
        <p:nvPicPr>
          <p:cNvPr id="7" name="Picture 6">
            <a:extLst>
              <a:ext uri="{FF2B5EF4-FFF2-40B4-BE49-F238E27FC236}">
                <a16:creationId xmlns:a16="http://schemas.microsoft.com/office/drawing/2014/main" id="{B26239BE-BB89-4121-8D9C-566FFF76A542}"/>
              </a:ext>
            </a:extLst>
          </p:cNvPr>
          <p:cNvPicPr>
            <a:picLocks noChangeAspect="1"/>
          </p:cNvPicPr>
          <p:nvPr/>
        </p:nvPicPr>
        <p:blipFill>
          <a:blip r:embed="rId3">
            <a:lum bright="-16000" contrast="-33000"/>
          </a:blip>
          <a:stretch>
            <a:fillRect/>
          </a:stretch>
        </p:blipFill>
        <p:spPr>
          <a:xfrm>
            <a:off x="6168008" y="1052736"/>
            <a:ext cx="5616623" cy="5300101"/>
          </a:xfrm>
          <a:prstGeom prst="rect">
            <a:avLst/>
          </a:prstGeom>
        </p:spPr>
      </p:pic>
    </p:spTree>
    <p:extLst>
      <p:ext uri="{BB962C8B-B14F-4D97-AF65-F5344CB8AC3E}">
        <p14:creationId xmlns:p14="http://schemas.microsoft.com/office/powerpoint/2010/main" val="171161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73E0-EB12-4FF3-B99A-8D43D4FD22E1}"/>
              </a:ext>
            </a:extLst>
          </p:cNvPr>
          <p:cNvSpPr>
            <a:spLocks noGrp="1"/>
          </p:cNvSpPr>
          <p:nvPr>
            <p:ph type="title"/>
          </p:nvPr>
        </p:nvSpPr>
        <p:spPr>
          <a:xfrm>
            <a:off x="695400" y="620688"/>
            <a:ext cx="10515600" cy="543595"/>
          </a:xfrm>
        </p:spPr>
        <p:txBody>
          <a:bodyPr>
            <a:normAutofit/>
          </a:bodyPr>
          <a:lstStyle/>
          <a:p>
            <a:pPr algn="ctr"/>
            <a:r>
              <a:rPr lang="en-US" sz="3200" b="1" i="0" u="none" strike="noStrike" baseline="0" dirty="0">
                <a:solidFill>
                  <a:srgbClr val="000000"/>
                </a:solidFill>
                <a:latin typeface="Times New Roman" panose="02020603050405020304" pitchFamily="18" charset="0"/>
              </a:rPr>
              <a:t>Type Conversion and Casting </a:t>
            </a:r>
            <a:endParaRPr lang="en-US" sz="6600" dirty="0"/>
          </a:p>
        </p:txBody>
      </p:sp>
      <p:sp>
        <p:nvSpPr>
          <p:cNvPr id="3" name="Text Placeholder 2">
            <a:extLst>
              <a:ext uri="{FF2B5EF4-FFF2-40B4-BE49-F238E27FC236}">
                <a16:creationId xmlns:a16="http://schemas.microsoft.com/office/drawing/2014/main" id="{04C9074F-6FC3-4942-9896-9588F90F8088}"/>
              </a:ext>
            </a:extLst>
          </p:cNvPr>
          <p:cNvSpPr>
            <a:spLocks noGrp="1"/>
          </p:cNvSpPr>
          <p:nvPr>
            <p:ph type="body" idx="1"/>
          </p:nvPr>
        </p:nvSpPr>
        <p:spPr>
          <a:xfrm>
            <a:off x="695400" y="1380500"/>
            <a:ext cx="10802416" cy="5072836"/>
          </a:xfrm>
        </p:spPr>
        <p:txBody>
          <a:bodyPr>
            <a:noAutofit/>
          </a:bodyPr>
          <a:lstStyle/>
          <a:p>
            <a:pPr marL="114300" indent="0">
              <a:buNone/>
            </a:pPr>
            <a:r>
              <a:rPr lang="en-US" sz="2400" i="0" u="none" strike="noStrike" baseline="0" dirty="0">
                <a:solidFill>
                  <a:srgbClr val="000000"/>
                </a:solidFill>
                <a:latin typeface="Times New Roman" panose="02020603050405020304" pitchFamily="18" charset="0"/>
                <a:cs typeface="Times New Roman" panose="02020603050405020304" pitchFamily="18" charset="0"/>
              </a:rPr>
              <a:t>1) Assigning a value of one type to a variable of another type is known as Type conversion. </a:t>
            </a:r>
          </a:p>
          <a:p>
            <a:pPr marL="114300" indent="0">
              <a:buNone/>
            </a:pPr>
            <a:r>
              <a:rPr lang="en-US" sz="2400" i="0" u="none" strike="noStrike" baseline="0" dirty="0">
                <a:solidFill>
                  <a:srgbClr val="000000"/>
                </a:solidFill>
                <a:latin typeface="Times New Roman" panose="02020603050405020304" pitchFamily="18" charset="0"/>
                <a:cs typeface="Times New Roman" panose="02020603050405020304" pitchFamily="18" charset="0"/>
              </a:rPr>
              <a:t>2) In Java, Type conversions will occur in two places :</a:t>
            </a:r>
          </a:p>
          <a:p>
            <a:pPr marL="114300" indent="0">
              <a:buNone/>
            </a:pPr>
            <a:r>
              <a:rPr lang="en-US" sz="2400" dirty="0">
                <a:solidFill>
                  <a:srgbClr val="000000"/>
                </a:solidFill>
                <a:latin typeface="Times New Roman" panose="02020603050405020304" pitchFamily="18" charset="0"/>
                <a:cs typeface="Times New Roman" panose="02020603050405020304" pitchFamily="18" charset="0"/>
              </a:rPr>
              <a:t>     </a:t>
            </a:r>
            <a:r>
              <a:rPr lang="en-US" sz="2400" i="0" u="none" strike="noStrike" baseline="0" dirty="0">
                <a:solidFill>
                  <a:srgbClr val="000000"/>
                </a:solidFill>
                <a:latin typeface="Times New Roman" panose="02020603050405020304" pitchFamily="18" charset="0"/>
                <a:cs typeface="Times New Roman" panose="02020603050405020304" pitchFamily="18" charset="0"/>
              </a:rPr>
              <a:t> a. In Assignments </a:t>
            </a:r>
          </a:p>
          <a:p>
            <a:pPr marL="114300" indent="0">
              <a:buNone/>
            </a:pPr>
            <a:r>
              <a:rPr lang="en-US" sz="2400" i="0" u="none" strike="noStrike" baseline="0" dirty="0">
                <a:solidFill>
                  <a:srgbClr val="000000"/>
                </a:solidFill>
                <a:latin typeface="Times New Roman" panose="02020603050405020304" pitchFamily="18" charset="0"/>
                <a:cs typeface="Times New Roman" panose="02020603050405020304" pitchFamily="18" charset="0"/>
              </a:rPr>
              <a:t>      b. In Expressions </a:t>
            </a:r>
          </a:p>
          <a:p>
            <a:pPr marL="114300" indent="0">
              <a:buNone/>
            </a:pP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400" i="0" u="none" strike="noStrike" baseline="0" dirty="0">
                <a:solidFill>
                  <a:srgbClr val="000000"/>
                </a:solidFill>
                <a:latin typeface="Times New Roman" panose="02020603050405020304" pitchFamily="18" charset="0"/>
                <a:cs typeface="Times New Roman" panose="02020603050405020304" pitchFamily="18" charset="0"/>
              </a:rPr>
              <a:t>3) In Java, Type conversion is classified into two types: a. Automatic / Widening conversion / Implicit conversion (Between compatible types) </a:t>
            </a:r>
          </a:p>
          <a:p>
            <a:pPr marL="114300" indent="0">
              <a:buNone/>
            </a:pP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400" i="0" u="none" strike="noStrike" baseline="0" dirty="0">
                <a:solidFill>
                  <a:srgbClr val="000000"/>
                </a:solidFill>
                <a:latin typeface="Times New Roman" panose="02020603050405020304" pitchFamily="18" charset="0"/>
                <a:cs typeface="Times New Roman" panose="02020603050405020304" pitchFamily="18" charset="0"/>
              </a:rPr>
              <a:t>b. Casting / Narrowing conversion / Explicit conversion (Between Incompatible types) </a:t>
            </a:r>
          </a:p>
          <a:p>
            <a:pPr marL="114300" indent="0">
              <a:buNone/>
            </a:pP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F05735-6794-41BF-937B-F3939705A34A}"/>
              </a:ext>
            </a:extLst>
          </p:cNvPr>
          <p:cNvPicPr>
            <a:picLocks noChangeAspect="1"/>
          </p:cNvPicPr>
          <p:nvPr/>
        </p:nvPicPr>
        <p:blipFill>
          <a:blip r:embed="rId2"/>
          <a:stretch>
            <a:fillRect/>
          </a:stretch>
        </p:blipFill>
        <p:spPr>
          <a:xfrm>
            <a:off x="4070711" y="4847767"/>
            <a:ext cx="3090930" cy="629055"/>
          </a:xfrm>
          <a:prstGeom prst="rect">
            <a:avLst/>
          </a:prstGeom>
        </p:spPr>
      </p:pic>
      <p:pic>
        <p:nvPicPr>
          <p:cNvPr id="7" name="Picture 6">
            <a:extLst>
              <a:ext uri="{FF2B5EF4-FFF2-40B4-BE49-F238E27FC236}">
                <a16:creationId xmlns:a16="http://schemas.microsoft.com/office/drawing/2014/main" id="{EA32A10C-4141-4252-B582-6BAF36FBB9C1}"/>
              </a:ext>
            </a:extLst>
          </p:cNvPr>
          <p:cNvPicPr>
            <a:picLocks noChangeAspect="1"/>
          </p:cNvPicPr>
          <p:nvPr/>
        </p:nvPicPr>
        <p:blipFill>
          <a:blip r:embed="rId3"/>
          <a:stretch>
            <a:fillRect/>
          </a:stretch>
        </p:blipFill>
        <p:spPr>
          <a:xfrm>
            <a:off x="4223791" y="5879471"/>
            <a:ext cx="3116687" cy="635540"/>
          </a:xfrm>
          <a:prstGeom prst="rect">
            <a:avLst/>
          </a:prstGeom>
        </p:spPr>
      </p:pic>
    </p:spTree>
    <p:extLst>
      <p:ext uri="{BB962C8B-B14F-4D97-AF65-F5344CB8AC3E}">
        <p14:creationId xmlns:p14="http://schemas.microsoft.com/office/powerpoint/2010/main" val="40840730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73E0-EB12-4FF3-B99A-8D43D4FD22E1}"/>
              </a:ext>
            </a:extLst>
          </p:cNvPr>
          <p:cNvSpPr>
            <a:spLocks noGrp="1"/>
          </p:cNvSpPr>
          <p:nvPr>
            <p:ph type="title"/>
          </p:nvPr>
        </p:nvSpPr>
        <p:spPr>
          <a:xfrm>
            <a:off x="766192" y="0"/>
            <a:ext cx="10515600" cy="543595"/>
          </a:xfrm>
        </p:spPr>
        <p:txBody>
          <a:bodyPr>
            <a:normAutofit/>
          </a:bodyPr>
          <a:lstStyle/>
          <a:p>
            <a:pPr algn="ctr"/>
            <a:r>
              <a:rPr lang="en-US" sz="2800" b="1" i="0" u="none" strike="noStrike" baseline="0" dirty="0">
                <a:solidFill>
                  <a:srgbClr val="000000"/>
                </a:solidFill>
                <a:latin typeface="Times New Roman" panose="02020603050405020304" pitchFamily="18" charset="0"/>
              </a:rPr>
              <a:t>Type Conversion and Casting </a:t>
            </a:r>
            <a:endParaRPr lang="en-US" sz="6000" dirty="0"/>
          </a:p>
        </p:txBody>
      </p:sp>
      <p:sp>
        <p:nvSpPr>
          <p:cNvPr id="3" name="Text Placeholder 2">
            <a:extLst>
              <a:ext uri="{FF2B5EF4-FFF2-40B4-BE49-F238E27FC236}">
                <a16:creationId xmlns:a16="http://schemas.microsoft.com/office/drawing/2014/main" id="{04C9074F-6FC3-4942-9896-9588F90F8088}"/>
              </a:ext>
            </a:extLst>
          </p:cNvPr>
          <p:cNvSpPr>
            <a:spLocks noGrp="1"/>
          </p:cNvSpPr>
          <p:nvPr>
            <p:ph type="body" idx="1"/>
          </p:nvPr>
        </p:nvSpPr>
        <p:spPr>
          <a:xfrm>
            <a:off x="191344" y="656691"/>
            <a:ext cx="11881320" cy="6084677"/>
          </a:xfrm>
        </p:spPr>
        <p:txBody>
          <a:bodyPr>
            <a:normAutofit fontScale="70000" lnSpcReduction="20000"/>
          </a:bodyPr>
          <a:lstStyle/>
          <a:p>
            <a:pPr>
              <a:buAutoNum type="arabicPeriod"/>
            </a:pPr>
            <a:r>
              <a:rPr lang="en-US" sz="2200" b="1" i="0" u="none" strike="noStrike" baseline="0" dirty="0">
                <a:solidFill>
                  <a:srgbClr val="000000"/>
                </a:solidFill>
                <a:latin typeface="Times New Roman" panose="02020603050405020304" pitchFamily="18" charset="0"/>
                <a:cs typeface="Times New Roman" panose="02020603050405020304" pitchFamily="18" charset="0"/>
              </a:rPr>
              <a:t>Automatic Conversions / Widening conversion / Implicit conversion </a:t>
            </a:r>
          </a:p>
          <a:p>
            <a:pPr marL="571500" indent="-457200">
              <a:buAutoNum type="arabicParenR"/>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When one type of data is assigned to another type of variable, an </a:t>
            </a:r>
            <a:r>
              <a:rPr lang="en-US" sz="2200" b="1" i="1" u="none" strike="noStrike" baseline="0" dirty="0">
                <a:solidFill>
                  <a:srgbClr val="000000"/>
                </a:solidFill>
                <a:latin typeface="Times New Roman" panose="02020603050405020304" pitchFamily="18" charset="0"/>
                <a:cs typeface="Times New Roman" panose="02020603050405020304" pitchFamily="18" charset="0"/>
              </a:rPr>
              <a:t>automatic type conversion </a:t>
            </a:r>
            <a:r>
              <a:rPr lang="en-US" sz="2200" b="1" i="0" u="none" strike="noStrike" baseline="0" dirty="0">
                <a:solidFill>
                  <a:srgbClr val="000000"/>
                </a:solidFill>
                <a:latin typeface="Times New Roman" panose="02020603050405020304" pitchFamily="18" charset="0"/>
                <a:cs typeface="Times New Roman" panose="02020603050405020304" pitchFamily="18" charset="0"/>
              </a:rPr>
              <a:t>will take place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if the following two conditions are met:</a:t>
            </a:r>
          </a:p>
          <a:p>
            <a:pPr marL="114300" indent="0">
              <a:buNone/>
            </a:pPr>
            <a:r>
              <a:rPr lang="en-US" sz="2200" dirty="0">
                <a:solidFill>
                  <a:srgbClr val="000000"/>
                </a:solidFill>
                <a:latin typeface="Times New Roman" panose="02020603050405020304" pitchFamily="18" charset="0"/>
                <a:cs typeface="Times New Roman" panose="02020603050405020304" pitchFamily="18" charset="0"/>
              </a:rPr>
              <a:t>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200" b="1" i="0" u="none" strike="noStrike" baseline="0" dirty="0">
                <a:solidFill>
                  <a:srgbClr val="000000"/>
                </a:solidFill>
                <a:latin typeface="Times New Roman" panose="02020603050405020304" pitchFamily="18" charset="0"/>
                <a:cs typeface="Times New Roman" panose="02020603050405020304" pitchFamily="18" charset="0"/>
              </a:rPr>
              <a:t>i. The two types are compatible. </a:t>
            </a:r>
            <a:endParaRPr lang="en-US" sz="22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200" b="1" i="0" u="none" strike="noStrike" baseline="0" dirty="0">
                <a:solidFill>
                  <a:srgbClr val="000000"/>
                </a:solidFill>
                <a:latin typeface="Times New Roman" panose="02020603050405020304" pitchFamily="18" charset="0"/>
                <a:cs typeface="Times New Roman" panose="02020603050405020304" pitchFamily="18" charset="0"/>
              </a:rPr>
              <a:t>        ii. The destination type is larger than the source type. </a:t>
            </a:r>
            <a:endParaRPr lang="en-US" sz="22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endParaRPr lang="en-US" sz="22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2) For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widening conversions</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the numeric types, including integer and floating-point types, are compatible with each other. </a:t>
            </a:r>
          </a:p>
          <a:p>
            <a:pPr marL="114300" indent="0">
              <a:buNone/>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3) There are no automatic conversions from the numeric types to char or </a:t>
            </a: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boolean</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4) Java also performs an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automatic type conversion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when storing a </a:t>
            </a:r>
            <a:r>
              <a:rPr lang="en-US" sz="2200" b="1" i="1" u="none" strike="noStrike" baseline="0" dirty="0">
                <a:solidFill>
                  <a:srgbClr val="000000"/>
                </a:solidFill>
                <a:latin typeface="Times New Roman" panose="02020603050405020304" pitchFamily="18" charset="0"/>
                <a:cs typeface="Times New Roman" panose="02020603050405020304" pitchFamily="18" charset="0"/>
              </a:rPr>
              <a:t>literal integer constant </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into variables of type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byte</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short</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long</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or </a:t>
            </a:r>
            <a:r>
              <a:rPr lang="en-US" sz="2200" b="0" i="1" u="none" strike="noStrike" baseline="0" dirty="0">
                <a:solidFill>
                  <a:srgbClr val="000000"/>
                </a:solidFill>
                <a:latin typeface="Times New Roman" panose="02020603050405020304" pitchFamily="18" charset="0"/>
                <a:cs typeface="Times New Roman" panose="02020603050405020304" pitchFamily="18" charset="0"/>
              </a:rPr>
              <a:t>char</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endParaRPr lang="en-US" sz="21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public class Test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public static void main(String[]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args</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int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 100;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long L =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100" b="1" i="0" u="none" strike="noStrike" baseline="0" dirty="0">
                <a:solidFill>
                  <a:srgbClr val="000000"/>
                </a:solidFill>
                <a:latin typeface="Times New Roman" panose="02020603050405020304" pitchFamily="18" charset="0"/>
                <a:cs typeface="Times New Roman" panose="02020603050405020304" pitchFamily="18" charset="0"/>
              </a:rPr>
              <a:t>//no explicit type casting required </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float f = L; </a:t>
            </a:r>
            <a:r>
              <a:rPr lang="en-US" sz="2100" b="1" i="0" u="none" strike="noStrike" baseline="0" dirty="0">
                <a:solidFill>
                  <a:srgbClr val="000000"/>
                </a:solidFill>
                <a:latin typeface="Times New Roman" panose="02020603050405020304" pitchFamily="18" charset="0"/>
                <a:cs typeface="Times New Roman" panose="02020603050405020304" pitchFamily="18" charset="0"/>
              </a:rPr>
              <a:t>//no explicit type casting required </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char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ch</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 100; </a:t>
            </a:r>
            <a:r>
              <a:rPr lang="en-US" sz="2100" b="1" i="0" u="none" strike="noStrike" baseline="0" dirty="0">
                <a:solidFill>
                  <a:srgbClr val="000000"/>
                </a:solidFill>
                <a:latin typeface="Times New Roman" panose="02020603050405020304" pitchFamily="18" charset="0"/>
                <a:cs typeface="Times New Roman" panose="02020603050405020304" pitchFamily="18" charset="0"/>
              </a:rPr>
              <a:t>//no explicit type casting required </a:t>
            </a:r>
            <a:endParaRPr lang="en-US" sz="21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("Int value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("Long value "+L);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("Float value "+f);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("Char value "+</a:t>
            </a:r>
            <a:r>
              <a:rPr lang="en-US" sz="2100" b="0" i="0" u="none" strike="noStrike" baseline="0" dirty="0" err="1">
                <a:solidFill>
                  <a:srgbClr val="000000"/>
                </a:solidFill>
                <a:latin typeface="Times New Roman" panose="02020603050405020304" pitchFamily="18" charset="0"/>
                <a:cs typeface="Times New Roman" panose="02020603050405020304" pitchFamily="18" charset="0"/>
              </a:rPr>
              <a:t>ch</a:t>
            </a: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21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2588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754B2E-557B-4884-8304-C2B473ABD5A1}"/>
              </a:ext>
            </a:extLst>
          </p:cNvPr>
          <p:cNvSpPr>
            <a:spLocks noGrp="1"/>
          </p:cNvSpPr>
          <p:nvPr>
            <p:ph type="body" idx="1"/>
          </p:nvPr>
        </p:nvSpPr>
        <p:spPr>
          <a:xfrm>
            <a:off x="335360" y="476672"/>
            <a:ext cx="11233248" cy="5584155"/>
          </a:xfrm>
        </p:spPr>
        <p:txBody>
          <a:bodyPr>
            <a:noAutofit/>
          </a:bodyPr>
          <a:lstStyle/>
          <a:p>
            <a:pPr marL="114300" indent="0">
              <a:buNone/>
            </a:pPr>
            <a:r>
              <a:rPr lang="en-US" sz="2000" b="1" i="0" u="none" strike="noStrike" baseline="0" dirty="0">
                <a:solidFill>
                  <a:srgbClr val="000000"/>
                </a:solidFill>
                <a:latin typeface="Times New Roman" pitchFamily="18" charset="0"/>
                <a:cs typeface="Times New Roman" pitchFamily="18" charset="0"/>
              </a:rPr>
              <a:t>2. Explicit conversion or Casting or Narrowing conversion </a:t>
            </a:r>
          </a:p>
          <a:p>
            <a:pPr marL="114300" indent="0">
              <a:buNone/>
            </a:pPr>
            <a:r>
              <a:rPr lang="en-US" sz="2000" b="0" i="0" u="none" strike="noStrike" baseline="0" dirty="0">
                <a:solidFill>
                  <a:srgbClr val="000000"/>
                </a:solidFill>
                <a:latin typeface="Times New Roman" pitchFamily="18" charset="0"/>
                <a:cs typeface="Times New Roman" pitchFamily="18" charset="0"/>
              </a:rPr>
              <a:t>1) To create a conversion between two </a:t>
            </a:r>
            <a:r>
              <a:rPr lang="en-US" sz="2000" b="1" i="0" u="none" strike="noStrike" baseline="0" dirty="0">
                <a:solidFill>
                  <a:srgbClr val="000000"/>
                </a:solidFill>
                <a:latin typeface="Times New Roman" pitchFamily="18" charset="0"/>
                <a:cs typeface="Times New Roman" pitchFamily="18" charset="0"/>
              </a:rPr>
              <a:t>incompatible types</a:t>
            </a:r>
            <a:r>
              <a:rPr lang="en-US" sz="2000" b="0" i="0" u="none" strike="noStrike" baseline="0" dirty="0">
                <a:solidFill>
                  <a:srgbClr val="000000"/>
                </a:solidFill>
                <a:latin typeface="Times New Roman" pitchFamily="18" charset="0"/>
                <a:cs typeface="Times New Roman" pitchFamily="18" charset="0"/>
              </a:rPr>
              <a:t>, we must use a </a:t>
            </a:r>
            <a:r>
              <a:rPr lang="en-US" sz="2000" b="1" i="1" u="none" strike="noStrike" baseline="0" dirty="0">
                <a:solidFill>
                  <a:srgbClr val="000000"/>
                </a:solidFill>
                <a:latin typeface="Times New Roman" pitchFamily="18" charset="0"/>
                <a:cs typeface="Times New Roman" pitchFamily="18" charset="0"/>
              </a:rPr>
              <a:t>cast</a:t>
            </a:r>
            <a:r>
              <a:rPr lang="en-US" sz="2000" b="0" i="0" u="none" strike="noStrike" baseline="0" dirty="0">
                <a:solidFill>
                  <a:srgbClr val="000000"/>
                </a:solidFill>
                <a:latin typeface="Times New Roman" pitchFamily="18" charset="0"/>
                <a:cs typeface="Times New Roman" pitchFamily="18" charset="0"/>
              </a:rPr>
              <a:t>. </a:t>
            </a:r>
          </a:p>
          <a:p>
            <a:pPr marL="114300" indent="0">
              <a:buNone/>
            </a:pPr>
            <a:r>
              <a:rPr lang="en-US" sz="2000" b="0" i="0" u="none" strike="noStrike" baseline="0" dirty="0">
                <a:solidFill>
                  <a:srgbClr val="000000"/>
                </a:solidFill>
                <a:latin typeface="Times New Roman" pitchFamily="18" charset="0"/>
                <a:cs typeface="Times New Roman" pitchFamily="18" charset="0"/>
              </a:rPr>
              <a:t>2) A </a:t>
            </a:r>
            <a:r>
              <a:rPr lang="en-US" sz="2000" b="0" i="1" u="none" strike="noStrike" baseline="0" dirty="0">
                <a:solidFill>
                  <a:srgbClr val="000000"/>
                </a:solidFill>
                <a:latin typeface="Times New Roman" pitchFamily="18" charset="0"/>
                <a:cs typeface="Times New Roman" pitchFamily="18" charset="0"/>
              </a:rPr>
              <a:t>cast is </a:t>
            </a:r>
            <a:r>
              <a:rPr lang="en-US" sz="2000" b="0" i="0" u="none" strike="noStrike" baseline="0" dirty="0">
                <a:solidFill>
                  <a:srgbClr val="000000"/>
                </a:solidFill>
                <a:latin typeface="Times New Roman" pitchFamily="18" charset="0"/>
                <a:cs typeface="Times New Roman" pitchFamily="18" charset="0"/>
              </a:rPr>
              <a:t>simply an explicit type conversion. </a:t>
            </a:r>
          </a:p>
          <a:p>
            <a:pPr marL="114300" indent="0">
              <a:buNone/>
            </a:pPr>
            <a:r>
              <a:rPr lang="en-US" sz="2000" b="0" i="0" u="none" strike="noStrike" baseline="0" dirty="0">
                <a:solidFill>
                  <a:srgbClr val="000000"/>
                </a:solidFill>
                <a:latin typeface="Times New Roman" pitchFamily="18" charset="0"/>
                <a:cs typeface="Times New Roman" pitchFamily="18" charset="0"/>
              </a:rPr>
              <a:t>3) The general form of Casting is – </a:t>
            </a:r>
            <a:r>
              <a:rPr lang="en-US" sz="2000" b="1" dirty="0">
                <a:solidFill>
                  <a:srgbClr val="000000"/>
                </a:solidFill>
                <a:latin typeface="Times New Roman" pitchFamily="18" charset="0"/>
                <a:cs typeface="Times New Roman" pitchFamily="18" charset="0"/>
              </a:rPr>
              <a:t> (</a:t>
            </a:r>
            <a:r>
              <a:rPr lang="en-US" sz="2000" b="1" i="1" dirty="0">
                <a:solidFill>
                  <a:srgbClr val="000000"/>
                </a:solidFill>
                <a:latin typeface="Times New Roman" pitchFamily="18" charset="0"/>
                <a:cs typeface="Times New Roman" pitchFamily="18" charset="0"/>
              </a:rPr>
              <a:t>target-type) value </a:t>
            </a:r>
            <a:endParaRPr lang="en-US" sz="2000" b="0" i="0" u="none" strike="noStrike" baseline="0" dirty="0">
              <a:solidFill>
                <a:srgbClr val="000000"/>
              </a:solidFill>
              <a:latin typeface="Times New Roman" pitchFamily="18" charset="0"/>
              <a:cs typeface="Times New Roman" pitchFamily="18" charset="0"/>
            </a:endParaRPr>
          </a:p>
          <a:p>
            <a:pPr marL="114300" indent="0">
              <a:buNone/>
            </a:pPr>
            <a:r>
              <a:rPr lang="en-US" sz="2000" b="1" i="0" u="none" strike="noStrike" baseline="0" dirty="0">
                <a:solidFill>
                  <a:srgbClr val="000000"/>
                </a:solidFill>
                <a:latin typeface="Times New Roman" pitchFamily="18" charset="0"/>
                <a:cs typeface="Times New Roman" pitchFamily="18" charset="0"/>
              </a:rPr>
              <a:t>// Demonstrate casting </a:t>
            </a:r>
            <a:endParaRPr lang="en-US" sz="2000" b="0" i="0" u="none" strike="noStrike" baseline="0" dirty="0">
              <a:solidFill>
                <a:srgbClr val="000000"/>
              </a:solidFill>
              <a:latin typeface="Times New Roman" pitchFamily="18" charset="0"/>
              <a:cs typeface="Times New Roman" pitchFamily="18" charset="0"/>
            </a:endParaRPr>
          </a:p>
          <a:p>
            <a:pPr marL="114300" indent="0">
              <a:buNone/>
            </a:pPr>
            <a:r>
              <a:rPr lang="en-US" sz="2000" b="0" i="0" u="none" strike="noStrike" baseline="0" dirty="0">
                <a:solidFill>
                  <a:srgbClr val="000000"/>
                </a:solidFill>
                <a:latin typeface="Times New Roman" pitchFamily="18" charset="0"/>
                <a:cs typeface="Times New Roman" pitchFamily="18" charset="0"/>
              </a:rPr>
              <a:t>class Casting { </a:t>
            </a:r>
          </a:p>
          <a:p>
            <a:pPr marL="114300" indent="0">
              <a:buNone/>
            </a:pPr>
            <a:r>
              <a:rPr lang="en-US" sz="2000" b="0" i="0" u="none" strike="noStrike" baseline="0" dirty="0">
                <a:solidFill>
                  <a:srgbClr val="000000"/>
                </a:solidFill>
                <a:latin typeface="Times New Roman" pitchFamily="18" charset="0"/>
                <a:cs typeface="Times New Roman" pitchFamily="18" charset="0"/>
              </a:rPr>
              <a:t>public static void main(String </a:t>
            </a:r>
            <a:r>
              <a:rPr lang="en-US" sz="2000" b="0" i="0" u="none" strike="noStrike" baseline="0" dirty="0" err="1">
                <a:solidFill>
                  <a:srgbClr val="000000"/>
                </a:solidFill>
                <a:latin typeface="Times New Roman" pitchFamily="18" charset="0"/>
                <a:cs typeface="Times New Roman" pitchFamily="18" charset="0"/>
              </a:rPr>
              <a:t>args</a:t>
            </a:r>
            <a:r>
              <a:rPr lang="en-US" sz="2000" b="0" i="0" u="none" strike="noStrike" baseline="0" dirty="0">
                <a:solidFill>
                  <a:srgbClr val="000000"/>
                </a:solidFill>
                <a:latin typeface="Times New Roman" pitchFamily="18" charset="0"/>
                <a:cs typeface="Times New Roman" pitchFamily="18" charset="0"/>
              </a:rPr>
              <a:t>[]) { byte b; </a:t>
            </a:r>
          </a:p>
          <a:p>
            <a:pPr marL="114300" indent="0">
              <a:buNone/>
            </a:pPr>
            <a:r>
              <a:rPr lang="en-US" sz="2000" b="0" i="0" u="none" strike="noStrike" baseline="0" dirty="0">
                <a:solidFill>
                  <a:srgbClr val="000000"/>
                </a:solidFill>
                <a:latin typeface="Times New Roman" pitchFamily="18" charset="0"/>
                <a:cs typeface="Times New Roman" pitchFamily="18" charset="0"/>
              </a:rPr>
              <a:t>int I = 257; </a:t>
            </a:r>
          </a:p>
          <a:p>
            <a:pPr marL="114300" indent="0">
              <a:buNone/>
            </a:pPr>
            <a:r>
              <a:rPr lang="en-US" sz="2000" b="0" i="0" u="none" strike="noStrike" baseline="0" dirty="0">
                <a:solidFill>
                  <a:srgbClr val="000000"/>
                </a:solidFill>
                <a:latin typeface="Times New Roman" pitchFamily="18" charset="0"/>
                <a:cs typeface="Times New Roman" pitchFamily="18" charset="0"/>
              </a:rPr>
              <a:t>double d = 323.142; </a:t>
            </a:r>
          </a:p>
          <a:p>
            <a:pPr marL="114300" indent="0">
              <a:buNone/>
            </a:pPr>
            <a:r>
              <a:rPr lang="en-US" sz="2000" b="0" i="0" u="none" strike="noStrike" baseline="0" dirty="0" err="1">
                <a:solidFill>
                  <a:srgbClr val="000000"/>
                </a:solidFill>
                <a:latin typeface="Times New Roman" pitchFamily="18" charset="0"/>
                <a:cs typeface="Times New Roman" pitchFamily="18" charset="0"/>
              </a:rPr>
              <a:t>System.out.println</a:t>
            </a:r>
            <a:r>
              <a:rPr lang="en-US" sz="2000" b="0" i="0" u="none" strike="noStrike" baseline="0" dirty="0">
                <a:solidFill>
                  <a:srgbClr val="000000"/>
                </a:solidFill>
                <a:latin typeface="Times New Roman" pitchFamily="18" charset="0"/>
                <a:cs typeface="Times New Roman" pitchFamily="18" charset="0"/>
              </a:rPr>
              <a:t>("\n Conversion of int to byte."); b = (byte) I; </a:t>
            </a:r>
          </a:p>
          <a:p>
            <a:pPr marL="114300" indent="0">
              <a:buNone/>
            </a:pPr>
            <a:r>
              <a:rPr lang="en-US" sz="2000" b="0" i="0" u="none" strike="noStrike" baseline="0" dirty="0" err="1">
                <a:solidFill>
                  <a:srgbClr val="000000"/>
                </a:solidFill>
                <a:latin typeface="Times New Roman" pitchFamily="18" charset="0"/>
                <a:cs typeface="Times New Roman" pitchFamily="18" charset="0"/>
              </a:rPr>
              <a:t>System.out.println</a:t>
            </a:r>
            <a:r>
              <a:rPr lang="en-US" sz="2000" b="0" i="0" u="none" strike="noStrike" baseline="0" dirty="0">
                <a:solidFill>
                  <a:srgbClr val="000000"/>
                </a:solidFill>
                <a:latin typeface="Times New Roman" pitchFamily="18" charset="0"/>
                <a:cs typeface="Times New Roman" pitchFamily="18" charset="0"/>
              </a:rPr>
              <a:t>("I and b: " + I + " " + b); </a:t>
            </a:r>
          </a:p>
          <a:p>
            <a:pPr marL="114300" indent="0">
              <a:buNone/>
            </a:pPr>
            <a:r>
              <a:rPr lang="en-US" sz="2000" b="0" i="0" u="none" strike="noStrike" baseline="0" dirty="0" err="1">
                <a:solidFill>
                  <a:srgbClr val="000000"/>
                </a:solidFill>
                <a:latin typeface="Times New Roman" pitchFamily="18" charset="0"/>
                <a:cs typeface="Times New Roman" pitchFamily="18" charset="0"/>
              </a:rPr>
              <a:t>System.out.println</a:t>
            </a:r>
            <a:r>
              <a:rPr lang="en-US" sz="2000" b="0" i="0" u="none" strike="noStrike" baseline="0" dirty="0">
                <a:solidFill>
                  <a:srgbClr val="000000"/>
                </a:solidFill>
                <a:latin typeface="Times New Roman" pitchFamily="18" charset="0"/>
                <a:cs typeface="Times New Roman" pitchFamily="18" charset="0"/>
              </a:rPr>
              <a:t>("\n Conversion of double to int."); I = (int) d; </a:t>
            </a:r>
          </a:p>
          <a:p>
            <a:pPr marL="114300" indent="0">
              <a:buNone/>
            </a:pPr>
            <a:r>
              <a:rPr lang="en-US" sz="2000" b="0" i="0" u="none" strike="noStrike" baseline="0" dirty="0" err="1">
                <a:solidFill>
                  <a:srgbClr val="000000"/>
                </a:solidFill>
                <a:latin typeface="Times New Roman" pitchFamily="18" charset="0"/>
                <a:cs typeface="Times New Roman" pitchFamily="18" charset="0"/>
              </a:rPr>
              <a:t>System.out.println</a:t>
            </a:r>
            <a:r>
              <a:rPr lang="en-US" sz="2000" b="0" i="0" u="none" strike="noStrike" baseline="0" dirty="0">
                <a:solidFill>
                  <a:srgbClr val="000000"/>
                </a:solidFill>
                <a:latin typeface="Times New Roman" pitchFamily="18" charset="0"/>
                <a:cs typeface="Times New Roman" pitchFamily="18" charset="0"/>
              </a:rPr>
              <a:t>("d and I :" + d + " " + I); </a:t>
            </a:r>
          </a:p>
          <a:p>
            <a:pPr marL="114300" indent="0">
              <a:buNone/>
            </a:pPr>
            <a:r>
              <a:rPr lang="en-US" sz="2000" b="0" i="0" u="none" strike="noStrike" baseline="0" dirty="0" err="1">
                <a:latin typeface="Times New Roman" pitchFamily="18" charset="0"/>
                <a:cs typeface="Times New Roman" pitchFamily="18" charset="0"/>
              </a:rPr>
              <a:t>System.out.println</a:t>
            </a:r>
            <a:r>
              <a:rPr lang="en-US" sz="2000" b="0" i="0" u="none" strike="noStrike" baseline="0" dirty="0">
                <a:latin typeface="Times New Roman" pitchFamily="18" charset="0"/>
                <a:cs typeface="Times New Roman" pitchFamily="18" charset="0"/>
              </a:rPr>
              <a:t>("\n Conversion of double to byte."); b = (byte) d; </a:t>
            </a:r>
          </a:p>
          <a:p>
            <a:pPr marL="114300" indent="0">
              <a:buNone/>
            </a:pPr>
            <a:r>
              <a:rPr lang="en-US" sz="2000" b="0" i="0" u="none" strike="noStrike" baseline="0" dirty="0" err="1">
                <a:latin typeface="Times New Roman" pitchFamily="18" charset="0"/>
                <a:cs typeface="Times New Roman" pitchFamily="18" charset="0"/>
              </a:rPr>
              <a:t>System.out.println</a:t>
            </a:r>
            <a:r>
              <a:rPr lang="en-US" sz="2000" b="0" i="0" u="none" strike="noStrike" baseline="0" dirty="0">
                <a:latin typeface="Times New Roman" pitchFamily="18" charset="0"/>
                <a:cs typeface="Times New Roman" pitchFamily="18" charset="0"/>
              </a:rPr>
              <a:t>("d and b: " + d + " " + b); } } </a:t>
            </a:r>
            <a:endParaRPr lang="en-US" dirty="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E40F1717-34BA-40EB-BE9F-BC52258D9D8B}"/>
              </a:ext>
            </a:extLst>
          </p:cNvPr>
          <p:cNvSpPr>
            <a:spLocks noGrp="1"/>
          </p:cNvSpPr>
          <p:nvPr>
            <p:ph type="title"/>
          </p:nvPr>
        </p:nvSpPr>
        <p:spPr>
          <a:xfrm>
            <a:off x="839416" y="0"/>
            <a:ext cx="10515600" cy="471587"/>
          </a:xfrm>
        </p:spPr>
        <p:txBody>
          <a:bodyPr>
            <a:noAutofit/>
          </a:bodyPr>
          <a:lstStyle/>
          <a:p>
            <a:pPr algn="ctr"/>
            <a:r>
              <a:rPr lang="en-US" sz="2800" b="1" i="0" u="none" strike="noStrike" baseline="0" dirty="0">
                <a:solidFill>
                  <a:srgbClr val="000000"/>
                </a:solidFill>
                <a:latin typeface="Times New Roman" panose="02020603050405020304" pitchFamily="18" charset="0"/>
              </a:rPr>
              <a:t>Type Conversion and Casting </a:t>
            </a:r>
            <a:endParaRPr lang="en-US" sz="6000" dirty="0"/>
          </a:p>
        </p:txBody>
      </p:sp>
    </p:spTree>
    <p:extLst>
      <p:ext uri="{BB962C8B-B14F-4D97-AF65-F5344CB8AC3E}">
        <p14:creationId xmlns:p14="http://schemas.microsoft.com/office/powerpoint/2010/main" val="3175139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754B2E-557B-4884-8304-C2B473ABD5A1}"/>
              </a:ext>
            </a:extLst>
          </p:cNvPr>
          <p:cNvSpPr>
            <a:spLocks noGrp="1"/>
          </p:cNvSpPr>
          <p:nvPr>
            <p:ph type="body" idx="1"/>
          </p:nvPr>
        </p:nvSpPr>
        <p:spPr>
          <a:xfrm>
            <a:off x="263352" y="116632"/>
            <a:ext cx="11449272" cy="6436599"/>
          </a:xfrm>
        </p:spPr>
        <p:txBody>
          <a:bodyPr>
            <a:normAutofit fontScale="25000" lnSpcReduction="20000"/>
          </a:bodyPr>
          <a:lstStyle/>
          <a:p>
            <a:pPr marL="114300" indent="0" algn="ctr">
              <a:buNone/>
            </a:pPr>
            <a:r>
              <a:rPr lang="en-US" sz="11200" b="1" i="0" u="none" strike="noStrike" baseline="0" dirty="0">
                <a:solidFill>
                  <a:srgbClr val="000000"/>
                </a:solidFill>
                <a:latin typeface="Times New Roman" panose="02020603050405020304" pitchFamily="18" charset="0"/>
                <a:cs typeface="Times New Roman" panose="02020603050405020304" pitchFamily="18" charset="0"/>
              </a:rPr>
              <a:t>Automatic Type Promotion in Expressions </a:t>
            </a:r>
            <a:endParaRPr lang="en-US" sz="112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8000" b="1" i="0" u="none" strike="noStrike" baseline="0" dirty="0">
                <a:solidFill>
                  <a:srgbClr val="000000"/>
                </a:solidFill>
                <a:latin typeface="Times New Roman" panose="02020603050405020304" pitchFamily="18" charset="0"/>
                <a:cs typeface="Times New Roman" panose="02020603050405020304" pitchFamily="18" charset="0"/>
              </a:rPr>
              <a:t>Java’s Type Promotion Rules </a:t>
            </a:r>
            <a:endParaRPr lang="en-US" sz="80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8000" b="0" i="0" u="none" strike="noStrike" baseline="0" dirty="0">
                <a:solidFill>
                  <a:srgbClr val="000000"/>
                </a:solidFill>
                <a:latin typeface="Times New Roman" panose="02020603050405020304" pitchFamily="18" charset="0"/>
                <a:cs typeface="Times New Roman" panose="02020603050405020304" pitchFamily="18" charset="0"/>
              </a:rPr>
              <a:t>1. All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byte</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short</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 and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char </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values are promoted to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int</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8000" b="0" i="0" u="none" strike="noStrike" baseline="0" dirty="0">
                <a:solidFill>
                  <a:srgbClr val="000000"/>
                </a:solidFill>
                <a:latin typeface="Times New Roman" panose="02020603050405020304" pitchFamily="18" charset="0"/>
                <a:cs typeface="Times New Roman" panose="02020603050405020304" pitchFamily="18" charset="0"/>
              </a:rPr>
              <a:t>2. If one operand is a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long</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 the whole expression is promoted to </a:t>
            </a:r>
            <a:r>
              <a:rPr lang="en-US" sz="8000" b="0" i="1" u="none" strike="noStrike" baseline="0" dirty="0">
                <a:solidFill>
                  <a:srgbClr val="000000"/>
                </a:solidFill>
                <a:latin typeface="Times New Roman" panose="02020603050405020304" pitchFamily="18" charset="0"/>
                <a:cs typeface="Times New Roman" panose="02020603050405020304" pitchFamily="18" charset="0"/>
              </a:rPr>
              <a:t>long</a:t>
            </a:r>
            <a:r>
              <a:rPr lang="en-US" sz="80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US" sz="8000" b="0" i="0" u="none" strike="noStrike" baseline="0" dirty="0">
                <a:solidFill>
                  <a:srgbClr val="000000"/>
                </a:solidFill>
                <a:latin typeface="Times New Roman" panose="02020603050405020304" pitchFamily="18" charset="0"/>
                <a:cs typeface="Times New Roman" panose="02020603050405020304" pitchFamily="18" charset="0"/>
              </a:rPr>
              <a:t>3. If one operand is a float, the entire expression is promoted to float. </a:t>
            </a:r>
          </a:p>
          <a:p>
            <a:pPr marL="114300" indent="0">
              <a:buNone/>
            </a:pPr>
            <a:r>
              <a:rPr lang="en-US" sz="8000" b="0" i="0" u="none" strike="noStrike" baseline="0" dirty="0">
                <a:solidFill>
                  <a:srgbClr val="000000"/>
                </a:solidFill>
                <a:latin typeface="Times New Roman" panose="02020603050405020304" pitchFamily="18" charset="0"/>
                <a:cs typeface="Times New Roman" panose="02020603050405020304" pitchFamily="18" charset="0"/>
              </a:rPr>
              <a:t>4. If any of the operands are double, the result is double</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 </a:t>
            </a:r>
          </a:p>
          <a:p>
            <a:pPr marL="114300" indent="0">
              <a:buNone/>
            </a:pPr>
            <a:endParaRPr lang="en-US" sz="6400" b="1"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6400" b="1" i="0" u="none" strike="noStrike" baseline="0" dirty="0">
                <a:solidFill>
                  <a:srgbClr val="000000"/>
                </a:solidFill>
                <a:latin typeface="Times New Roman" panose="02020603050405020304" pitchFamily="18" charset="0"/>
                <a:cs typeface="Times New Roman" panose="02020603050405020304" pitchFamily="18" charset="0"/>
              </a:rPr>
              <a:t>Example: </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byte b = 50; </a:t>
            </a:r>
          </a:p>
          <a:p>
            <a:pPr marL="114300" indent="0">
              <a:buNone/>
            </a:pPr>
            <a:r>
              <a:rPr lang="en-US" sz="6400" b="1" i="0" u="none" strike="noStrike" baseline="0" dirty="0">
                <a:solidFill>
                  <a:srgbClr val="000000"/>
                </a:solidFill>
                <a:latin typeface="Times New Roman" panose="02020603050405020304" pitchFamily="18" charset="0"/>
                <a:cs typeface="Times New Roman" panose="02020603050405020304" pitchFamily="18" charset="0"/>
              </a:rPr>
              <a:t>Output: </a:t>
            </a:r>
            <a:endParaRPr lang="en-US" sz="64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Compilation Error (because, in expression, byte is promoted to int so, the result also int)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b = b * 2; 36 </a:t>
            </a:r>
          </a:p>
          <a:p>
            <a:pPr marL="114300" indent="0">
              <a:buNone/>
            </a:pPr>
            <a:endParaRPr lang="en-US" sz="6400" b="1"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6400" b="1" i="0" u="none" strike="noStrike" baseline="0" dirty="0">
                <a:solidFill>
                  <a:srgbClr val="000000"/>
                </a:solidFill>
                <a:latin typeface="Times New Roman" panose="02020603050405020304" pitchFamily="18" charset="0"/>
                <a:cs typeface="Times New Roman" panose="02020603050405020304" pitchFamily="18" charset="0"/>
              </a:rPr>
              <a:t>Example </a:t>
            </a:r>
            <a:endParaRPr lang="en-US" sz="64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class Test {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public static void main(String </a:t>
            </a: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args</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 { byte b = 42;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char c = 'a'; short s = 1024; int </a:t>
            </a: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 = 50000; float f = 5.67f;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double d = .1234;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double result = (f * b) + (</a:t>
            </a: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 / c) - (d * s); </a:t>
            </a: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((f * b) + " + " + (</a:t>
            </a: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i</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 / c) + " - " + (d * s)); </a:t>
            </a:r>
          </a:p>
          <a:p>
            <a:pPr marL="114300" indent="0">
              <a:buNone/>
            </a:pPr>
            <a:r>
              <a:rPr lang="en-US" sz="6400" b="0" i="0" u="none" strike="noStrike" baseline="0" dirty="0" err="1">
                <a:solidFill>
                  <a:srgbClr val="000000"/>
                </a:solidFill>
                <a:latin typeface="Times New Roman" panose="02020603050405020304" pitchFamily="18" charset="0"/>
                <a:cs typeface="Times New Roman" panose="02020603050405020304" pitchFamily="18" charset="0"/>
              </a:rPr>
              <a:t>System.out.println</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("result = " + result); </a:t>
            </a:r>
          </a:p>
          <a:p>
            <a:pPr marL="114300" indent="0">
              <a:buNone/>
            </a:pPr>
            <a:r>
              <a:rPr lang="en-US" sz="6400" b="0" i="0" u="none" strike="noStrike" baseline="0" dirty="0">
                <a:solidFill>
                  <a:srgbClr val="000000"/>
                </a:solidFill>
                <a:latin typeface="Times New Roman" panose="02020603050405020304" pitchFamily="18" charset="0"/>
                <a:cs typeface="Times New Roman" panose="02020603050405020304" pitchFamily="18" charset="0"/>
              </a:rPr>
              <a:t>} }                                                            </a:t>
            </a:r>
            <a:r>
              <a:rPr lang="en-US" sz="6400" b="1" i="0" u="none" strike="noStrike" baseline="0" dirty="0">
                <a:solidFill>
                  <a:srgbClr val="000000"/>
                </a:solidFill>
                <a:latin typeface="Times New Roman" panose="02020603050405020304" pitchFamily="18" charset="0"/>
                <a:cs typeface="Times New Roman" panose="02020603050405020304" pitchFamily="18" charset="0"/>
              </a:rPr>
              <a:t>Output: </a:t>
            </a:r>
            <a:r>
              <a:rPr lang="en-US" sz="6400" b="0" i="0" u="none" strike="noStrike" baseline="0" dirty="0">
                <a:solidFill>
                  <a:srgbClr val="000000"/>
                </a:solidFill>
                <a:latin typeface="Times New Roman" panose="02020603050405020304" pitchFamily="18" charset="0"/>
                <a:cs typeface="Times New Roman" panose="02020603050405020304" pitchFamily="18" charset="0"/>
              </a:rPr>
              <a:t>235.2 + 515 - 126.3616  result = 623.8384122070313 </a:t>
            </a:r>
            <a:endParaRPr lang="en-US" sz="6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857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29b8a678385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Access Modifiers</a:t>
            </a:r>
            <a:endParaRPr sz="3600" b="1" dirty="0">
              <a:latin typeface="Times New Roman" pitchFamily="18" charset="0"/>
              <a:cs typeface="Times New Roman" pitchFamily="18" charset="0"/>
            </a:endParaRPr>
          </a:p>
        </p:txBody>
      </p:sp>
      <p:sp>
        <p:nvSpPr>
          <p:cNvPr id="238" name="Google Shape;238;g29b8a678385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0" algn="l" rtl="0">
              <a:spcBef>
                <a:spcPts val="1000"/>
              </a:spcBef>
              <a:spcAft>
                <a:spcPts val="0"/>
              </a:spcAft>
              <a:buNone/>
            </a:pPr>
            <a:r>
              <a:rPr lang="en-US" dirty="0">
                <a:latin typeface="Times New Roman" pitchFamily="18" charset="0"/>
                <a:cs typeface="Times New Roman" pitchFamily="18" charset="0"/>
              </a:rPr>
              <a:t>In Java, access modifiers are keywords that determine the visibility or accessibility of classes, methods, and fields in a class. There are four access modifiers in Java:</a:t>
            </a:r>
            <a:endParaRPr dirty="0">
              <a:latin typeface="Times New Roman" pitchFamily="18" charset="0"/>
              <a:cs typeface="Times New Roman" pitchFamily="18" charset="0"/>
            </a:endParaRPr>
          </a:p>
          <a:p>
            <a:pPr marL="457200" lvl="0" indent="-342900" algn="l" rtl="0">
              <a:spcBef>
                <a:spcPts val="1000"/>
              </a:spcBef>
              <a:spcAft>
                <a:spcPts val="0"/>
              </a:spcAft>
              <a:buSzPts val="1800"/>
              <a:buAutoNum type="arabicPeriod"/>
            </a:pPr>
            <a:r>
              <a:rPr lang="en-US" dirty="0">
                <a:latin typeface="Times New Roman" pitchFamily="18" charset="0"/>
                <a:cs typeface="Times New Roman" pitchFamily="18" charset="0"/>
              </a:rPr>
              <a:t>Default (Package-private)</a:t>
            </a:r>
            <a:endParaRPr dirty="0">
              <a:latin typeface="Times New Roman" pitchFamily="18" charset="0"/>
              <a:cs typeface="Times New Roman" pitchFamily="18" charset="0"/>
            </a:endParaRPr>
          </a:p>
          <a:p>
            <a:pPr marL="457200" lvl="0" indent="-342900" algn="l" rtl="0">
              <a:spcBef>
                <a:spcPts val="0"/>
              </a:spcBef>
              <a:spcAft>
                <a:spcPts val="0"/>
              </a:spcAft>
              <a:buSzPts val="1800"/>
              <a:buAutoNum type="arabicPeriod"/>
            </a:pPr>
            <a:r>
              <a:rPr lang="en-US" dirty="0">
                <a:latin typeface="Times New Roman" pitchFamily="18" charset="0"/>
                <a:cs typeface="Times New Roman" pitchFamily="18" charset="0"/>
              </a:rPr>
              <a:t>public</a:t>
            </a:r>
            <a:endParaRPr dirty="0">
              <a:latin typeface="Times New Roman" pitchFamily="18" charset="0"/>
              <a:cs typeface="Times New Roman" pitchFamily="18" charset="0"/>
            </a:endParaRPr>
          </a:p>
          <a:p>
            <a:pPr marL="457200" lvl="0" indent="-342900" algn="l" rtl="0">
              <a:spcBef>
                <a:spcPts val="0"/>
              </a:spcBef>
              <a:spcAft>
                <a:spcPts val="0"/>
              </a:spcAft>
              <a:buSzPts val="1800"/>
              <a:buAutoNum type="arabicPeriod"/>
            </a:pPr>
            <a:r>
              <a:rPr lang="en-US" dirty="0">
                <a:latin typeface="Times New Roman" pitchFamily="18" charset="0"/>
                <a:cs typeface="Times New Roman" pitchFamily="18" charset="0"/>
              </a:rPr>
              <a:t>private</a:t>
            </a:r>
            <a:endParaRPr dirty="0">
              <a:latin typeface="Times New Roman" pitchFamily="18" charset="0"/>
              <a:cs typeface="Times New Roman" pitchFamily="18" charset="0"/>
            </a:endParaRPr>
          </a:p>
          <a:p>
            <a:pPr marL="457200" lvl="0" indent="-342900" algn="l" rtl="0">
              <a:spcBef>
                <a:spcPts val="0"/>
              </a:spcBef>
              <a:spcAft>
                <a:spcPts val="0"/>
              </a:spcAft>
              <a:buSzPts val="1800"/>
              <a:buAutoNum type="arabicPeriod"/>
            </a:pPr>
            <a:r>
              <a:rPr lang="en-US" dirty="0">
                <a:latin typeface="Times New Roman" pitchFamily="18" charset="0"/>
                <a:cs typeface="Times New Roman" pitchFamily="18" charset="0"/>
              </a:rPr>
              <a:t>protected</a:t>
            </a:r>
            <a:endParaRPr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26183a85b31_0_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b="1" dirty="0">
                <a:latin typeface="Times New Roman" pitchFamily="18" charset="0"/>
                <a:cs typeface="Times New Roman" pitchFamily="18" charset="0"/>
              </a:rPr>
              <a:t>Default-package private access modifier</a:t>
            </a:r>
            <a:endParaRPr sz="3600" b="1" dirty="0">
              <a:latin typeface="Times New Roman" pitchFamily="18" charset="0"/>
              <a:cs typeface="Times New Roman" pitchFamily="18" charset="0"/>
            </a:endParaRPr>
          </a:p>
        </p:txBody>
      </p:sp>
      <p:sp>
        <p:nvSpPr>
          <p:cNvPr id="244" name="Google Shape;244;g26183a85b31_0_2"/>
          <p:cNvSpPr txBox="1">
            <a:spLocks noGrp="1"/>
          </p:cNvSpPr>
          <p:nvPr>
            <p:ph type="body" idx="1"/>
          </p:nvPr>
        </p:nvSpPr>
        <p:spPr>
          <a:xfrm>
            <a:off x="838200" y="1458500"/>
            <a:ext cx="10719600" cy="5277600"/>
          </a:xfrm>
          <a:prstGeom prst="rect">
            <a:avLst/>
          </a:prstGeom>
        </p:spPr>
        <p:txBody>
          <a:bodyPr spcFirstLastPara="1" wrap="square" lIns="91425" tIns="45700" rIns="91425" bIns="45700" anchor="t" anchorCtr="0">
            <a:normAutofit lnSpcReduction="10000"/>
          </a:bodyPr>
          <a:lstStyle/>
          <a:p>
            <a:pPr marL="0" lvl="0" indent="0" algn="just" rtl="0">
              <a:spcBef>
                <a:spcPts val="1000"/>
              </a:spcBef>
              <a:spcAft>
                <a:spcPts val="0"/>
              </a:spcAft>
              <a:buNone/>
            </a:pPr>
            <a:r>
              <a:rPr lang="en-US" dirty="0">
                <a:latin typeface="Times New Roman" pitchFamily="18" charset="0"/>
                <a:cs typeface="Times New Roman" pitchFamily="18" charset="0"/>
              </a:rPr>
              <a:t>If no access modifier is specified, it is considered default (also known as package-private).</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Members (classes, methods, and fields) with default access are accessible within the same package but not outside of it.</a:t>
            </a:r>
            <a:endParaRPr dirty="0">
              <a:latin typeface="Times New Roman" pitchFamily="18" charset="0"/>
              <a:cs typeface="Times New Roman" pitchFamily="18" charset="0"/>
            </a:endParaRPr>
          </a:p>
          <a:p>
            <a:pPr marL="0" lvl="0" indent="0" algn="just" rtl="0">
              <a:spcBef>
                <a:spcPts val="1000"/>
              </a:spcBef>
              <a:spcAft>
                <a:spcPts val="0"/>
              </a:spcAft>
              <a:buNone/>
            </a:pP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class </a:t>
            </a:r>
            <a:r>
              <a:rPr lang="en-US" dirty="0" err="1">
                <a:latin typeface="Times New Roman" pitchFamily="18" charset="0"/>
                <a:cs typeface="Times New Roman" pitchFamily="18" charset="0"/>
              </a:rPr>
              <a:t>MyClass</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myField</a:t>
            </a:r>
            <a:r>
              <a:rPr lang="en-US" dirty="0">
                <a:latin typeface="Times New Roman" pitchFamily="18" charset="0"/>
                <a:cs typeface="Times New Roman" pitchFamily="18" charset="0"/>
              </a:rPr>
              <a:t>;  // default access</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void </a:t>
            </a:r>
            <a:r>
              <a:rPr lang="en-US" dirty="0" err="1">
                <a:latin typeface="Times New Roman" pitchFamily="18" charset="0"/>
                <a:cs typeface="Times New Roman" pitchFamily="18" charset="0"/>
              </a:rPr>
              <a:t>myMethod</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 default access</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just" rtl="0">
              <a:spcBef>
                <a:spcPts val="1000"/>
              </a:spcBef>
              <a:spcAft>
                <a:spcPts val="0"/>
              </a:spcAft>
              <a:buNone/>
            </a:pP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just" rtl="0">
              <a:spcBef>
                <a:spcPts val="1000"/>
              </a:spcBef>
              <a:spcAft>
                <a:spcPts val="0"/>
              </a:spcAft>
              <a:buNone/>
            </a:pPr>
            <a:endParaRPr dirty="0"/>
          </a:p>
          <a:p>
            <a:pPr marL="0" lvl="0" indent="0" algn="just" rtl="0">
              <a:spcBef>
                <a:spcPts val="1000"/>
              </a:spcBef>
              <a:spcAft>
                <a:spcPts val="0"/>
              </a:spcAft>
              <a:buNone/>
            </a:pPr>
            <a:endParaRPr dirty="0"/>
          </a:p>
          <a:p>
            <a:pPr marL="0" lvl="0" indent="0" algn="just" rtl="0">
              <a:spcBef>
                <a:spcPts val="1000"/>
              </a:spcBef>
              <a:spcAft>
                <a:spcPts val="0"/>
              </a:spcAft>
              <a:buNone/>
            </a:pP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6183a85b31_0_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public- access modifier</a:t>
            </a:r>
            <a:endParaRPr sz="3600" b="1" dirty="0">
              <a:latin typeface="Times New Roman" pitchFamily="18" charset="0"/>
              <a:cs typeface="Times New Roman" pitchFamily="18" charset="0"/>
            </a:endParaRPr>
          </a:p>
        </p:txBody>
      </p:sp>
      <p:sp>
        <p:nvSpPr>
          <p:cNvPr id="250" name="Google Shape;250;g26183a85b31_0_13"/>
          <p:cNvSpPr txBox="1">
            <a:spLocks noGrp="1"/>
          </p:cNvSpPr>
          <p:nvPr>
            <p:ph type="body" idx="1"/>
          </p:nvPr>
        </p:nvSpPr>
        <p:spPr>
          <a:xfrm>
            <a:off x="911424" y="1573131"/>
            <a:ext cx="10515600" cy="48609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The public modifier makes a class, method, or field accessible from any other class.</a:t>
            </a:r>
            <a:endParaRPr dirty="0">
              <a:latin typeface="Times New Roman" pitchFamily="18" charset="0"/>
              <a:cs typeface="Times New Roman" pitchFamily="18" charset="0"/>
            </a:endParaRPr>
          </a:p>
          <a:p>
            <a:pPr marL="0" lvl="0" indent="0" algn="l" rtl="0">
              <a:spcBef>
                <a:spcPts val="1000"/>
              </a:spcBef>
              <a:spcAft>
                <a:spcPts val="0"/>
              </a:spcAft>
              <a:buNone/>
            </a:pPr>
            <a:r>
              <a:rPr lang="en-US" dirty="0">
                <a:latin typeface="Times New Roman" pitchFamily="18" charset="0"/>
                <a:cs typeface="Times New Roman" pitchFamily="18" charset="0"/>
              </a:rPr>
              <a:t>There are no restrictions on accessing public members.</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public class </a:t>
            </a:r>
            <a:r>
              <a:rPr lang="en-US" dirty="0" err="1">
                <a:latin typeface="Times New Roman" pitchFamily="18" charset="0"/>
                <a:cs typeface="Times New Roman" pitchFamily="18" charset="0"/>
              </a:rPr>
              <a:t>PublicClass</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public int </a:t>
            </a:r>
            <a:r>
              <a:rPr lang="en-US" dirty="0" err="1">
                <a:latin typeface="Times New Roman" pitchFamily="18" charset="0"/>
                <a:cs typeface="Times New Roman" pitchFamily="18" charset="0"/>
              </a:rPr>
              <a:t>publicField</a:t>
            </a: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public void </a:t>
            </a:r>
            <a:r>
              <a:rPr lang="en-US" dirty="0" err="1">
                <a:latin typeface="Times New Roman" pitchFamily="18" charset="0"/>
                <a:cs typeface="Times New Roman" pitchFamily="18" charset="0"/>
              </a:rPr>
              <a:t>publicMethod</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 code here</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endParaRPr dirty="0"/>
          </a:p>
          <a:p>
            <a:pPr marL="0" lvl="0" indent="0" algn="l" rtl="0">
              <a:spcBef>
                <a:spcPts val="1000"/>
              </a:spcBef>
              <a:spcAft>
                <a:spcPts val="0"/>
              </a:spcAft>
              <a:buNone/>
            </a:pP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26183a85b31_0_21"/>
          <p:cNvSpPr txBox="1">
            <a:spLocks noGrp="1"/>
          </p:cNvSpPr>
          <p:nvPr>
            <p:ph type="title"/>
          </p:nvPr>
        </p:nvSpPr>
        <p:spPr>
          <a:xfrm>
            <a:off x="911424" y="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private-access modifier</a:t>
            </a:r>
            <a:endParaRPr sz="3600" b="1" dirty="0">
              <a:latin typeface="Times New Roman" pitchFamily="18" charset="0"/>
              <a:cs typeface="Times New Roman" pitchFamily="18" charset="0"/>
            </a:endParaRPr>
          </a:p>
        </p:txBody>
      </p:sp>
      <p:sp>
        <p:nvSpPr>
          <p:cNvPr id="256" name="Google Shape;256;g26183a85b31_0_21"/>
          <p:cNvSpPr txBox="1">
            <a:spLocks noGrp="1"/>
          </p:cNvSpPr>
          <p:nvPr>
            <p:ph type="body" idx="1"/>
          </p:nvPr>
        </p:nvSpPr>
        <p:spPr>
          <a:xfrm>
            <a:off x="479376" y="1484784"/>
            <a:ext cx="11363100" cy="48156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The private modifier makes a member (method or field) accessible only within the same class.</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It provides the highest level of encapsulation.</a:t>
            </a:r>
            <a:endParaRPr dirty="0">
              <a:latin typeface="Times New Roman" pitchFamily="18" charset="0"/>
              <a:cs typeface="Times New Roman" pitchFamily="18" charset="0"/>
            </a:endParaRPr>
          </a:p>
          <a:p>
            <a:pPr marL="0" lvl="0" indent="0" algn="l" rtl="0">
              <a:spcBef>
                <a:spcPts val="1000"/>
              </a:spcBef>
              <a:spcAft>
                <a:spcPts val="0"/>
              </a:spcAft>
              <a:buNone/>
            </a:pP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public class </a:t>
            </a:r>
            <a:r>
              <a:rPr lang="en-US" dirty="0" err="1">
                <a:latin typeface="Times New Roman" pitchFamily="18" charset="0"/>
                <a:cs typeface="Times New Roman" pitchFamily="18" charset="0"/>
              </a:rPr>
              <a:t>MyClass</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private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privateField</a:t>
            </a: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private void </a:t>
            </a:r>
            <a:r>
              <a:rPr lang="en-US" dirty="0" err="1">
                <a:latin typeface="Times New Roman" pitchFamily="18" charset="0"/>
                <a:cs typeface="Times New Roman" pitchFamily="18" charset="0"/>
              </a:rPr>
              <a:t>privateMethod</a:t>
            </a: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 code here</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    }</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r>
              <a:rPr lang="en-US" dirty="0">
                <a:latin typeface="Times New Roman" pitchFamily="18" charset="0"/>
                <a:cs typeface="Times New Roman" pitchFamily="18" charset="0"/>
              </a:rPr>
              <a:t>}</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ct val="39285"/>
              <a:buFont typeface="Arial"/>
              <a:buNone/>
            </a:pPr>
            <a:endParaRPr dirty="0"/>
          </a:p>
          <a:p>
            <a:pPr marL="0" lvl="0" indent="0" algn="l" rtl="0">
              <a:spcBef>
                <a:spcPts val="1000"/>
              </a:spcBef>
              <a:spcAft>
                <a:spcPts val="0"/>
              </a:spcAft>
              <a:buNone/>
            </a:pP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26183a85b31_0_28"/>
          <p:cNvSpPr txBox="1">
            <a:spLocks noGrp="1"/>
          </p:cNvSpPr>
          <p:nvPr>
            <p:ph type="title"/>
          </p:nvPr>
        </p:nvSpPr>
        <p:spPr>
          <a:xfrm>
            <a:off x="911424" y="-387424"/>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itchFamily="18" charset="0"/>
                <a:cs typeface="Times New Roman" pitchFamily="18" charset="0"/>
              </a:rPr>
              <a:t>protected-access modifier</a:t>
            </a:r>
            <a:endParaRPr sz="3600" b="1" dirty="0">
              <a:latin typeface="Times New Roman" pitchFamily="18" charset="0"/>
              <a:cs typeface="Times New Roman" pitchFamily="18" charset="0"/>
            </a:endParaRPr>
          </a:p>
        </p:txBody>
      </p:sp>
      <p:sp>
        <p:nvSpPr>
          <p:cNvPr id="262" name="Google Shape;262;g26183a85b31_0_28"/>
          <p:cNvSpPr txBox="1">
            <a:spLocks noGrp="1"/>
          </p:cNvSpPr>
          <p:nvPr>
            <p:ph type="body" idx="1"/>
          </p:nvPr>
        </p:nvSpPr>
        <p:spPr>
          <a:xfrm>
            <a:off x="150167" y="764704"/>
            <a:ext cx="12072664" cy="5589240"/>
          </a:xfrm>
          <a:prstGeom prst="rect">
            <a:avLst/>
          </a:prstGeom>
        </p:spPr>
        <p:txBody>
          <a:bodyPr spcFirstLastPara="1" wrap="square" lIns="91425" tIns="45700" rIns="91425" bIns="45700" anchor="t" anchorCtr="0">
            <a:noAutofit/>
          </a:bodyPr>
          <a:lstStyle/>
          <a:p>
            <a:pPr marL="0" lvl="0" indent="0" algn="l" rtl="0">
              <a:lnSpc>
                <a:spcPct val="15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The protected modifier allows a member to be accessible within its own package and by subclasses.</a:t>
            </a:r>
            <a:endParaRPr sz="2400" dirty="0">
              <a:latin typeface="Times New Roman" pitchFamily="18" charset="0"/>
              <a:cs typeface="Times New Roman" pitchFamily="18" charset="0"/>
            </a:endParaRPr>
          </a:p>
          <a:p>
            <a:pPr marL="0" lvl="0" indent="0" algn="l" rtl="0">
              <a:lnSpc>
                <a:spcPct val="15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It is similar to default access but with the addition that it allows access to subclasses even if they are in a different package.</a:t>
            </a: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SzPts val="440"/>
              <a:buNone/>
            </a:pPr>
            <a:endParaRPr sz="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public class </a:t>
            </a:r>
            <a:r>
              <a:rPr lang="en-US" sz="2400" dirty="0" err="1">
                <a:latin typeface="Times New Roman" pitchFamily="18" charset="0"/>
                <a:cs typeface="Times New Roman" pitchFamily="18" charset="0"/>
              </a:rPr>
              <a:t>MyBaseClass</a:t>
            </a:r>
            <a:r>
              <a:rPr lang="en-US" sz="2400" dirty="0">
                <a:latin typeface="Times New Roman" pitchFamily="18" charset="0"/>
                <a:cs typeface="Times New Roman" pitchFamily="18" charset="0"/>
              </a:rPr>
              <a:t> {</a:t>
            </a: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    protected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protectedField</a:t>
            </a:r>
            <a:r>
              <a:rPr lang="en-US" sz="2400" dirty="0">
                <a:latin typeface="Times New Roman" pitchFamily="18" charset="0"/>
                <a:cs typeface="Times New Roman" pitchFamily="18" charset="0"/>
              </a:rPr>
              <a:t>;</a:t>
            </a: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    protected void </a:t>
            </a:r>
            <a:r>
              <a:rPr lang="en-US" sz="2400" dirty="0" err="1">
                <a:latin typeface="Times New Roman" pitchFamily="18" charset="0"/>
                <a:cs typeface="Times New Roman" pitchFamily="18" charset="0"/>
              </a:rPr>
              <a:t>protectedMethod</a:t>
            </a:r>
            <a:r>
              <a:rPr lang="en-US" sz="2400" dirty="0">
                <a:latin typeface="Times New Roman" pitchFamily="18" charset="0"/>
                <a:cs typeface="Times New Roman" pitchFamily="18" charset="0"/>
              </a:rPr>
              <a:t>() {</a:t>
            </a: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r>
              <a:rPr lang="en-US" sz="2400" dirty="0">
                <a:latin typeface="Times New Roman" pitchFamily="18" charset="0"/>
                <a:cs typeface="Times New Roman" pitchFamily="18" charset="0"/>
              </a:rPr>
              <a:t>        // code here</a:t>
            </a:r>
            <a:endParaRPr sz="2400" dirty="0">
              <a:latin typeface="Times New Roman" pitchFamily="18" charset="0"/>
              <a:cs typeface="Times New Roman" pitchFamily="18" charset="0"/>
            </a:endParaRPr>
          </a:p>
          <a:p>
            <a:pPr marL="0" lvl="0" indent="0">
              <a:lnSpc>
                <a:spcPct val="70000"/>
              </a:lnSpc>
              <a:buSzPts val="440"/>
              <a:buNone/>
            </a:pPr>
            <a:r>
              <a:rPr lang="en-US" sz="2400" dirty="0">
                <a:latin typeface="Times New Roman" pitchFamily="18" charset="0"/>
                <a:cs typeface="Times New Roman" pitchFamily="18" charset="0"/>
              </a:rPr>
              <a:t>    }}</a:t>
            </a:r>
            <a:r>
              <a:rPr lang="en-GB" sz="2400" dirty="0">
                <a:latin typeface="Times New Roman" pitchFamily="18" charset="0"/>
                <a:cs typeface="Times New Roman" pitchFamily="18" charset="0"/>
              </a:rPr>
              <a:t> public class </a:t>
            </a:r>
            <a:r>
              <a:rPr lang="en-GB" sz="2400" dirty="0" err="1">
                <a:latin typeface="Times New Roman" pitchFamily="18" charset="0"/>
                <a:cs typeface="Times New Roman" pitchFamily="18" charset="0"/>
              </a:rPr>
              <a:t>MySubClass</a:t>
            </a:r>
            <a:r>
              <a:rPr lang="en-GB" sz="2400" dirty="0">
                <a:latin typeface="Times New Roman" pitchFamily="18" charset="0"/>
                <a:cs typeface="Times New Roman" pitchFamily="18" charset="0"/>
              </a:rPr>
              <a:t> extends </a:t>
            </a:r>
            <a:r>
              <a:rPr lang="en-GB" sz="2400" dirty="0" err="1">
                <a:latin typeface="Times New Roman" pitchFamily="18" charset="0"/>
                <a:cs typeface="Times New Roman" pitchFamily="18" charset="0"/>
              </a:rPr>
              <a:t>MyBaseClass</a:t>
            </a:r>
            <a:r>
              <a:rPr lang="en-GB" sz="2400" dirty="0">
                <a:latin typeface="Times New Roman" pitchFamily="18" charset="0"/>
                <a:cs typeface="Times New Roman" pitchFamily="18" charset="0"/>
              </a:rPr>
              <a:t> {</a:t>
            </a:r>
          </a:p>
          <a:p>
            <a:pPr marL="0" lvl="0" indent="0">
              <a:lnSpc>
                <a:spcPct val="70000"/>
              </a:lnSpc>
              <a:buSzPts val="440"/>
              <a:buNone/>
            </a:pPr>
            <a:r>
              <a:rPr lang="en-GB" sz="2400" dirty="0">
                <a:latin typeface="Times New Roman" pitchFamily="18" charset="0"/>
                <a:cs typeface="Times New Roman" pitchFamily="18" charset="0"/>
              </a:rPr>
              <a:t>    void </a:t>
            </a:r>
            <a:r>
              <a:rPr lang="en-GB" sz="2400" dirty="0" err="1">
                <a:latin typeface="Times New Roman" pitchFamily="18" charset="0"/>
                <a:cs typeface="Times New Roman" pitchFamily="18" charset="0"/>
              </a:rPr>
              <a:t>anotherMethod</a:t>
            </a:r>
            <a:r>
              <a:rPr lang="en-GB" sz="2400" dirty="0">
                <a:latin typeface="Times New Roman" pitchFamily="18" charset="0"/>
                <a:cs typeface="Times New Roman" pitchFamily="18" charset="0"/>
              </a:rPr>
              <a:t>() {</a:t>
            </a:r>
          </a:p>
          <a:p>
            <a:pPr marL="0" lvl="0" indent="0">
              <a:lnSpc>
                <a:spcPct val="70000"/>
              </a:lnSpc>
              <a:buSzPts val="440"/>
              <a:buNone/>
            </a:pP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protectedField</a:t>
            </a:r>
            <a:r>
              <a:rPr lang="en-GB" sz="2400" dirty="0">
                <a:latin typeface="Times New Roman" pitchFamily="18" charset="0"/>
                <a:cs typeface="Times New Roman" pitchFamily="18" charset="0"/>
              </a:rPr>
              <a:t> = 42;  // Accessing protected member from the subclass</a:t>
            </a:r>
          </a:p>
          <a:p>
            <a:pPr marL="0" lvl="0" indent="0">
              <a:lnSpc>
                <a:spcPct val="70000"/>
              </a:lnSpc>
              <a:buSzPts val="440"/>
              <a:buNone/>
            </a:pPr>
            <a:r>
              <a:rPr lang="en-GB" sz="2400" dirty="0">
                <a:latin typeface="Times New Roman" pitchFamily="18" charset="0"/>
                <a:cs typeface="Times New Roman" pitchFamily="18" charset="0"/>
              </a:rPr>
              <a:t>    }  }</a:t>
            </a:r>
          </a:p>
          <a:p>
            <a:pPr marL="0" lvl="0" indent="0" algn="l" rtl="0">
              <a:lnSpc>
                <a:spcPct val="70000"/>
              </a:lnSpc>
              <a:spcBef>
                <a:spcPts val="1000"/>
              </a:spcBef>
              <a:spcAft>
                <a:spcPts val="0"/>
              </a:spcAft>
              <a:buClr>
                <a:schemeClr val="dk1"/>
              </a:buClr>
              <a:buSzPts val="440"/>
              <a:buFont typeface="Arial"/>
              <a:buNone/>
            </a:pP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endParaRPr sz="2400" dirty="0">
              <a:latin typeface="Times New Roman" pitchFamily="18" charset="0"/>
              <a:cs typeface="Times New Roman" pitchFamily="18" charset="0"/>
            </a:endParaRPr>
          </a:p>
          <a:p>
            <a:pPr marL="0" lvl="0" indent="0" algn="l" rtl="0">
              <a:lnSpc>
                <a:spcPct val="70000"/>
              </a:lnSpc>
              <a:spcBef>
                <a:spcPts val="1000"/>
              </a:spcBef>
              <a:spcAft>
                <a:spcPts val="0"/>
              </a:spcAft>
              <a:buClr>
                <a:schemeClr val="dk1"/>
              </a:buClr>
              <a:buSzPts val="440"/>
              <a:buFont typeface="Arial"/>
              <a:buNone/>
            </a:pPr>
            <a:endParaRPr sz="1920" dirty="0"/>
          </a:p>
          <a:p>
            <a:pPr marL="0" lvl="0" indent="0" algn="l" rtl="0">
              <a:lnSpc>
                <a:spcPct val="70000"/>
              </a:lnSpc>
              <a:spcBef>
                <a:spcPts val="1000"/>
              </a:spcBef>
              <a:spcAft>
                <a:spcPts val="0"/>
              </a:spcAft>
              <a:buSzPts val="440"/>
              <a:buNone/>
            </a:pPr>
            <a:endParaRPr sz="192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26183a85b31_0_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1000"/>
              </a:spcBef>
              <a:spcAft>
                <a:spcPts val="0"/>
              </a:spcAft>
              <a:buClr>
                <a:schemeClr val="dk1"/>
              </a:buClr>
              <a:buSzPts val="1100"/>
              <a:buFont typeface="Arial"/>
              <a:buNone/>
            </a:pPr>
            <a:r>
              <a:rPr lang="en-US" sz="3500" b="1"/>
              <a:t>Here's a summary:</a:t>
            </a:r>
            <a:endParaRPr sz="5100" b="1"/>
          </a:p>
        </p:txBody>
      </p:sp>
      <p:sp>
        <p:nvSpPr>
          <p:cNvPr id="268" name="Google Shape;268;g26183a85b31_0_3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Clr>
                <a:schemeClr val="dk1"/>
              </a:buClr>
              <a:buSzPts val="1100"/>
              <a:buFont typeface="Arial"/>
              <a:buNone/>
            </a:pPr>
            <a:endParaRPr sz="3100" dirty="0"/>
          </a:p>
          <a:p>
            <a:pPr marL="0" lvl="0" indent="0" algn="just" rtl="0">
              <a:spcBef>
                <a:spcPts val="1000"/>
              </a:spcBef>
              <a:spcAft>
                <a:spcPts val="0"/>
              </a:spcAft>
              <a:buClr>
                <a:schemeClr val="dk1"/>
              </a:buClr>
              <a:buSzPts val="1100"/>
              <a:buFont typeface="Arial"/>
              <a:buNone/>
            </a:pPr>
            <a:r>
              <a:rPr lang="en-US" sz="3100" b="1" dirty="0"/>
              <a:t>public:</a:t>
            </a:r>
            <a:r>
              <a:rPr lang="en-US" sz="3100" dirty="0"/>
              <a:t> Accessible from anywhere.</a:t>
            </a:r>
            <a:endParaRPr sz="3100" dirty="0"/>
          </a:p>
          <a:p>
            <a:pPr marL="0" lvl="0" indent="0" algn="just" rtl="0">
              <a:spcBef>
                <a:spcPts val="1000"/>
              </a:spcBef>
              <a:spcAft>
                <a:spcPts val="0"/>
              </a:spcAft>
              <a:buClr>
                <a:schemeClr val="dk1"/>
              </a:buClr>
              <a:buSzPts val="1100"/>
              <a:buFont typeface="Arial"/>
              <a:buNone/>
            </a:pPr>
            <a:r>
              <a:rPr lang="en-US" sz="3100" b="1" dirty="0"/>
              <a:t>protected: </a:t>
            </a:r>
            <a:r>
              <a:rPr lang="en-US" sz="3100" dirty="0"/>
              <a:t>Accessible within the same package and by subclasses, even if they are in a different package.</a:t>
            </a:r>
            <a:endParaRPr sz="3100" dirty="0"/>
          </a:p>
          <a:p>
            <a:pPr marL="0" lvl="0" indent="0" algn="just" rtl="0">
              <a:spcBef>
                <a:spcPts val="1000"/>
              </a:spcBef>
              <a:spcAft>
                <a:spcPts val="0"/>
              </a:spcAft>
              <a:buClr>
                <a:schemeClr val="dk1"/>
              </a:buClr>
              <a:buSzPts val="1100"/>
              <a:buFont typeface="Arial"/>
              <a:buNone/>
            </a:pPr>
            <a:r>
              <a:rPr lang="en-US" sz="3100" b="1" dirty="0"/>
              <a:t>Default (Package-Private):</a:t>
            </a:r>
            <a:r>
              <a:rPr lang="en-US" sz="3100" dirty="0"/>
              <a:t> Accessible within the same package.</a:t>
            </a:r>
            <a:endParaRPr sz="3100" dirty="0"/>
          </a:p>
          <a:p>
            <a:pPr marL="0" lvl="0" indent="0" algn="just" rtl="0">
              <a:spcBef>
                <a:spcPts val="1000"/>
              </a:spcBef>
              <a:spcAft>
                <a:spcPts val="0"/>
              </a:spcAft>
              <a:buClr>
                <a:schemeClr val="dk1"/>
              </a:buClr>
              <a:buSzPts val="1100"/>
              <a:buFont typeface="Arial"/>
              <a:buNone/>
            </a:pPr>
            <a:r>
              <a:rPr lang="en-US" sz="3100" b="1" dirty="0"/>
              <a:t>private:</a:t>
            </a:r>
            <a:r>
              <a:rPr lang="en-US" sz="3100" dirty="0"/>
              <a:t> Accessible only within the same class.</a:t>
            </a:r>
            <a:endParaRPr sz="3100" dirty="0"/>
          </a:p>
          <a:p>
            <a:pPr marL="0" lvl="0" indent="0" algn="just" rtl="0">
              <a:spcBef>
                <a:spcPts val="1000"/>
              </a:spcBef>
              <a:spcAft>
                <a:spcPts val="0"/>
              </a:spcAft>
              <a:buNone/>
            </a:pPr>
            <a:endParaRPr sz="3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6183a85b31_0_14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b="1" dirty="0">
                <a:latin typeface="Times New Roman" pitchFamily="18" charset="0"/>
                <a:cs typeface="Times New Roman" pitchFamily="18" charset="0"/>
              </a:rPr>
              <a:t>Lexical Issues</a:t>
            </a:r>
            <a:endParaRPr sz="3600" b="1" dirty="0">
              <a:latin typeface="Times New Roman" pitchFamily="18" charset="0"/>
              <a:cs typeface="Times New Roman" pitchFamily="18" charset="0"/>
            </a:endParaRPr>
          </a:p>
        </p:txBody>
      </p:sp>
      <p:sp>
        <p:nvSpPr>
          <p:cNvPr id="366" name="Google Shape;366;g26183a85b31_0_14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latin typeface="Times New Roman" pitchFamily="18" charset="0"/>
                <a:cs typeface="Times New Roman" pitchFamily="18" charset="0"/>
              </a:rPr>
              <a:t>Java programs are a collection of atomic elements such as whitespace, identifiers, literals, comments, operators, separators, and keywords.</a:t>
            </a:r>
            <a:endParaRPr dirty="0">
              <a:latin typeface="Times New Roman" pitchFamily="18" charset="0"/>
              <a:cs typeface="Times New Roman" pitchFamily="18" charset="0"/>
            </a:endParaRPr>
          </a:p>
          <a:p>
            <a:pPr marL="0" lvl="0" indent="0" algn="l" rtl="0">
              <a:spcBef>
                <a:spcPts val="1000"/>
              </a:spcBef>
              <a:spcAft>
                <a:spcPts val="0"/>
              </a:spcAft>
              <a:buClr>
                <a:schemeClr val="dk1"/>
              </a:buClr>
              <a:buSzPts val="1100"/>
              <a:buFont typeface="Arial"/>
              <a:buNone/>
            </a:pPr>
            <a:r>
              <a:rPr lang="en-US" b="1" dirty="0">
                <a:latin typeface="Times New Roman" pitchFamily="18" charset="0"/>
                <a:cs typeface="Times New Roman" pitchFamily="18" charset="0"/>
              </a:rPr>
              <a:t>Whitespace</a:t>
            </a:r>
            <a:endParaRPr b="1" dirty="0">
              <a:latin typeface="Times New Roman" pitchFamily="18" charset="0"/>
              <a:cs typeface="Times New Roman" pitchFamily="18" charset="0"/>
            </a:endParaRPr>
          </a:p>
          <a:p>
            <a:pPr marL="0" lvl="0" indent="0" algn="l" rtl="0">
              <a:spcBef>
                <a:spcPts val="1000"/>
              </a:spcBef>
              <a:spcAft>
                <a:spcPts val="0"/>
              </a:spcAft>
              <a:buClr>
                <a:schemeClr val="dk1"/>
              </a:buClr>
              <a:buSzPts val="1100"/>
              <a:buFont typeface="Arial"/>
              <a:buNone/>
            </a:pPr>
            <a:r>
              <a:rPr lang="en-US" dirty="0">
                <a:solidFill>
                  <a:srgbClr val="C00000"/>
                </a:solidFill>
                <a:latin typeface="Times New Roman" pitchFamily="18" charset="0"/>
                <a:cs typeface="Times New Roman" pitchFamily="18" charset="0"/>
              </a:rPr>
              <a:t>Java is a free-form language. This means that you do not need to follow any special indentation rules. </a:t>
            </a:r>
            <a:r>
              <a:rPr lang="en-US" dirty="0">
                <a:latin typeface="Times New Roman" pitchFamily="18" charset="0"/>
                <a:cs typeface="Times New Roman" pitchFamily="18" charset="0"/>
              </a:rPr>
              <a:t>For instance, the Example program could have been written all on one line in Java, whitespace includes a space, tab, newline, or form feed.</a:t>
            </a:r>
            <a:endParaRPr dirty="0">
              <a:latin typeface="Times New Roman" pitchFamily="18" charset="0"/>
              <a:cs typeface="Times New Roman" pitchFamily="18" charset="0"/>
            </a:endParaRPr>
          </a:p>
          <a:p>
            <a:pPr marL="0" lvl="0" indent="0" algn="l" rtl="0">
              <a:spcBef>
                <a:spcPts val="1000"/>
              </a:spcBef>
              <a:spcAft>
                <a:spcPts val="0"/>
              </a:spcAft>
              <a:buNone/>
            </a:pP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29c5dcd50c4_0_3"/>
          <p:cNvSpPr txBox="1">
            <a:spLocks noGrp="1"/>
          </p:cNvSpPr>
          <p:nvPr>
            <p:ph type="title"/>
          </p:nvPr>
        </p:nvSpPr>
        <p:spPr>
          <a:xfrm>
            <a:off x="7285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b="1" dirty="0">
                <a:latin typeface="Times New Roman" pitchFamily="18" charset="0"/>
                <a:cs typeface="Times New Roman" pitchFamily="18" charset="0"/>
              </a:rPr>
              <a:t>Identifiers</a:t>
            </a:r>
            <a:endParaRPr sz="3600" b="1" dirty="0">
              <a:latin typeface="Times New Roman" pitchFamily="18" charset="0"/>
              <a:cs typeface="Times New Roman" pitchFamily="18" charset="0"/>
            </a:endParaRPr>
          </a:p>
        </p:txBody>
      </p:sp>
      <p:sp>
        <p:nvSpPr>
          <p:cNvPr id="372" name="Google Shape;372;g29c5dcd50c4_0_3"/>
          <p:cNvSpPr txBox="1">
            <a:spLocks noGrp="1"/>
          </p:cNvSpPr>
          <p:nvPr>
            <p:ph type="body" idx="1"/>
          </p:nvPr>
        </p:nvSpPr>
        <p:spPr>
          <a:xfrm>
            <a:off x="838200" y="1184250"/>
            <a:ext cx="10515600" cy="4351200"/>
          </a:xfrm>
          <a:prstGeom prst="rect">
            <a:avLst/>
          </a:prstGeom>
        </p:spPr>
        <p:txBody>
          <a:bodyPr spcFirstLastPara="1" wrap="square" lIns="91425" tIns="45700" rIns="91425" bIns="45700" anchor="t" anchorCtr="0">
            <a:normAutofit lnSpcReduction="10000"/>
          </a:bodyPr>
          <a:lstStyle/>
          <a:p>
            <a:pPr indent="-457200" algn="just"/>
            <a:r>
              <a:rPr lang="en-US" dirty="0">
                <a:latin typeface="Times New Roman" pitchFamily="18" charset="0"/>
                <a:cs typeface="Times New Roman" pitchFamily="18" charset="0"/>
              </a:rPr>
              <a:t>Identifiers are used to name things, such as </a:t>
            </a:r>
            <a:r>
              <a:rPr lang="en-US" dirty="0">
                <a:solidFill>
                  <a:srgbClr val="C00000"/>
                </a:solidFill>
                <a:latin typeface="Times New Roman" pitchFamily="18" charset="0"/>
                <a:cs typeface="Times New Roman" pitchFamily="18" charset="0"/>
              </a:rPr>
              <a:t>classes, variables, and methods. </a:t>
            </a:r>
            <a:endParaRPr dirty="0">
              <a:solidFill>
                <a:srgbClr val="C00000"/>
              </a:solidFill>
              <a:latin typeface="Times New Roman" pitchFamily="18" charset="0"/>
              <a:cs typeface="Times New Roman" pitchFamily="18" charset="0"/>
            </a:endParaRPr>
          </a:p>
          <a:p>
            <a:pPr indent="-457200" algn="just"/>
            <a:r>
              <a:rPr lang="en-US" dirty="0">
                <a:latin typeface="Times New Roman" pitchFamily="18" charset="0"/>
                <a:cs typeface="Times New Roman" pitchFamily="18" charset="0"/>
              </a:rPr>
              <a:t>An identifier may be any descriptive sequence of uppercase and lowercase letters, numbers, or the underscore and dollar-sign characters. (The dollar-sign character is not intended for general use.) </a:t>
            </a:r>
            <a:endParaRPr dirty="0">
              <a:latin typeface="Times New Roman" pitchFamily="18" charset="0"/>
              <a:cs typeface="Times New Roman" pitchFamily="18" charset="0"/>
            </a:endParaRPr>
          </a:p>
          <a:p>
            <a:pPr indent="-457200" algn="just"/>
            <a:r>
              <a:rPr lang="en-US" dirty="0">
                <a:latin typeface="Times New Roman" pitchFamily="18" charset="0"/>
                <a:cs typeface="Times New Roman" pitchFamily="18" charset="0"/>
              </a:rPr>
              <a:t>They must not begin with a number, lest they be confused with a numeric literal. </a:t>
            </a:r>
            <a:endParaRPr dirty="0">
              <a:latin typeface="Times New Roman" pitchFamily="18" charset="0"/>
              <a:cs typeface="Times New Roman" pitchFamily="18" charset="0"/>
            </a:endParaRPr>
          </a:p>
          <a:p>
            <a:pPr indent="-457200" algn="just">
              <a:buSzPts val="1100"/>
            </a:pPr>
            <a:r>
              <a:rPr lang="en-US" dirty="0">
                <a:latin typeface="Times New Roman" pitchFamily="18" charset="0"/>
                <a:cs typeface="Times New Roman" pitchFamily="18" charset="0"/>
              </a:rPr>
              <a:t>Java is case-sensitive, so VALUE is a different identifier than Value. Some examples of valid identifier are</a:t>
            </a:r>
            <a:endParaRPr dirty="0">
              <a:latin typeface="Times New Roman" pitchFamily="18" charset="0"/>
              <a:cs typeface="Times New Roman" pitchFamily="18" charset="0"/>
            </a:endParaRPr>
          </a:p>
          <a:p>
            <a:pPr marL="0" lvl="0" indent="0" algn="just" rtl="0">
              <a:spcBef>
                <a:spcPts val="1000"/>
              </a:spcBef>
              <a:spcAft>
                <a:spcPts val="0"/>
              </a:spcAft>
              <a:buNone/>
            </a:pPr>
            <a:endParaRPr dirty="0"/>
          </a:p>
        </p:txBody>
      </p:sp>
      <p:pic>
        <p:nvPicPr>
          <p:cNvPr id="373" name="Google Shape;373;g29c5dcd50c4_0_3"/>
          <p:cNvPicPr preferRelativeResize="0"/>
          <p:nvPr/>
        </p:nvPicPr>
        <p:blipFill>
          <a:blip r:embed="rId3">
            <a:alphaModFix/>
          </a:blip>
          <a:stretch>
            <a:fillRect/>
          </a:stretch>
        </p:blipFill>
        <p:spPr>
          <a:xfrm>
            <a:off x="1451557" y="5229200"/>
            <a:ext cx="9538700" cy="129614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29c65cd7469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Literals</a:t>
            </a:r>
            <a:endParaRPr/>
          </a:p>
        </p:txBody>
      </p:sp>
      <p:sp>
        <p:nvSpPr>
          <p:cNvPr id="379" name="Google Shape;379;g29c65cd7469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 constant value in Java is called literal. </a:t>
            </a:r>
            <a:endParaRPr/>
          </a:p>
          <a:p>
            <a:pPr marL="0" lvl="0" indent="0" algn="l" rtl="0">
              <a:spcBef>
                <a:spcPts val="1000"/>
              </a:spcBef>
              <a:spcAft>
                <a:spcPts val="0"/>
              </a:spcAft>
              <a:buNone/>
            </a:pPr>
            <a:r>
              <a:rPr lang="en-US"/>
              <a:t>For example, here are some literals:</a:t>
            </a:r>
            <a:endParaRPr/>
          </a:p>
        </p:txBody>
      </p:sp>
      <p:pic>
        <p:nvPicPr>
          <p:cNvPr id="380" name="Google Shape;380;g29c65cd7469_0_0"/>
          <p:cNvPicPr preferRelativeResize="0"/>
          <p:nvPr/>
        </p:nvPicPr>
        <p:blipFill>
          <a:blip r:embed="rId3">
            <a:alphaModFix/>
          </a:blip>
          <a:stretch>
            <a:fillRect/>
          </a:stretch>
        </p:blipFill>
        <p:spPr>
          <a:xfrm>
            <a:off x="333375" y="3074100"/>
            <a:ext cx="11020426" cy="24024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29c65cd7469_0_8"/>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Comments</a:t>
            </a:r>
            <a:endParaRPr/>
          </a:p>
        </p:txBody>
      </p:sp>
      <p:sp>
        <p:nvSpPr>
          <p:cNvPr id="386" name="Google Shape;386;g29c65cd7469_0_8"/>
          <p:cNvSpPr txBox="1">
            <a:spLocks noGrp="1"/>
          </p:cNvSpPr>
          <p:nvPr>
            <p:ph type="body" idx="1"/>
          </p:nvPr>
        </p:nvSpPr>
        <p:spPr>
          <a:xfrm>
            <a:off x="230225" y="1118450"/>
            <a:ext cx="11495700" cy="5542200"/>
          </a:xfrm>
          <a:prstGeom prst="rect">
            <a:avLst/>
          </a:prstGeom>
        </p:spPr>
        <p:txBody>
          <a:bodyPr spcFirstLastPara="1" wrap="square" lIns="91425" tIns="45700" rIns="91425" bIns="45700" anchor="t" anchorCtr="0">
            <a:normAutofit fontScale="85000" lnSpcReduction="20000"/>
          </a:bodyPr>
          <a:lstStyle/>
          <a:p>
            <a:pPr marL="0" lvl="0" indent="0" algn="just" rtl="0">
              <a:spcBef>
                <a:spcPts val="1000"/>
              </a:spcBef>
              <a:spcAft>
                <a:spcPts val="0"/>
              </a:spcAft>
              <a:buNone/>
            </a:pPr>
            <a:endParaRPr/>
          </a:p>
          <a:p>
            <a:pPr marL="0" lvl="0" indent="0" algn="just" rtl="0">
              <a:spcBef>
                <a:spcPts val="1000"/>
              </a:spcBef>
              <a:spcAft>
                <a:spcPts val="0"/>
              </a:spcAft>
              <a:buNone/>
            </a:pPr>
            <a:r>
              <a:rPr lang="en-US"/>
              <a:t>single-line comment</a:t>
            </a:r>
            <a:endParaRPr/>
          </a:p>
          <a:p>
            <a:pPr marL="0" lvl="0" indent="0" algn="just" rtl="0">
              <a:spcBef>
                <a:spcPts val="1000"/>
              </a:spcBef>
              <a:spcAft>
                <a:spcPts val="0"/>
              </a:spcAft>
              <a:buNone/>
            </a:pPr>
            <a:r>
              <a:rPr lang="en-US"/>
              <a:t>  // comment line</a:t>
            </a:r>
            <a:endParaRPr/>
          </a:p>
          <a:p>
            <a:pPr marL="0" lvl="0" indent="0" algn="just" rtl="0">
              <a:spcBef>
                <a:spcPts val="1000"/>
              </a:spcBef>
              <a:spcAft>
                <a:spcPts val="0"/>
              </a:spcAft>
              <a:buNone/>
            </a:pPr>
            <a:endParaRPr/>
          </a:p>
          <a:p>
            <a:pPr marL="0" lvl="0" indent="0" algn="just" rtl="0">
              <a:spcBef>
                <a:spcPts val="1000"/>
              </a:spcBef>
              <a:spcAft>
                <a:spcPts val="0"/>
              </a:spcAft>
              <a:buNone/>
            </a:pPr>
            <a:r>
              <a:rPr lang="en-US"/>
              <a:t>multiline comment</a:t>
            </a:r>
            <a:endParaRPr/>
          </a:p>
          <a:p>
            <a:pPr marL="0" lvl="0" indent="0" algn="just" rtl="0">
              <a:spcBef>
                <a:spcPts val="1000"/>
              </a:spcBef>
              <a:spcAft>
                <a:spcPts val="0"/>
              </a:spcAft>
              <a:buNone/>
            </a:pPr>
            <a:endParaRPr/>
          </a:p>
          <a:p>
            <a:pPr marL="0" lvl="0" indent="0" algn="just" rtl="0">
              <a:spcBef>
                <a:spcPts val="1000"/>
              </a:spcBef>
              <a:spcAft>
                <a:spcPts val="0"/>
              </a:spcAft>
              <a:buNone/>
            </a:pPr>
            <a:r>
              <a:rPr lang="en-US"/>
              <a:t>/*    here goes the </a:t>
            </a:r>
            <a:endParaRPr/>
          </a:p>
          <a:p>
            <a:pPr marL="0" lvl="0" indent="0" algn="just" rtl="0">
              <a:spcBef>
                <a:spcPts val="1000"/>
              </a:spcBef>
              <a:spcAft>
                <a:spcPts val="0"/>
              </a:spcAft>
              <a:buNone/>
            </a:pPr>
            <a:endParaRPr/>
          </a:p>
          <a:p>
            <a:pPr marL="0" lvl="0" indent="0" algn="just" rtl="0">
              <a:spcBef>
                <a:spcPts val="1000"/>
              </a:spcBef>
              <a:spcAft>
                <a:spcPts val="0"/>
              </a:spcAft>
              <a:buNone/>
            </a:pPr>
            <a:r>
              <a:rPr lang="en-US"/>
              <a:t>multi line </a:t>
            </a:r>
            <a:endParaRPr/>
          </a:p>
          <a:p>
            <a:pPr marL="0" lvl="0" indent="0" algn="just" rtl="0">
              <a:spcBef>
                <a:spcPts val="1000"/>
              </a:spcBef>
              <a:spcAft>
                <a:spcPts val="0"/>
              </a:spcAft>
              <a:buNone/>
            </a:pPr>
            <a:r>
              <a:rPr lang="en-US"/>
              <a:t>comment */</a:t>
            </a:r>
            <a:endParaRPr/>
          </a:p>
          <a:p>
            <a:pPr marL="0" lvl="0" indent="0" algn="just" rtl="0">
              <a:spcBef>
                <a:spcPts val="1000"/>
              </a:spcBef>
              <a:spcAft>
                <a:spcPts val="0"/>
              </a:spcAft>
              <a:buNone/>
            </a:pPr>
            <a:endParaRPr/>
          </a:p>
          <a:p>
            <a:pPr marL="0" lvl="0" indent="0" algn="just" rtl="0">
              <a:spcBef>
                <a:spcPts val="1000"/>
              </a:spcBef>
              <a:spcAft>
                <a:spcPts val="0"/>
              </a:spcAft>
              <a:buNone/>
            </a:pPr>
            <a:r>
              <a:rPr lang="en-US"/>
              <a:t> The third type is called a documentation comment. </a:t>
            </a:r>
            <a:endParaRPr/>
          </a:p>
          <a:p>
            <a:pPr marL="0" lvl="0" indent="0" algn="just" rtl="0">
              <a:spcBef>
                <a:spcPts val="1000"/>
              </a:spcBef>
              <a:spcAft>
                <a:spcPts val="0"/>
              </a:spcAft>
              <a:buNone/>
            </a:pPr>
            <a:r>
              <a:rPr lang="en-US"/>
              <a:t>This type of comment is used to produce an HTML file that documents your program. The documentation comment begins with a /** and ends with a */.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29c65cd7469_0_1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 of a document comment</a:t>
            </a:r>
            <a:endParaRPr/>
          </a:p>
        </p:txBody>
      </p:sp>
      <p:pic>
        <p:nvPicPr>
          <p:cNvPr id="392" name="Google Shape;392;g29c65cd7469_0_15"/>
          <p:cNvPicPr preferRelativeResize="0"/>
          <p:nvPr/>
        </p:nvPicPr>
        <p:blipFill>
          <a:blip r:embed="rId3">
            <a:alphaModFix/>
          </a:blip>
          <a:stretch>
            <a:fillRect/>
          </a:stretch>
        </p:blipFill>
        <p:spPr>
          <a:xfrm>
            <a:off x="1272029" y="1918554"/>
            <a:ext cx="9788601" cy="31797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29c65cd7469_0_21"/>
          <p:cNvSpPr txBox="1">
            <a:spLocks noGrp="1"/>
          </p:cNvSpPr>
          <p:nvPr>
            <p:ph type="title"/>
          </p:nvPr>
        </p:nvSpPr>
        <p:spPr>
          <a:xfrm>
            <a:off x="755975" y="0"/>
            <a:ext cx="10515600" cy="888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Separators</a:t>
            </a:r>
            <a:endParaRPr/>
          </a:p>
        </p:txBody>
      </p:sp>
      <p:pic>
        <p:nvPicPr>
          <p:cNvPr id="398" name="Google Shape;398;g29c65cd7469_0_21"/>
          <p:cNvPicPr preferRelativeResize="0"/>
          <p:nvPr/>
        </p:nvPicPr>
        <p:blipFill>
          <a:blip r:embed="rId3">
            <a:alphaModFix/>
          </a:blip>
          <a:stretch>
            <a:fillRect/>
          </a:stretch>
        </p:blipFill>
        <p:spPr>
          <a:xfrm>
            <a:off x="1627224" y="847550"/>
            <a:ext cx="8635124" cy="51628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9c65cd7469_0_2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Java Keywords</a:t>
            </a:r>
            <a:endParaRPr/>
          </a:p>
        </p:txBody>
      </p:sp>
      <p:pic>
        <p:nvPicPr>
          <p:cNvPr id="404" name="Google Shape;404;g29c65cd7469_0_29"/>
          <p:cNvPicPr preferRelativeResize="0"/>
          <p:nvPr/>
        </p:nvPicPr>
        <p:blipFill>
          <a:blip r:embed="rId3">
            <a:alphaModFix/>
          </a:blip>
          <a:stretch>
            <a:fillRect/>
          </a:stretch>
        </p:blipFill>
        <p:spPr>
          <a:xfrm>
            <a:off x="1438625" y="1575700"/>
            <a:ext cx="9314757" cy="48623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29c65cd7469_0_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Java Class Libraries</a:t>
            </a:r>
            <a:endParaRPr/>
          </a:p>
        </p:txBody>
      </p:sp>
      <p:sp>
        <p:nvSpPr>
          <p:cNvPr id="410" name="Google Shape;410;g29c65cd7469_0_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t>Java’s built-in methods used in the sample programs so far: </a:t>
            </a:r>
            <a:endParaRPr/>
          </a:p>
          <a:p>
            <a:pPr marL="0" lvl="0" indent="0" algn="just" rtl="0">
              <a:spcBef>
                <a:spcPts val="1000"/>
              </a:spcBef>
              <a:spcAft>
                <a:spcPts val="0"/>
              </a:spcAft>
              <a:buNone/>
            </a:pPr>
            <a:r>
              <a:rPr lang="en-US"/>
              <a:t>println( ) and </a:t>
            </a:r>
            <a:endParaRPr/>
          </a:p>
          <a:p>
            <a:pPr marL="0" lvl="0" indent="0" algn="just" rtl="0">
              <a:spcBef>
                <a:spcPts val="1000"/>
              </a:spcBef>
              <a:spcAft>
                <a:spcPts val="0"/>
              </a:spcAft>
              <a:buNone/>
            </a:pPr>
            <a:r>
              <a:rPr lang="en-US"/>
              <a:t>print( ). </a:t>
            </a:r>
            <a:endParaRPr/>
          </a:p>
          <a:p>
            <a:pPr marL="0" lvl="0" indent="0" algn="just" rtl="0">
              <a:spcBef>
                <a:spcPts val="1000"/>
              </a:spcBef>
              <a:spcAft>
                <a:spcPts val="0"/>
              </a:spcAft>
              <a:buNone/>
            </a:pPr>
            <a:r>
              <a:rPr lang="en-US"/>
              <a:t>These methods are available through </a:t>
            </a:r>
            <a:r>
              <a:rPr lang="en-US" b="1"/>
              <a:t>System.out.System</a:t>
            </a:r>
            <a:r>
              <a:rPr lang="en-US"/>
              <a:t> is a class predefined by Java that is automatically included in your programs.</a:t>
            </a:r>
            <a:endParaRPr/>
          </a:p>
          <a:p>
            <a:pPr marL="0" lvl="0" indent="0" algn="just" rtl="0">
              <a:spcBef>
                <a:spcPts val="1000"/>
              </a:spcBef>
              <a:spcAft>
                <a:spcPts val="0"/>
              </a:spcAft>
              <a:buNone/>
            </a:pPr>
            <a:endParaRPr/>
          </a:p>
          <a:p>
            <a:pPr marL="0" lvl="0" indent="0" algn="just" rtl="0">
              <a:spcBef>
                <a:spcPts val="1000"/>
              </a:spcBef>
              <a:spcAft>
                <a:spcPts val="0"/>
              </a:spcAft>
              <a:buNone/>
            </a:pPr>
            <a:r>
              <a:rPr lang="en-US"/>
              <a:t>Java environment relies on several built-in class libraries that contain many built-in methods that provide support for such things as I</a:t>
            </a:r>
            <a:r>
              <a:rPr lang="en-US" b="1"/>
              <a:t>/O, string handling, networking, and graphics.</a:t>
            </a:r>
            <a:endParaRPr b="1"/>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g2a2df431535_0_53"/>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Arrays</a:t>
            </a:r>
            <a:endParaRPr/>
          </a:p>
        </p:txBody>
      </p:sp>
      <p:sp>
        <p:nvSpPr>
          <p:cNvPr id="708" name="Google Shape;708;g2a2df431535_0_53"/>
          <p:cNvSpPr txBox="1">
            <a:spLocks noGrp="1"/>
          </p:cNvSpPr>
          <p:nvPr>
            <p:ph type="body" idx="1"/>
          </p:nvPr>
        </p:nvSpPr>
        <p:spPr>
          <a:xfrm>
            <a:off x="838200" y="1140275"/>
            <a:ext cx="10515600" cy="5036400"/>
          </a:xfrm>
          <a:prstGeom prst="rect">
            <a:avLst/>
          </a:prstGeom>
        </p:spPr>
        <p:txBody>
          <a:bodyPr spcFirstLastPara="1" wrap="square" lIns="91425" tIns="45700" rIns="91425" bIns="45700" anchor="t" anchorCtr="0">
            <a:normAutofit fontScale="85000" lnSpcReduction="10000"/>
          </a:bodyPr>
          <a:lstStyle/>
          <a:p>
            <a:pPr marL="0" lvl="0" indent="0" algn="l" rtl="0">
              <a:spcBef>
                <a:spcPts val="1000"/>
              </a:spcBef>
              <a:spcAft>
                <a:spcPts val="0"/>
              </a:spcAft>
              <a:buNone/>
            </a:pPr>
            <a:r>
              <a:rPr lang="en-US"/>
              <a:t>Collection of elements of similar type under one name.</a:t>
            </a:r>
            <a:endParaRPr/>
          </a:p>
          <a:p>
            <a:pPr marL="0" lvl="0" indent="0" algn="l" rtl="0">
              <a:spcBef>
                <a:spcPts val="1000"/>
              </a:spcBef>
              <a:spcAft>
                <a:spcPts val="0"/>
              </a:spcAft>
              <a:buNone/>
            </a:pPr>
            <a:endParaRPr/>
          </a:p>
          <a:p>
            <a:pPr marL="0" lvl="0" indent="0" algn="l" rtl="0">
              <a:spcBef>
                <a:spcPts val="1000"/>
              </a:spcBef>
              <a:spcAft>
                <a:spcPts val="0"/>
              </a:spcAft>
              <a:buNone/>
            </a:pPr>
            <a:r>
              <a:rPr lang="en-US" b="1"/>
              <a:t>One-Dimensional Arrays:</a:t>
            </a:r>
            <a:endParaRPr b="1"/>
          </a:p>
          <a:p>
            <a:pPr marL="0" lvl="0" indent="0" algn="l" rtl="0">
              <a:spcBef>
                <a:spcPts val="1000"/>
              </a:spcBef>
              <a:spcAft>
                <a:spcPts val="0"/>
              </a:spcAft>
              <a:buNone/>
            </a:pPr>
            <a:r>
              <a:rPr lang="en-US"/>
              <a:t>Declaration</a:t>
            </a:r>
            <a:endParaRPr/>
          </a:p>
          <a:p>
            <a:pPr marL="0" lvl="0" indent="0" algn="l" rtl="0">
              <a:spcBef>
                <a:spcPts val="1000"/>
              </a:spcBef>
              <a:spcAft>
                <a:spcPts val="0"/>
              </a:spcAft>
              <a:buNone/>
            </a:pPr>
            <a:r>
              <a:rPr lang="en-US"/>
              <a:t>type var-name[ ];</a:t>
            </a:r>
            <a:endParaRPr/>
          </a:p>
          <a:p>
            <a:pPr marL="0" lvl="0" indent="0" algn="l" rtl="0">
              <a:spcBef>
                <a:spcPts val="1000"/>
              </a:spcBef>
              <a:spcAft>
                <a:spcPts val="0"/>
              </a:spcAft>
              <a:buNone/>
            </a:pPr>
            <a:r>
              <a:rPr lang="en-US"/>
              <a:t>Example: int month_days[];</a:t>
            </a:r>
            <a:endParaRPr/>
          </a:p>
          <a:p>
            <a:pPr marL="0" lvl="0" indent="0" algn="l" rtl="0">
              <a:spcBef>
                <a:spcPts val="1000"/>
              </a:spcBef>
              <a:spcAft>
                <a:spcPts val="0"/>
              </a:spcAft>
              <a:buNone/>
            </a:pPr>
            <a:r>
              <a:rPr lang="en-US"/>
              <a:t>But this will not allocate memory. To allocate the memory you have to use </a:t>
            </a:r>
            <a:r>
              <a:rPr lang="en-US" b="1"/>
              <a:t>new</a:t>
            </a:r>
            <a:r>
              <a:rPr lang="en-US"/>
              <a:t> keyword.</a:t>
            </a:r>
            <a:endParaRPr/>
          </a:p>
          <a:p>
            <a:pPr marL="0" lvl="0" indent="0" algn="l" rtl="0">
              <a:spcBef>
                <a:spcPts val="1000"/>
              </a:spcBef>
              <a:spcAft>
                <a:spcPts val="0"/>
              </a:spcAft>
              <a:buNone/>
            </a:pPr>
            <a:r>
              <a:rPr lang="en-US"/>
              <a:t>The general form of new as it applies to one-dimensional arrays appears as follows: </a:t>
            </a:r>
            <a:endParaRPr/>
          </a:p>
          <a:p>
            <a:pPr marL="0" lvl="0" indent="0" algn="l" rtl="0">
              <a:spcBef>
                <a:spcPts val="1000"/>
              </a:spcBef>
              <a:spcAft>
                <a:spcPts val="0"/>
              </a:spcAft>
              <a:buNone/>
            </a:pPr>
            <a:endParaRPr/>
          </a:p>
          <a:p>
            <a:pPr marL="0" lvl="0" indent="0" algn="l" rtl="0">
              <a:spcBef>
                <a:spcPts val="1000"/>
              </a:spcBef>
              <a:spcAft>
                <a:spcPts val="0"/>
              </a:spcAft>
              <a:buNone/>
            </a:pPr>
            <a:r>
              <a:rPr lang="en-US" b="1"/>
              <a:t>array-var = new type [size];</a:t>
            </a:r>
            <a:endParaRPr b="1"/>
          </a:p>
          <a:p>
            <a:pPr marL="0" lvl="0" indent="0" algn="l" rtl="0">
              <a:spcBef>
                <a:spcPts val="1000"/>
              </a:spcBef>
              <a:spcAft>
                <a:spcPts val="0"/>
              </a:spcAft>
              <a:buNone/>
            </a:pPr>
            <a:r>
              <a:rPr lang="en-US" b="1"/>
              <a:t>Ex:- month_days = new int[12];</a:t>
            </a:r>
            <a:endParaRPr b="1"/>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g2a2df431535_0_6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 on 1D-arrays</a:t>
            </a:r>
            <a:endParaRPr/>
          </a:p>
        </p:txBody>
      </p:sp>
      <p:sp>
        <p:nvSpPr>
          <p:cNvPr id="714" name="Google Shape;714;g2a2df431535_0_6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a:t>// Demonstrate a one-dimensional array.</a:t>
            </a:r>
            <a:endParaRPr/>
          </a:p>
          <a:p>
            <a:pPr marL="0" lvl="0" indent="0" algn="l" rtl="0">
              <a:spcBef>
                <a:spcPts val="1000"/>
              </a:spcBef>
              <a:spcAft>
                <a:spcPts val="0"/>
              </a:spcAft>
              <a:buNone/>
            </a:pPr>
            <a:r>
              <a:rPr lang="en-US"/>
              <a:t>class Array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 int month_days[];</a:t>
            </a:r>
            <a:endParaRPr/>
          </a:p>
          <a:p>
            <a:pPr marL="0" lvl="0" indent="0" algn="l" rtl="0">
              <a:spcBef>
                <a:spcPts val="1000"/>
              </a:spcBef>
              <a:spcAft>
                <a:spcPts val="0"/>
              </a:spcAft>
              <a:buNone/>
            </a:pPr>
            <a:r>
              <a:rPr lang="en-US"/>
              <a:t> month_days = new int[12];</a:t>
            </a:r>
            <a:endParaRPr/>
          </a:p>
          <a:p>
            <a:pPr marL="0" lvl="0" indent="0" algn="l" rtl="0">
              <a:spcBef>
                <a:spcPts val="1000"/>
              </a:spcBef>
              <a:spcAft>
                <a:spcPts val="0"/>
              </a:spcAft>
              <a:buNone/>
            </a:pPr>
            <a:r>
              <a:rPr lang="en-US"/>
              <a:t> month_days[0] = 31;</a:t>
            </a:r>
            <a:endParaRPr/>
          </a:p>
          <a:p>
            <a:pPr marL="0" lvl="0" indent="0" algn="l" rtl="0">
              <a:spcBef>
                <a:spcPts val="1000"/>
              </a:spcBef>
              <a:spcAft>
                <a:spcPts val="0"/>
              </a:spcAft>
              <a:buNone/>
            </a:pPr>
            <a:r>
              <a:rPr lang="en-US"/>
              <a:t> month_days[1] = 28;</a:t>
            </a:r>
            <a:endParaRPr/>
          </a:p>
          <a:p>
            <a:pPr marL="0" lvl="0" indent="0" algn="l" rtl="0">
              <a:spcBef>
                <a:spcPts val="1000"/>
              </a:spcBef>
              <a:spcAft>
                <a:spcPts val="0"/>
              </a:spcAft>
              <a:buNone/>
            </a:pPr>
            <a:r>
              <a:rPr lang="en-US"/>
              <a:t> month_days[2] = 31;</a:t>
            </a:r>
            <a:endParaRPr/>
          </a:p>
          <a:p>
            <a:pPr marL="0" lvl="0" indent="0" algn="l" rtl="0">
              <a:spcBef>
                <a:spcPts val="1000"/>
              </a:spcBef>
              <a:spcAft>
                <a:spcPts val="0"/>
              </a:spcAft>
              <a:buNone/>
            </a:pPr>
            <a:r>
              <a:rPr lang="en-US"/>
              <a:t> month_days[3] = 30;</a:t>
            </a:r>
            <a:endParaRPr/>
          </a:p>
          <a:p>
            <a:pPr marL="0" lvl="0" indent="0" algn="l" rtl="0">
              <a:spcBef>
                <a:spcPts val="1000"/>
              </a:spcBef>
              <a:spcAft>
                <a:spcPts val="0"/>
              </a:spcAft>
              <a:buNone/>
            </a:pPr>
            <a:r>
              <a:rPr lang="en-US"/>
              <a:t> month_days[4] = 31;</a:t>
            </a:r>
            <a:endParaRPr/>
          </a:p>
          <a:p>
            <a:pPr marL="0" lvl="0" indent="0" algn="l" rtl="0">
              <a:spcBef>
                <a:spcPts val="1000"/>
              </a:spcBef>
              <a:spcAft>
                <a:spcPts val="0"/>
              </a:spcAft>
              <a:buNone/>
            </a:pPr>
            <a:r>
              <a:rPr lang="en-US"/>
              <a:t> month_days[5] = 30;</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g2a2df431535_0_71"/>
          <p:cNvSpPr txBox="1">
            <a:spLocks noGrp="1"/>
          </p:cNvSpPr>
          <p:nvPr>
            <p:ph type="body" idx="1"/>
          </p:nvPr>
        </p:nvSpPr>
        <p:spPr>
          <a:xfrm>
            <a:off x="838200" y="439825"/>
            <a:ext cx="10515600" cy="57369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month_days[6] = 31;</a:t>
            </a:r>
            <a:endParaRPr/>
          </a:p>
          <a:p>
            <a:pPr marL="0" lvl="0" indent="0" algn="l" rtl="0">
              <a:spcBef>
                <a:spcPts val="1000"/>
              </a:spcBef>
              <a:spcAft>
                <a:spcPts val="0"/>
              </a:spcAft>
              <a:buNone/>
            </a:pPr>
            <a:r>
              <a:rPr lang="en-US"/>
              <a:t> month_days[7] = 31;</a:t>
            </a:r>
            <a:endParaRPr/>
          </a:p>
          <a:p>
            <a:pPr marL="0" lvl="0" indent="0" algn="l" rtl="0">
              <a:spcBef>
                <a:spcPts val="1000"/>
              </a:spcBef>
              <a:spcAft>
                <a:spcPts val="0"/>
              </a:spcAft>
              <a:buNone/>
            </a:pPr>
            <a:r>
              <a:rPr lang="en-US"/>
              <a:t> month_days[8] = 30;</a:t>
            </a:r>
            <a:endParaRPr/>
          </a:p>
          <a:p>
            <a:pPr marL="0" lvl="0" indent="0" algn="l" rtl="0">
              <a:spcBef>
                <a:spcPts val="1000"/>
              </a:spcBef>
              <a:spcAft>
                <a:spcPts val="0"/>
              </a:spcAft>
              <a:buNone/>
            </a:pPr>
            <a:r>
              <a:rPr lang="en-US"/>
              <a:t> month_days[9] = 31;</a:t>
            </a:r>
            <a:endParaRPr/>
          </a:p>
          <a:p>
            <a:pPr marL="0" lvl="0" indent="0" algn="l" rtl="0">
              <a:spcBef>
                <a:spcPts val="1000"/>
              </a:spcBef>
              <a:spcAft>
                <a:spcPts val="0"/>
              </a:spcAft>
              <a:buNone/>
            </a:pPr>
            <a:r>
              <a:rPr lang="en-US"/>
              <a:t> month_days[10] = 30;</a:t>
            </a:r>
            <a:endParaRPr/>
          </a:p>
          <a:p>
            <a:pPr marL="0" lvl="0" indent="0" algn="l" rtl="0">
              <a:spcBef>
                <a:spcPts val="1000"/>
              </a:spcBef>
              <a:spcAft>
                <a:spcPts val="0"/>
              </a:spcAft>
              <a:buNone/>
            </a:pPr>
            <a:r>
              <a:rPr lang="en-US"/>
              <a:t> month_days[11] = 31;</a:t>
            </a:r>
            <a:endParaRPr/>
          </a:p>
          <a:p>
            <a:pPr marL="0" lvl="0" indent="0" algn="l" rtl="0">
              <a:spcBef>
                <a:spcPts val="1000"/>
              </a:spcBef>
              <a:spcAft>
                <a:spcPts val="0"/>
              </a:spcAft>
              <a:buNone/>
            </a:pPr>
            <a:r>
              <a:rPr lang="en-US"/>
              <a:t> System.out.println("April has " + month_days[3] + " days.");</a:t>
            </a:r>
            <a:endParaRPr/>
          </a:p>
          <a:p>
            <a:pPr marL="0" lvl="0" indent="0" algn="l" rtl="0">
              <a:spcBef>
                <a:spcPts val="1000"/>
              </a:spcBef>
              <a:spcAft>
                <a:spcPts val="0"/>
              </a:spcAft>
              <a:buNone/>
            </a:pPr>
            <a:r>
              <a:rPr lang="en-US"/>
              <a:t> }</a:t>
            </a:r>
            <a:endParaRPr/>
          </a:p>
          <a:p>
            <a:pPr marL="0" lvl="0" indent="0" algn="l" rtl="0">
              <a:spcBef>
                <a:spcPts val="1000"/>
              </a:spcBef>
              <a:spcAft>
                <a:spcPts val="0"/>
              </a:spcAft>
              <a:buNone/>
            </a:pPr>
            <a:r>
              <a:rPr lang="en-US"/>
              <a:t>}</a:t>
            </a:r>
            <a:endParaRPr/>
          </a:p>
        </p:txBody>
      </p:sp>
      <p:sp>
        <p:nvSpPr>
          <p:cNvPr id="720" name="Google Shape;720;g2a2df431535_0_71"/>
          <p:cNvSpPr txBox="1"/>
          <p:nvPr/>
        </p:nvSpPr>
        <p:spPr>
          <a:xfrm>
            <a:off x="3893250" y="4805475"/>
            <a:ext cx="5981100" cy="1231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a:t>----jGRASP exec: java Array</a:t>
            </a:r>
            <a:endParaRPr sz="1700" b="1"/>
          </a:p>
          <a:p>
            <a:pPr marL="0" lvl="0" indent="0" algn="l" rtl="0">
              <a:spcBef>
                <a:spcPts val="0"/>
              </a:spcBef>
              <a:spcAft>
                <a:spcPts val="0"/>
              </a:spcAft>
              <a:buNone/>
            </a:pPr>
            <a:r>
              <a:rPr lang="en-US" sz="1700" b="1"/>
              <a:t>April has 30 days.</a:t>
            </a:r>
            <a:endParaRPr sz="1700" b="1"/>
          </a:p>
          <a:p>
            <a:pPr marL="0" lvl="0" indent="0" algn="l" rtl="0">
              <a:spcBef>
                <a:spcPts val="0"/>
              </a:spcBef>
              <a:spcAft>
                <a:spcPts val="0"/>
              </a:spcAft>
              <a:buNone/>
            </a:pPr>
            <a:endParaRPr sz="1700" b="1"/>
          </a:p>
          <a:p>
            <a:pPr marL="0" lvl="0" indent="0" algn="l" rtl="0">
              <a:spcBef>
                <a:spcPts val="0"/>
              </a:spcBef>
              <a:spcAft>
                <a:spcPts val="0"/>
              </a:spcAft>
              <a:buNone/>
            </a:pPr>
            <a:r>
              <a:rPr lang="en-US" sz="1700" b="1"/>
              <a:t> ----jGRASP: operation complete.</a:t>
            </a:r>
            <a:endParaRPr sz="1700" b="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a2df431535_0_7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 An improved version of the previous program. [No need of new keyword]</a:t>
            </a:r>
            <a:endParaRPr/>
          </a:p>
        </p:txBody>
      </p:sp>
      <p:sp>
        <p:nvSpPr>
          <p:cNvPr id="726" name="Google Shape;726;g2a2df431535_0_7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 An improved version of the previous program.</a:t>
            </a:r>
            <a:endParaRPr/>
          </a:p>
          <a:p>
            <a:pPr marL="0" lvl="0" indent="0" algn="l" rtl="0">
              <a:spcBef>
                <a:spcPts val="1000"/>
              </a:spcBef>
              <a:spcAft>
                <a:spcPts val="0"/>
              </a:spcAft>
              <a:buNone/>
            </a:pPr>
            <a:r>
              <a:rPr lang="en-US"/>
              <a:t>class AutoArray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 int month_days[] = { 31, 28, 31, 30, 31, 30, 31, 31, 30, 31, </a:t>
            </a:r>
            <a:endParaRPr/>
          </a:p>
          <a:p>
            <a:pPr marL="0" lvl="0" indent="0" algn="l" rtl="0">
              <a:spcBef>
                <a:spcPts val="1000"/>
              </a:spcBef>
              <a:spcAft>
                <a:spcPts val="0"/>
              </a:spcAft>
              <a:buNone/>
            </a:pPr>
            <a:r>
              <a:rPr lang="en-US"/>
              <a:t> 30, 31 };</a:t>
            </a:r>
            <a:endParaRPr/>
          </a:p>
          <a:p>
            <a:pPr marL="0" lvl="0" indent="0" algn="l" rtl="0">
              <a:spcBef>
                <a:spcPts val="1000"/>
              </a:spcBef>
              <a:spcAft>
                <a:spcPts val="0"/>
              </a:spcAft>
              <a:buNone/>
            </a:pPr>
            <a:r>
              <a:rPr lang="en-US"/>
              <a:t> System.out.println("April has " + month_days[3] + " days.");</a:t>
            </a:r>
            <a:endParaRPr/>
          </a:p>
          <a:p>
            <a:pPr marL="0" lvl="0" indent="0" algn="l" rtl="0">
              <a:spcBef>
                <a:spcPts val="1000"/>
              </a:spcBef>
              <a:spcAft>
                <a:spcPts val="0"/>
              </a:spcAft>
              <a:buNone/>
            </a:pPr>
            <a:r>
              <a:rPr lang="en-US"/>
              <a:t> }</a:t>
            </a:r>
            <a:endParaRPr/>
          </a:p>
          <a:p>
            <a:pPr marL="0" lvl="0" indent="0" algn="l" rtl="0">
              <a:spcBef>
                <a:spcPts val="1000"/>
              </a:spcBef>
              <a:spcAft>
                <a:spcPts val="0"/>
              </a:spcAft>
              <a:buNone/>
            </a:pPr>
            <a:r>
              <a:rPr lang="en-US"/>
              <a:t>}</a:t>
            </a:r>
            <a:endParaRPr/>
          </a:p>
        </p:txBody>
      </p:sp>
      <p:sp>
        <p:nvSpPr>
          <p:cNvPr id="727" name="Google Shape;727;g2a2df431535_0_79"/>
          <p:cNvSpPr txBox="1"/>
          <p:nvPr/>
        </p:nvSpPr>
        <p:spPr>
          <a:xfrm>
            <a:off x="5375625" y="5130125"/>
            <a:ext cx="4528500" cy="1293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----jGRASP exec: java AutoArray</a:t>
            </a:r>
            <a:endParaRPr sz="1800" b="1"/>
          </a:p>
          <a:p>
            <a:pPr marL="0" lvl="0" indent="0" algn="l" rtl="0">
              <a:spcBef>
                <a:spcPts val="0"/>
              </a:spcBef>
              <a:spcAft>
                <a:spcPts val="0"/>
              </a:spcAft>
              <a:buNone/>
            </a:pPr>
            <a:r>
              <a:rPr lang="en-US" sz="1800" b="1"/>
              <a:t>April has 30 days.</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 ----jGRASP: operation complete.</a:t>
            </a:r>
            <a:endParaRPr sz="1800"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a2df431535_0_8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Average example using arrays</a:t>
            </a:r>
            <a:endParaRPr/>
          </a:p>
        </p:txBody>
      </p:sp>
      <p:sp>
        <p:nvSpPr>
          <p:cNvPr id="733" name="Google Shape;733;g2a2df431535_0_8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39285"/>
              <a:buFont typeface="Arial"/>
              <a:buNone/>
            </a:pPr>
            <a:r>
              <a:rPr lang="en-US"/>
              <a:t>// Average an array of values.</a:t>
            </a:r>
            <a:endParaRPr/>
          </a:p>
          <a:p>
            <a:pPr marL="0" lvl="0" indent="0" algn="l" rtl="0">
              <a:spcBef>
                <a:spcPts val="1000"/>
              </a:spcBef>
              <a:spcAft>
                <a:spcPts val="0"/>
              </a:spcAft>
              <a:buClr>
                <a:schemeClr val="dk1"/>
              </a:buClr>
              <a:buSzPct val="39285"/>
              <a:buFont typeface="Arial"/>
              <a:buNone/>
            </a:pPr>
            <a:r>
              <a:rPr lang="en-US"/>
              <a:t>class Average {</a:t>
            </a:r>
            <a:endParaRPr/>
          </a:p>
          <a:p>
            <a:pPr marL="0" lvl="0" indent="0" algn="l" rtl="0">
              <a:spcBef>
                <a:spcPts val="1000"/>
              </a:spcBef>
              <a:spcAft>
                <a:spcPts val="0"/>
              </a:spcAft>
              <a:buClr>
                <a:schemeClr val="dk1"/>
              </a:buClr>
              <a:buSzPct val="39285"/>
              <a:buFont typeface="Arial"/>
              <a:buNone/>
            </a:pPr>
            <a:r>
              <a:rPr lang="en-US"/>
              <a:t> public static void main(String args[]) {</a:t>
            </a:r>
            <a:endParaRPr/>
          </a:p>
          <a:p>
            <a:pPr marL="0" lvl="0" indent="0" algn="l" rtl="0">
              <a:spcBef>
                <a:spcPts val="1000"/>
              </a:spcBef>
              <a:spcAft>
                <a:spcPts val="0"/>
              </a:spcAft>
              <a:buClr>
                <a:schemeClr val="dk1"/>
              </a:buClr>
              <a:buSzPct val="39285"/>
              <a:buFont typeface="Arial"/>
              <a:buNone/>
            </a:pPr>
            <a:r>
              <a:rPr lang="en-US"/>
              <a:t> double nums[] = {10.1, 11.2, 12.3, 13.4, 14.5};</a:t>
            </a:r>
            <a:endParaRPr/>
          </a:p>
          <a:p>
            <a:pPr marL="0" lvl="0" indent="0" algn="l" rtl="0">
              <a:spcBef>
                <a:spcPts val="1000"/>
              </a:spcBef>
              <a:spcAft>
                <a:spcPts val="0"/>
              </a:spcAft>
              <a:buClr>
                <a:schemeClr val="dk1"/>
              </a:buClr>
              <a:buSzPct val="39285"/>
              <a:buFont typeface="Arial"/>
              <a:buNone/>
            </a:pPr>
            <a:r>
              <a:rPr lang="en-US"/>
              <a:t> double result = 0;</a:t>
            </a:r>
            <a:endParaRPr/>
          </a:p>
          <a:p>
            <a:pPr marL="0" lvl="0" indent="0" algn="l" rtl="0">
              <a:spcBef>
                <a:spcPts val="1000"/>
              </a:spcBef>
              <a:spcAft>
                <a:spcPts val="0"/>
              </a:spcAft>
              <a:buClr>
                <a:schemeClr val="dk1"/>
              </a:buClr>
              <a:buSzPct val="39285"/>
              <a:buFont typeface="Arial"/>
              <a:buNone/>
            </a:pPr>
            <a:r>
              <a:rPr lang="en-US"/>
              <a:t> int i;</a:t>
            </a:r>
            <a:endParaRPr/>
          </a:p>
          <a:p>
            <a:pPr marL="0" lvl="0" indent="0" algn="l" rtl="0">
              <a:spcBef>
                <a:spcPts val="1000"/>
              </a:spcBef>
              <a:spcAft>
                <a:spcPts val="0"/>
              </a:spcAft>
              <a:buClr>
                <a:schemeClr val="dk1"/>
              </a:buClr>
              <a:buSzPct val="39285"/>
              <a:buFont typeface="Arial"/>
              <a:buNone/>
            </a:pPr>
            <a:r>
              <a:rPr lang="en-US"/>
              <a:t>for(i=0; i&lt;5; i++)</a:t>
            </a:r>
            <a:endParaRPr/>
          </a:p>
          <a:p>
            <a:pPr marL="0" lvl="0" indent="0" algn="l" rtl="0">
              <a:spcBef>
                <a:spcPts val="1000"/>
              </a:spcBef>
              <a:spcAft>
                <a:spcPts val="0"/>
              </a:spcAft>
              <a:buClr>
                <a:schemeClr val="dk1"/>
              </a:buClr>
              <a:buSzPct val="39285"/>
              <a:buFont typeface="Arial"/>
              <a:buNone/>
            </a:pPr>
            <a:r>
              <a:rPr lang="en-US"/>
              <a:t> result = result + nums[i];</a:t>
            </a:r>
            <a:endParaRPr/>
          </a:p>
          <a:p>
            <a:pPr marL="0" lvl="0" indent="0" algn="l" rtl="0">
              <a:spcBef>
                <a:spcPts val="1000"/>
              </a:spcBef>
              <a:spcAft>
                <a:spcPts val="0"/>
              </a:spcAft>
              <a:buClr>
                <a:schemeClr val="dk1"/>
              </a:buClr>
              <a:buSzPct val="39285"/>
              <a:buFont typeface="Arial"/>
              <a:buNone/>
            </a:pPr>
            <a:r>
              <a:rPr lang="en-US"/>
              <a:t> System.out.println("Average is " + result / 5);</a:t>
            </a:r>
            <a:endParaRPr/>
          </a:p>
          <a:p>
            <a:pPr marL="0" lvl="0" indent="0" algn="l" rtl="0">
              <a:spcBef>
                <a:spcPts val="1000"/>
              </a:spcBef>
              <a:spcAft>
                <a:spcPts val="0"/>
              </a:spcAft>
              <a:buClr>
                <a:schemeClr val="dk1"/>
              </a:buClr>
              <a:buSzPct val="39285"/>
              <a:buFont typeface="Arial"/>
              <a:buNone/>
            </a:pPr>
            <a:r>
              <a:rPr lang="en-US"/>
              <a:t> }</a:t>
            </a:r>
            <a:endParaRPr/>
          </a:p>
          <a:p>
            <a:pPr marL="0" lvl="0" indent="0" algn="l" rtl="0">
              <a:spcBef>
                <a:spcPts val="1000"/>
              </a:spcBef>
              <a:spcAft>
                <a:spcPts val="0"/>
              </a:spcAft>
              <a:buClr>
                <a:schemeClr val="dk1"/>
              </a:buClr>
              <a:buSzPct val="39285"/>
              <a:buFont typeface="Arial"/>
              <a:buNone/>
            </a:pPr>
            <a:r>
              <a:rPr lang="en-US"/>
              <a:t>}</a:t>
            </a:r>
            <a:endParaRPr/>
          </a:p>
          <a:p>
            <a:pPr marL="0" lvl="0" indent="0" algn="l" rtl="0">
              <a:spcBef>
                <a:spcPts val="1000"/>
              </a:spcBef>
              <a:spcAft>
                <a:spcPts val="0"/>
              </a:spcAft>
              <a:buNone/>
            </a:pPr>
            <a:endParaRPr/>
          </a:p>
        </p:txBody>
      </p:sp>
      <p:sp>
        <p:nvSpPr>
          <p:cNvPr id="734" name="Google Shape;734;g2a2df431535_0_87"/>
          <p:cNvSpPr txBox="1"/>
          <p:nvPr/>
        </p:nvSpPr>
        <p:spPr>
          <a:xfrm>
            <a:off x="7037200" y="1825625"/>
            <a:ext cx="4659000" cy="1416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----jGRASP exec: java Average</a:t>
            </a:r>
            <a:endParaRPr sz="2000" b="1"/>
          </a:p>
          <a:p>
            <a:pPr marL="0" lvl="0" indent="0" algn="l" rtl="0">
              <a:spcBef>
                <a:spcPts val="0"/>
              </a:spcBef>
              <a:spcAft>
                <a:spcPts val="0"/>
              </a:spcAft>
              <a:buNone/>
            </a:pPr>
            <a:r>
              <a:rPr lang="en-US" sz="2000" b="1"/>
              <a:t>Average is 12.299999999999999</a:t>
            </a:r>
            <a:endParaRPr sz="2000" b="1"/>
          </a:p>
          <a:p>
            <a:pPr marL="0" lvl="0" indent="0" algn="l" rtl="0">
              <a:spcBef>
                <a:spcPts val="0"/>
              </a:spcBef>
              <a:spcAft>
                <a:spcPts val="0"/>
              </a:spcAft>
              <a:buNone/>
            </a:pPr>
            <a:endParaRPr sz="2000" b="1"/>
          </a:p>
          <a:p>
            <a:pPr marL="0" lvl="0" indent="0" algn="l" rtl="0">
              <a:spcBef>
                <a:spcPts val="0"/>
              </a:spcBef>
              <a:spcAft>
                <a:spcPts val="0"/>
              </a:spcAft>
              <a:buNone/>
            </a:pPr>
            <a:r>
              <a:rPr lang="en-US" sz="2000" b="1"/>
              <a:t> ----jGRASP: operation complete.</a:t>
            </a:r>
            <a:endParaRPr sz="2000" b="1"/>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a2df431535_0_98"/>
          <p:cNvSpPr txBox="1">
            <a:spLocks noGrp="1"/>
          </p:cNvSpPr>
          <p:nvPr>
            <p:ph type="title"/>
          </p:nvPr>
        </p:nvSpPr>
        <p:spPr>
          <a:xfrm>
            <a:off x="838200" y="0"/>
            <a:ext cx="10515600" cy="416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Multidimensional Arrays</a:t>
            </a:r>
            <a:endParaRPr/>
          </a:p>
        </p:txBody>
      </p:sp>
      <p:sp>
        <p:nvSpPr>
          <p:cNvPr id="740" name="Google Shape;740;g2a2df431535_0_98"/>
          <p:cNvSpPr txBox="1">
            <a:spLocks noGrp="1"/>
          </p:cNvSpPr>
          <p:nvPr>
            <p:ph type="body" idx="1"/>
          </p:nvPr>
        </p:nvSpPr>
        <p:spPr>
          <a:xfrm>
            <a:off x="935925" y="5387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The following declares a two dimensional array variable called twoD: </a:t>
            </a:r>
            <a:r>
              <a:rPr lang="en-US" b="1"/>
              <a:t>int twoD[][] = new int[4][5];</a:t>
            </a:r>
            <a:endParaRPr b="1"/>
          </a:p>
          <a:p>
            <a:pPr marL="0" lvl="0" indent="0" algn="l" rtl="0">
              <a:spcBef>
                <a:spcPts val="1000"/>
              </a:spcBef>
              <a:spcAft>
                <a:spcPts val="0"/>
              </a:spcAft>
              <a:buNone/>
            </a:pPr>
            <a:r>
              <a:rPr lang="en-US" b="1"/>
              <a:t>This allocates a 4 by 5 array and assigns it to twoD. </a:t>
            </a:r>
            <a:endParaRPr b="1"/>
          </a:p>
          <a:p>
            <a:pPr marL="0" lvl="0" indent="0" algn="l" rtl="0">
              <a:spcBef>
                <a:spcPts val="1000"/>
              </a:spcBef>
              <a:spcAft>
                <a:spcPts val="0"/>
              </a:spcAft>
              <a:buNone/>
            </a:pPr>
            <a:r>
              <a:rPr lang="en-US" b="1"/>
              <a:t>Internally, this matrix is implemented as an array of arrays of int. Conceptually, this array will look like the one shown</a:t>
            </a:r>
            <a:endParaRPr b="1"/>
          </a:p>
        </p:txBody>
      </p:sp>
      <p:pic>
        <p:nvPicPr>
          <p:cNvPr id="741" name="Google Shape;741;g2a2df431535_0_98"/>
          <p:cNvPicPr preferRelativeResize="0"/>
          <p:nvPr/>
        </p:nvPicPr>
        <p:blipFill>
          <a:blip r:embed="rId3">
            <a:alphaModFix/>
          </a:blip>
          <a:stretch>
            <a:fillRect/>
          </a:stretch>
        </p:blipFill>
        <p:spPr>
          <a:xfrm>
            <a:off x="1824450" y="2932150"/>
            <a:ext cx="9027549" cy="358375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a2df431535_0_107"/>
          <p:cNvSpPr txBox="1">
            <a:spLocks noGrp="1"/>
          </p:cNvSpPr>
          <p:nvPr>
            <p:ph type="title"/>
          </p:nvPr>
        </p:nvSpPr>
        <p:spPr>
          <a:xfrm>
            <a:off x="707900" y="0"/>
            <a:ext cx="10515600" cy="781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Example on </a:t>
            </a:r>
            <a:r>
              <a:rPr lang="en-US" dirty="0" err="1"/>
              <a:t>TwoDArray</a:t>
            </a:r>
            <a:endParaRPr dirty="0"/>
          </a:p>
        </p:txBody>
      </p:sp>
      <p:sp>
        <p:nvSpPr>
          <p:cNvPr id="747" name="Google Shape;747;g2a2df431535_0_107"/>
          <p:cNvSpPr txBox="1">
            <a:spLocks noGrp="1"/>
          </p:cNvSpPr>
          <p:nvPr>
            <p:ph type="body" idx="1"/>
          </p:nvPr>
        </p:nvSpPr>
        <p:spPr>
          <a:xfrm>
            <a:off x="838200" y="879650"/>
            <a:ext cx="10515600" cy="52971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05"/>
              <a:buNone/>
            </a:pPr>
            <a:r>
              <a:rPr lang="en-US" sz="2140" b="1" dirty="0"/>
              <a:t>// Demonstrate a two-dimensional array.</a:t>
            </a:r>
            <a:endParaRPr sz="2140" b="1" dirty="0"/>
          </a:p>
          <a:p>
            <a:pPr marL="0" lvl="0" indent="0" algn="l" rtl="0">
              <a:lnSpc>
                <a:spcPct val="70000"/>
              </a:lnSpc>
              <a:spcBef>
                <a:spcPts val="1000"/>
              </a:spcBef>
              <a:spcAft>
                <a:spcPts val="0"/>
              </a:spcAft>
              <a:buSzPts val="605"/>
              <a:buNone/>
            </a:pPr>
            <a:r>
              <a:rPr lang="en-US" sz="2140" b="1" dirty="0"/>
              <a:t>class </a:t>
            </a:r>
            <a:r>
              <a:rPr lang="en-US" sz="2140" b="1" dirty="0" err="1"/>
              <a:t>TwoDArray</a:t>
            </a:r>
            <a:r>
              <a:rPr lang="en-US" sz="2140" b="1" dirty="0"/>
              <a:t> {</a:t>
            </a:r>
            <a:endParaRPr sz="2140" b="1" dirty="0"/>
          </a:p>
          <a:p>
            <a:pPr marL="0" lvl="0" indent="0" algn="l" rtl="0">
              <a:lnSpc>
                <a:spcPct val="70000"/>
              </a:lnSpc>
              <a:spcBef>
                <a:spcPts val="1000"/>
              </a:spcBef>
              <a:spcAft>
                <a:spcPts val="0"/>
              </a:spcAft>
              <a:buSzPts val="605"/>
              <a:buNone/>
            </a:pPr>
            <a:r>
              <a:rPr lang="en-US" sz="2140" b="1" dirty="0"/>
              <a:t> public static void main(String </a:t>
            </a:r>
            <a:r>
              <a:rPr lang="en-US" sz="2140" b="1" dirty="0" err="1"/>
              <a:t>args</a:t>
            </a:r>
            <a:r>
              <a:rPr lang="en-US" sz="2140" b="1" dirty="0"/>
              <a:t>[]) {</a:t>
            </a:r>
            <a:endParaRPr sz="2140" b="1" dirty="0"/>
          </a:p>
          <a:p>
            <a:pPr marL="0" lvl="0" indent="0" algn="l" rtl="0">
              <a:lnSpc>
                <a:spcPct val="70000"/>
              </a:lnSpc>
              <a:spcBef>
                <a:spcPts val="1000"/>
              </a:spcBef>
              <a:spcAft>
                <a:spcPts val="0"/>
              </a:spcAft>
              <a:buSzPts val="605"/>
              <a:buNone/>
            </a:pPr>
            <a:r>
              <a:rPr lang="en-US" sz="2140" b="1" dirty="0"/>
              <a:t> </a:t>
            </a:r>
            <a:r>
              <a:rPr lang="en-US" sz="2140" b="1" dirty="0" err="1"/>
              <a:t>int</a:t>
            </a:r>
            <a:r>
              <a:rPr lang="en-US" sz="2140" b="1" dirty="0"/>
              <a:t> </a:t>
            </a:r>
            <a:r>
              <a:rPr lang="en-US" sz="2140" b="1" dirty="0" err="1"/>
              <a:t>twoD</a:t>
            </a:r>
            <a:r>
              <a:rPr lang="en-US" sz="2140" b="1" dirty="0"/>
              <a:t>[][]= new </a:t>
            </a:r>
            <a:r>
              <a:rPr lang="en-US" sz="2140" b="1" dirty="0" err="1"/>
              <a:t>int</a:t>
            </a:r>
            <a:r>
              <a:rPr lang="en-US" sz="2140" b="1" dirty="0"/>
              <a:t>[4][5];</a:t>
            </a:r>
            <a:endParaRPr sz="2140" b="1" dirty="0"/>
          </a:p>
          <a:p>
            <a:pPr marL="0" lvl="0" indent="0" algn="l" rtl="0">
              <a:lnSpc>
                <a:spcPct val="70000"/>
              </a:lnSpc>
              <a:spcBef>
                <a:spcPts val="1000"/>
              </a:spcBef>
              <a:spcAft>
                <a:spcPts val="0"/>
              </a:spcAft>
              <a:buSzPts val="605"/>
              <a:buNone/>
            </a:pPr>
            <a:r>
              <a:rPr lang="en-US" sz="2140" b="1" dirty="0"/>
              <a:t> </a:t>
            </a:r>
            <a:r>
              <a:rPr lang="en-US" sz="2140" b="1" dirty="0" err="1"/>
              <a:t>int</a:t>
            </a:r>
            <a:r>
              <a:rPr lang="en-US" sz="2140" b="1" dirty="0"/>
              <a:t> i, j, k = 0;</a:t>
            </a:r>
            <a:endParaRPr sz="2140" b="1" dirty="0"/>
          </a:p>
          <a:p>
            <a:pPr marL="0" lvl="0" indent="0" algn="l" rtl="0">
              <a:lnSpc>
                <a:spcPct val="70000"/>
              </a:lnSpc>
              <a:spcBef>
                <a:spcPts val="1000"/>
              </a:spcBef>
              <a:spcAft>
                <a:spcPts val="0"/>
              </a:spcAft>
              <a:buSzPts val="605"/>
              <a:buNone/>
            </a:pPr>
            <a:r>
              <a:rPr lang="en-US" sz="2140" b="1" dirty="0"/>
              <a:t> for(i=0; i&lt;4; i++)</a:t>
            </a:r>
            <a:endParaRPr sz="2140" b="1" dirty="0"/>
          </a:p>
          <a:p>
            <a:pPr marL="0" lvl="0" indent="0" algn="l" rtl="0">
              <a:lnSpc>
                <a:spcPct val="70000"/>
              </a:lnSpc>
              <a:spcBef>
                <a:spcPts val="1000"/>
              </a:spcBef>
              <a:spcAft>
                <a:spcPts val="0"/>
              </a:spcAft>
              <a:buSzPts val="605"/>
              <a:buNone/>
            </a:pPr>
            <a:r>
              <a:rPr lang="en-US" sz="2140" b="1" dirty="0"/>
              <a:t> for(j=0; j&lt;5; j++) {</a:t>
            </a:r>
            <a:endParaRPr sz="2140" b="1" dirty="0"/>
          </a:p>
          <a:p>
            <a:pPr marL="0" lvl="0" indent="0" algn="l" rtl="0">
              <a:lnSpc>
                <a:spcPct val="70000"/>
              </a:lnSpc>
              <a:spcBef>
                <a:spcPts val="1000"/>
              </a:spcBef>
              <a:spcAft>
                <a:spcPts val="0"/>
              </a:spcAft>
              <a:buSzPts val="605"/>
              <a:buNone/>
            </a:pPr>
            <a:r>
              <a:rPr lang="en-US" sz="2140" b="1" dirty="0"/>
              <a:t> </a:t>
            </a:r>
            <a:r>
              <a:rPr lang="en-US" sz="2140" b="1" dirty="0" err="1"/>
              <a:t>twoD</a:t>
            </a:r>
            <a:r>
              <a:rPr lang="en-US" sz="2140" b="1" dirty="0"/>
              <a:t>[i][j] = k;</a:t>
            </a:r>
            <a:endParaRPr sz="2140" b="1" dirty="0"/>
          </a:p>
          <a:p>
            <a:pPr marL="0" lvl="0" indent="0" algn="l" rtl="0">
              <a:lnSpc>
                <a:spcPct val="70000"/>
              </a:lnSpc>
              <a:spcBef>
                <a:spcPts val="1000"/>
              </a:spcBef>
              <a:spcAft>
                <a:spcPts val="0"/>
              </a:spcAft>
              <a:buSzPts val="605"/>
              <a:buNone/>
            </a:pPr>
            <a:r>
              <a:rPr lang="en-US" sz="2140" b="1" dirty="0"/>
              <a:t> k++;</a:t>
            </a:r>
            <a:endParaRPr sz="2140" b="1" dirty="0"/>
          </a:p>
          <a:p>
            <a:pPr marL="0" lvl="0" indent="0" algn="l" rtl="0">
              <a:lnSpc>
                <a:spcPct val="70000"/>
              </a:lnSpc>
              <a:spcBef>
                <a:spcPts val="1000"/>
              </a:spcBef>
              <a:spcAft>
                <a:spcPts val="0"/>
              </a:spcAft>
              <a:buSzPts val="605"/>
              <a:buNone/>
            </a:pPr>
            <a:r>
              <a:rPr lang="en-US" sz="2140" b="1" dirty="0"/>
              <a:t> }</a:t>
            </a:r>
            <a:endParaRPr sz="2140" b="1" dirty="0"/>
          </a:p>
          <a:p>
            <a:pPr marL="0" lvl="0" indent="0" algn="l" rtl="0">
              <a:lnSpc>
                <a:spcPct val="70000"/>
              </a:lnSpc>
              <a:spcBef>
                <a:spcPts val="1000"/>
              </a:spcBef>
              <a:spcAft>
                <a:spcPts val="0"/>
              </a:spcAft>
              <a:buSzPts val="605"/>
              <a:buNone/>
            </a:pPr>
            <a:r>
              <a:rPr lang="en-US" sz="2140" b="1" dirty="0"/>
              <a:t> for(i=0; i&lt;4; i++) {</a:t>
            </a:r>
            <a:endParaRPr sz="2140" b="1" dirty="0"/>
          </a:p>
          <a:p>
            <a:pPr marL="0" lvl="0" indent="0" algn="l" rtl="0">
              <a:lnSpc>
                <a:spcPct val="70000"/>
              </a:lnSpc>
              <a:spcBef>
                <a:spcPts val="1000"/>
              </a:spcBef>
              <a:spcAft>
                <a:spcPts val="0"/>
              </a:spcAft>
              <a:buSzPts val="605"/>
              <a:buNone/>
            </a:pPr>
            <a:r>
              <a:rPr lang="en-US" sz="2140" b="1" dirty="0"/>
              <a:t> for(j=0; j&lt;5; j++)</a:t>
            </a:r>
            <a:endParaRPr sz="2140" b="1" dirty="0"/>
          </a:p>
          <a:p>
            <a:pPr marL="0" lvl="0" indent="0" algn="l" rtl="0">
              <a:lnSpc>
                <a:spcPct val="70000"/>
              </a:lnSpc>
              <a:spcBef>
                <a:spcPts val="1000"/>
              </a:spcBef>
              <a:spcAft>
                <a:spcPts val="0"/>
              </a:spcAft>
              <a:buSzPts val="605"/>
              <a:buNone/>
            </a:pPr>
            <a:r>
              <a:rPr lang="en-US" sz="2140" b="1" dirty="0"/>
              <a:t> </a:t>
            </a:r>
            <a:r>
              <a:rPr lang="en-US" sz="2140" b="1" dirty="0" err="1"/>
              <a:t>System.out.print</a:t>
            </a:r>
            <a:r>
              <a:rPr lang="en-US" sz="2140" b="1" dirty="0"/>
              <a:t>(</a:t>
            </a:r>
            <a:r>
              <a:rPr lang="en-US" sz="2140" b="1" dirty="0" err="1"/>
              <a:t>twoD</a:t>
            </a:r>
            <a:r>
              <a:rPr lang="en-US" sz="2140" b="1" dirty="0"/>
              <a:t>[i][j] + " ");</a:t>
            </a:r>
            <a:endParaRPr sz="2140" b="1" dirty="0"/>
          </a:p>
          <a:p>
            <a:pPr marL="0" lvl="0" indent="0" algn="l" rtl="0">
              <a:lnSpc>
                <a:spcPct val="70000"/>
              </a:lnSpc>
              <a:spcBef>
                <a:spcPts val="1000"/>
              </a:spcBef>
              <a:spcAft>
                <a:spcPts val="0"/>
              </a:spcAft>
              <a:buSzPts val="605"/>
              <a:buNone/>
            </a:pPr>
            <a:r>
              <a:rPr lang="en-US" sz="2140" b="1" dirty="0"/>
              <a:t> </a:t>
            </a:r>
            <a:r>
              <a:rPr lang="en-US" sz="2140" b="1" dirty="0" err="1"/>
              <a:t>System.out.println</a:t>
            </a:r>
            <a:r>
              <a:rPr lang="en-US" sz="2140" b="1" dirty="0"/>
              <a:t>();</a:t>
            </a:r>
            <a:endParaRPr sz="2140" b="1" dirty="0"/>
          </a:p>
          <a:p>
            <a:pPr marL="0" lvl="0" indent="0" algn="l" rtl="0">
              <a:lnSpc>
                <a:spcPct val="70000"/>
              </a:lnSpc>
              <a:spcBef>
                <a:spcPts val="1000"/>
              </a:spcBef>
              <a:spcAft>
                <a:spcPts val="0"/>
              </a:spcAft>
              <a:buSzPts val="605"/>
              <a:buNone/>
            </a:pPr>
            <a:r>
              <a:rPr lang="en-US" sz="2140" b="1" dirty="0"/>
              <a:t> }</a:t>
            </a:r>
            <a:endParaRPr sz="2140" b="1" dirty="0"/>
          </a:p>
          <a:p>
            <a:pPr marL="0" lvl="0" indent="0" algn="l" rtl="0">
              <a:lnSpc>
                <a:spcPct val="70000"/>
              </a:lnSpc>
              <a:spcBef>
                <a:spcPts val="1000"/>
              </a:spcBef>
              <a:spcAft>
                <a:spcPts val="0"/>
              </a:spcAft>
              <a:buSzPts val="605"/>
              <a:buNone/>
            </a:pPr>
            <a:r>
              <a:rPr lang="en-US" sz="2140" b="1" dirty="0"/>
              <a:t> }</a:t>
            </a:r>
            <a:endParaRPr sz="2140" b="1" dirty="0"/>
          </a:p>
          <a:p>
            <a:pPr marL="0" lvl="0" indent="0" algn="l" rtl="0">
              <a:lnSpc>
                <a:spcPct val="70000"/>
              </a:lnSpc>
              <a:spcBef>
                <a:spcPts val="1000"/>
              </a:spcBef>
              <a:spcAft>
                <a:spcPts val="0"/>
              </a:spcAft>
              <a:buSzPts val="605"/>
              <a:buNone/>
            </a:pPr>
            <a:r>
              <a:rPr lang="en-US" sz="2140" b="1" dirty="0"/>
              <a:t>}</a:t>
            </a:r>
            <a:endParaRPr sz="2140" b="1" dirty="0"/>
          </a:p>
        </p:txBody>
      </p:sp>
      <p:sp>
        <p:nvSpPr>
          <p:cNvPr id="748" name="Google Shape;748;g2a2df431535_0_107"/>
          <p:cNvSpPr txBox="1"/>
          <p:nvPr/>
        </p:nvSpPr>
        <p:spPr>
          <a:xfrm>
            <a:off x="6467050" y="1726700"/>
            <a:ext cx="5603700" cy="2524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t> ----jGRASP exec: java TwoDArray</a:t>
            </a:r>
            <a:endParaRPr sz="1900" b="1"/>
          </a:p>
          <a:p>
            <a:pPr marL="0" lvl="0" indent="0" algn="l" rtl="0">
              <a:spcBef>
                <a:spcPts val="0"/>
              </a:spcBef>
              <a:spcAft>
                <a:spcPts val="0"/>
              </a:spcAft>
              <a:buNone/>
            </a:pPr>
            <a:r>
              <a:rPr lang="en-US" sz="1900" b="1"/>
              <a:t>0	1	2	3	4	</a:t>
            </a:r>
            <a:endParaRPr sz="1900" b="1"/>
          </a:p>
          <a:p>
            <a:pPr marL="0" lvl="0" indent="0" algn="l" rtl="0">
              <a:spcBef>
                <a:spcPts val="0"/>
              </a:spcBef>
              <a:spcAft>
                <a:spcPts val="0"/>
              </a:spcAft>
              <a:buNone/>
            </a:pPr>
            <a:r>
              <a:rPr lang="en-US" sz="1900" b="1"/>
              <a:t>5	6	7	8	9	</a:t>
            </a:r>
            <a:endParaRPr sz="1900" b="1"/>
          </a:p>
          <a:p>
            <a:pPr marL="0" lvl="0" indent="0" algn="l" rtl="0">
              <a:spcBef>
                <a:spcPts val="0"/>
              </a:spcBef>
              <a:spcAft>
                <a:spcPts val="0"/>
              </a:spcAft>
              <a:buNone/>
            </a:pPr>
            <a:r>
              <a:rPr lang="en-US" sz="1900" b="1"/>
              <a:t>10	11	12	13	14	</a:t>
            </a:r>
            <a:endParaRPr sz="1900" b="1"/>
          </a:p>
          <a:p>
            <a:pPr marL="0" lvl="0" indent="0" algn="l" rtl="0">
              <a:spcBef>
                <a:spcPts val="0"/>
              </a:spcBef>
              <a:spcAft>
                <a:spcPts val="0"/>
              </a:spcAft>
              <a:buNone/>
            </a:pPr>
            <a:r>
              <a:rPr lang="en-US" sz="1900" b="1"/>
              <a:t>15	16	17	18	19	</a:t>
            </a:r>
            <a:endParaRPr sz="1900" b="1"/>
          </a:p>
          <a:p>
            <a:pPr marL="0" lvl="0" indent="0" algn="l" rtl="0">
              <a:spcBef>
                <a:spcPts val="0"/>
              </a:spcBef>
              <a:spcAft>
                <a:spcPts val="0"/>
              </a:spcAft>
              <a:buNone/>
            </a:pPr>
            <a:endParaRPr sz="1900" b="1"/>
          </a:p>
          <a:p>
            <a:pPr marL="0" lvl="0" indent="0" algn="l" rtl="0">
              <a:spcBef>
                <a:spcPts val="0"/>
              </a:spcBef>
              <a:spcAft>
                <a:spcPts val="0"/>
              </a:spcAft>
              <a:buNone/>
            </a:pPr>
            <a:r>
              <a:rPr lang="en-US" sz="1900" b="1"/>
              <a:t> ----jGRASP: operation complete.</a:t>
            </a:r>
            <a:endParaRPr sz="1900" b="1"/>
          </a:p>
          <a:p>
            <a:pPr marL="0" lvl="0" indent="0" algn="l" rtl="0">
              <a:spcBef>
                <a:spcPts val="0"/>
              </a:spcBef>
              <a:spcAft>
                <a:spcPts val="0"/>
              </a:spcAft>
              <a:buNone/>
            </a:pPr>
            <a:endParaRPr sz="1900"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a2df431535_0_115"/>
          <p:cNvSpPr txBox="1">
            <a:spLocks noGrp="1"/>
          </p:cNvSpPr>
          <p:nvPr>
            <p:ph type="body" idx="1"/>
          </p:nvPr>
        </p:nvSpPr>
        <p:spPr>
          <a:xfrm>
            <a:off x="838200" y="228050"/>
            <a:ext cx="10515600" cy="5948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int twoD[][] = new int[4][];</a:t>
            </a:r>
            <a:endParaRPr/>
          </a:p>
          <a:p>
            <a:pPr marL="0" lvl="0" indent="0" algn="l" rtl="0">
              <a:spcBef>
                <a:spcPts val="1000"/>
              </a:spcBef>
              <a:spcAft>
                <a:spcPts val="0"/>
              </a:spcAft>
              <a:buNone/>
            </a:pPr>
            <a:r>
              <a:rPr lang="en-US"/>
              <a:t>twoD[0] = new int[5];</a:t>
            </a:r>
            <a:endParaRPr/>
          </a:p>
          <a:p>
            <a:pPr marL="0" lvl="0" indent="0" algn="l" rtl="0">
              <a:spcBef>
                <a:spcPts val="1000"/>
              </a:spcBef>
              <a:spcAft>
                <a:spcPts val="0"/>
              </a:spcAft>
              <a:buNone/>
            </a:pPr>
            <a:r>
              <a:rPr lang="en-US"/>
              <a:t>twoD[1] = new int[5];</a:t>
            </a:r>
            <a:endParaRPr/>
          </a:p>
          <a:p>
            <a:pPr marL="0" lvl="0" indent="0" algn="l" rtl="0">
              <a:spcBef>
                <a:spcPts val="1000"/>
              </a:spcBef>
              <a:spcAft>
                <a:spcPts val="0"/>
              </a:spcAft>
              <a:buNone/>
            </a:pPr>
            <a:r>
              <a:rPr lang="en-US"/>
              <a:t>twoD[2] = new int[5];</a:t>
            </a:r>
            <a:endParaRPr/>
          </a:p>
          <a:p>
            <a:pPr marL="0" lvl="0" indent="0" algn="l" rtl="0">
              <a:spcBef>
                <a:spcPts val="1000"/>
              </a:spcBef>
              <a:spcAft>
                <a:spcPts val="0"/>
              </a:spcAft>
              <a:buNone/>
            </a:pPr>
            <a:r>
              <a:rPr lang="en-US"/>
              <a:t>twoD[3] = new int[5];</a:t>
            </a:r>
            <a:endParaRPr/>
          </a:p>
          <a:p>
            <a:pPr marL="0" lvl="0" indent="0" algn="l" rtl="0">
              <a:spcBef>
                <a:spcPts val="1000"/>
              </a:spcBef>
              <a:spcAft>
                <a:spcPts val="0"/>
              </a:spcAft>
              <a:buNone/>
            </a:pPr>
            <a:endParaRPr/>
          </a:p>
          <a:p>
            <a:pPr marL="0" lvl="0" indent="0" algn="l" rtl="0">
              <a:spcBef>
                <a:spcPts val="1000"/>
              </a:spcBef>
              <a:spcAft>
                <a:spcPts val="0"/>
              </a:spcAft>
              <a:buNone/>
            </a:pPr>
            <a:r>
              <a:rPr lang="en-US"/>
              <a:t>the above code allocates memory for the first dimension of twoD when it is declared. </a:t>
            </a:r>
            <a:endParaRPr/>
          </a:p>
          <a:p>
            <a:pPr marL="0" lvl="0" indent="0" algn="l" rtl="0">
              <a:spcBef>
                <a:spcPts val="1000"/>
              </a:spcBef>
              <a:spcAft>
                <a:spcPts val="0"/>
              </a:spcAft>
              <a:buNone/>
            </a:pPr>
            <a:r>
              <a:rPr lang="en-US"/>
              <a:t>It allocates the second dimension manually.</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a2df431535_0_12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Program creates a two-dimensional array in which the sizes of the second dimension are unequal:</a:t>
            </a:r>
            <a:endParaRPr/>
          </a:p>
        </p:txBody>
      </p:sp>
      <p:sp>
        <p:nvSpPr>
          <p:cNvPr id="759" name="Google Shape;759;g2a2df431535_0_122"/>
          <p:cNvSpPr txBox="1">
            <a:spLocks noGrp="1"/>
          </p:cNvSpPr>
          <p:nvPr>
            <p:ph type="body" idx="1"/>
          </p:nvPr>
        </p:nvSpPr>
        <p:spPr>
          <a:xfrm>
            <a:off x="170325" y="1825625"/>
            <a:ext cx="5514900" cy="4351200"/>
          </a:xfrm>
          <a:prstGeom prst="rect">
            <a:avLst/>
          </a:prstGeom>
          <a:ln w="9525" cap="flat" cmpd="sng">
            <a:solidFill>
              <a:srgbClr val="000000"/>
            </a:solidFill>
            <a:prstDash val="solid"/>
            <a:round/>
            <a:headEnd type="none" w="sm" len="sm"/>
            <a:tailEnd type="none" w="sm" len="sm"/>
          </a:ln>
        </p:spPr>
        <p:txBody>
          <a:bodyPr spcFirstLastPara="1" wrap="square" lIns="91425" tIns="45700" rIns="91425" bIns="45700" anchor="t" anchorCtr="0">
            <a:normAutofit fontScale="62500" lnSpcReduction="20000"/>
          </a:bodyPr>
          <a:lstStyle/>
          <a:p>
            <a:pPr marL="0" lvl="0" indent="0" algn="l" rtl="0">
              <a:spcBef>
                <a:spcPts val="1000"/>
              </a:spcBef>
              <a:spcAft>
                <a:spcPts val="0"/>
              </a:spcAft>
              <a:buNone/>
            </a:pPr>
            <a:r>
              <a:rPr lang="en-US"/>
              <a:t>// Manually allocate differing size second dimensions.</a:t>
            </a:r>
            <a:endParaRPr/>
          </a:p>
          <a:p>
            <a:pPr marL="0" lvl="0" indent="0" algn="l" rtl="0">
              <a:spcBef>
                <a:spcPts val="1000"/>
              </a:spcBef>
              <a:spcAft>
                <a:spcPts val="0"/>
              </a:spcAft>
              <a:buNone/>
            </a:pPr>
            <a:r>
              <a:rPr lang="en-US"/>
              <a:t>class TwoDAgain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 int twoD[][] = new int[4][];</a:t>
            </a:r>
            <a:endParaRPr/>
          </a:p>
          <a:p>
            <a:pPr marL="0" lvl="0" indent="0" algn="l" rtl="0">
              <a:spcBef>
                <a:spcPts val="1000"/>
              </a:spcBef>
              <a:spcAft>
                <a:spcPts val="0"/>
              </a:spcAft>
              <a:buNone/>
            </a:pPr>
            <a:r>
              <a:rPr lang="en-US"/>
              <a:t> twoD[0] = new int[1];</a:t>
            </a:r>
            <a:endParaRPr/>
          </a:p>
          <a:p>
            <a:pPr marL="0" lvl="0" indent="0" algn="l" rtl="0">
              <a:spcBef>
                <a:spcPts val="1000"/>
              </a:spcBef>
              <a:spcAft>
                <a:spcPts val="0"/>
              </a:spcAft>
              <a:buNone/>
            </a:pPr>
            <a:r>
              <a:rPr lang="en-US"/>
              <a:t> twoD[1] = new int[2];</a:t>
            </a:r>
            <a:endParaRPr/>
          </a:p>
          <a:p>
            <a:pPr marL="0" lvl="0" indent="0" algn="l" rtl="0">
              <a:spcBef>
                <a:spcPts val="1000"/>
              </a:spcBef>
              <a:spcAft>
                <a:spcPts val="0"/>
              </a:spcAft>
              <a:buNone/>
            </a:pPr>
            <a:r>
              <a:rPr lang="en-US"/>
              <a:t> twoD[2] = new int[3];</a:t>
            </a:r>
            <a:endParaRPr/>
          </a:p>
          <a:p>
            <a:pPr marL="0" lvl="0" indent="0" algn="l" rtl="0">
              <a:spcBef>
                <a:spcPts val="1000"/>
              </a:spcBef>
              <a:spcAft>
                <a:spcPts val="0"/>
              </a:spcAft>
              <a:buNone/>
            </a:pPr>
            <a:r>
              <a:rPr lang="en-US"/>
              <a:t> twoD[3] = new int[4];</a:t>
            </a:r>
            <a:endParaRPr/>
          </a:p>
          <a:p>
            <a:pPr marL="0" lvl="0" indent="0" algn="l" rtl="0">
              <a:spcBef>
                <a:spcPts val="1000"/>
              </a:spcBef>
              <a:spcAft>
                <a:spcPts val="0"/>
              </a:spcAft>
              <a:buNone/>
            </a:pPr>
            <a:r>
              <a:rPr lang="en-US"/>
              <a:t> int i, j, k = 0;</a:t>
            </a:r>
            <a:endParaRPr/>
          </a:p>
          <a:p>
            <a:pPr marL="0" lvl="0" indent="0" algn="l" rtl="0">
              <a:spcBef>
                <a:spcPts val="1000"/>
              </a:spcBef>
              <a:spcAft>
                <a:spcPts val="0"/>
              </a:spcAft>
              <a:buNone/>
            </a:pPr>
            <a:r>
              <a:rPr lang="en-US"/>
              <a:t> for(i=0; i&lt;4; i++)</a:t>
            </a:r>
            <a:endParaRPr/>
          </a:p>
          <a:p>
            <a:pPr marL="0" lvl="0" indent="0" algn="l" rtl="0">
              <a:spcBef>
                <a:spcPts val="1000"/>
              </a:spcBef>
              <a:spcAft>
                <a:spcPts val="0"/>
              </a:spcAft>
              <a:buNone/>
            </a:pPr>
            <a:r>
              <a:rPr lang="en-US"/>
              <a:t> for(j=0; j&lt;i+1; j++) {</a:t>
            </a:r>
            <a:endParaRPr/>
          </a:p>
          <a:p>
            <a:pPr marL="0" lvl="0" indent="0" algn="l" rtl="0">
              <a:spcBef>
                <a:spcPts val="1000"/>
              </a:spcBef>
              <a:spcAft>
                <a:spcPts val="0"/>
              </a:spcAft>
              <a:buNone/>
            </a:pPr>
            <a:r>
              <a:rPr lang="en-US"/>
              <a:t> twoD[i][j] = k;</a:t>
            </a:r>
            <a:endParaRPr/>
          </a:p>
          <a:p>
            <a:pPr marL="0" lvl="0" indent="0" algn="l" rtl="0">
              <a:spcBef>
                <a:spcPts val="1000"/>
              </a:spcBef>
              <a:spcAft>
                <a:spcPts val="0"/>
              </a:spcAft>
              <a:buNone/>
            </a:pPr>
            <a:r>
              <a:rPr lang="en-US"/>
              <a:t> k++;</a:t>
            </a:r>
            <a:endParaRPr/>
          </a:p>
        </p:txBody>
      </p:sp>
      <p:sp>
        <p:nvSpPr>
          <p:cNvPr id="760" name="Google Shape;760;g2a2df431535_0_122"/>
          <p:cNvSpPr txBox="1"/>
          <p:nvPr/>
        </p:nvSpPr>
        <p:spPr>
          <a:xfrm>
            <a:off x="5896925" y="1825625"/>
            <a:ext cx="3000000" cy="2539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1700"/>
          </a:p>
          <a:p>
            <a:pPr marL="0" lvl="0" indent="0" algn="l" rtl="0">
              <a:spcBef>
                <a:spcPts val="0"/>
              </a:spcBef>
              <a:spcAft>
                <a:spcPts val="0"/>
              </a:spcAft>
              <a:buNone/>
            </a:pPr>
            <a:r>
              <a:rPr lang="en-US" sz="1700"/>
              <a:t> for(i=0; i&lt;4; i++) {</a:t>
            </a:r>
            <a:endParaRPr sz="1700"/>
          </a:p>
          <a:p>
            <a:pPr marL="0" lvl="0" indent="0" algn="l" rtl="0">
              <a:spcBef>
                <a:spcPts val="0"/>
              </a:spcBef>
              <a:spcAft>
                <a:spcPts val="0"/>
              </a:spcAft>
              <a:buNone/>
            </a:pPr>
            <a:r>
              <a:rPr lang="en-US" sz="1700"/>
              <a:t> for(j=0; j&lt;i+1; j++)</a:t>
            </a:r>
            <a:endParaRPr sz="1700"/>
          </a:p>
          <a:p>
            <a:pPr marL="0" lvl="0" indent="0" algn="l" rtl="0">
              <a:spcBef>
                <a:spcPts val="0"/>
              </a:spcBef>
              <a:spcAft>
                <a:spcPts val="0"/>
              </a:spcAft>
              <a:buNone/>
            </a:pPr>
            <a:r>
              <a:rPr lang="en-US" sz="1700"/>
              <a:t> System.out.print(twoD[i][j] + " ");</a:t>
            </a:r>
            <a:endParaRPr sz="1700"/>
          </a:p>
          <a:p>
            <a:pPr marL="0" lvl="0" indent="0" algn="l" rtl="0">
              <a:spcBef>
                <a:spcPts val="0"/>
              </a:spcBef>
              <a:spcAft>
                <a:spcPts val="0"/>
              </a:spcAft>
              <a:buNone/>
            </a:pPr>
            <a:r>
              <a:rPr lang="en-US" sz="1700"/>
              <a:t> System.out.println();</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a:t>
            </a:r>
            <a:endParaRPr sz="1700"/>
          </a:p>
        </p:txBody>
      </p:sp>
      <p:sp>
        <p:nvSpPr>
          <p:cNvPr id="761" name="Google Shape;761;g2a2df431535_0_122"/>
          <p:cNvSpPr txBox="1"/>
          <p:nvPr/>
        </p:nvSpPr>
        <p:spPr>
          <a:xfrm>
            <a:off x="5896925" y="4805475"/>
            <a:ext cx="4870800" cy="156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800"/>
              <a:t>This program generates the following output:</a:t>
            </a:r>
            <a:endParaRPr sz="1800"/>
          </a:p>
          <a:p>
            <a:pPr marL="0" lvl="0" indent="0" algn="l" rtl="0">
              <a:spcBef>
                <a:spcPts val="0"/>
              </a:spcBef>
              <a:spcAft>
                <a:spcPts val="0"/>
              </a:spcAft>
              <a:buNone/>
            </a:pPr>
            <a:r>
              <a:rPr lang="en-US" sz="1800"/>
              <a:t>0</a:t>
            </a:r>
            <a:endParaRPr sz="1800"/>
          </a:p>
          <a:p>
            <a:pPr marL="0" lvl="0" indent="0" algn="l" rtl="0">
              <a:spcBef>
                <a:spcPts val="0"/>
              </a:spcBef>
              <a:spcAft>
                <a:spcPts val="0"/>
              </a:spcAft>
              <a:buNone/>
            </a:pPr>
            <a:r>
              <a:rPr lang="en-US" sz="1800"/>
              <a:t>1 2</a:t>
            </a:r>
            <a:endParaRPr sz="1800"/>
          </a:p>
          <a:p>
            <a:pPr marL="0" lvl="0" indent="0" algn="l" rtl="0">
              <a:spcBef>
                <a:spcPts val="0"/>
              </a:spcBef>
              <a:spcAft>
                <a:spcPts val="0"/>
              </a:spcAft>
              <a:buNone/>
            </a:pPr>
            <a:r>
              <a:rPr lang="en-US" sz="1800"/>
              <a:t>3 4 5</a:t>
            </a:r>
            <a:endParaRPr sz="1800"/>
          </a:p>
          <a:p>
            <a:pPr marL="0" lvl="0" indent="0" algn="l" rtl="0">
              <a:spcBef>
                <a:spcPts val="0"/>
              </a:spcBef>
              <a:spcAft>
                <a:spcPts val="0"/>
              </a:spcAft>
              <a:buNone/>
            </a:pPr>
            <a:r>
              <a:rPr lang="en-US" sz="1800"/>
              <a:t>6 7 8 9</a:t>
            </a:r>
            <a:endParaRPr sz="1800"/>
          </a:p>
        </p:txBody>
      </p:sp>
      <p:pic>
        <p:nvPicPr>
          <p:cNvPr id="762" name="Google Shape;762;g2a2df431535_0_122"/>
          <p:cNvPicPr preferRelativeResize="0"/>
          <p:nvPr/>
        </p:nvPicPr>
        <p:blipFill>
          <a:blip r:embed="rId3">
            <a:alphaModFix/>
          </a:blip>
          <a:stretch>
            <a:fillRect/>
          </a:stretch>
        </p:blipFill>
        <p:spPr>
          <a:xfrm>
            <a:off x="9024550" y="1690825"/>
            <a:ext cx="3167450" cy="287262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a2df431535_0_133"/>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Direct Initialization of 2D-Array</a:t>
            </a:r>
            <a:endParaRPr/>
          </a:p>
        </p:txBody>
      </p:sp>
      <p:sp>
        <p:nvSpPr>
          <p:cNvPr id="768" name="Google Shape;768;g2a2df431535_0_133"/>
          <p:cNvSpPr txBox="1">
            <a:spLocks noGrp="1"/>
          </p:cNvSpPr>
          <p:nvPr>
            <p:ph type="body" idx="1"/>
          </p:nvPr>
        </p:nvSpPr>
        <p:spPr>
          <a:xfrm>
            <a:off x="838200" y="1009975"/>
            <a:ext cx="10515600" cy="51669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05"/>
              <a:buNone/>
            </a:pPr>
            <a:r>
              <a:rPr lang="en-US" sz="2040"/>
              <a:t>// Initialize a two-dimensional array.</a:t>
            </a:r>
            <a:endParaRPr sz="2040"/>
          </a:p>
          <a:p>
            <a:pPr marL="0" lvl="0" indent="0" algn="l" rtl="0">
              <a:lnSpc>
                <a:spcPct val="70000"/>
              </a:lnSpc>
              <a:spcBef>
                <a:spcPts val="1000"/>
              </a:spcBef>
              <a:spcAft>
                <a:spcPts val="0"/>
              </a:spcAft>
              <a:buSzPts val="605"/>
              <a:buNone/>
            </a:pPr>
            <a:r>
              <a:rPr lang="en-US" sz="2040"/>
              <a:t>class Matrix {</a:t>
            </a:r>
            <a:endParaRPr sz="2040"/>
          </a:p>
          <a:p>
            <a:pPr marL="0" lvl="0" indent="0" algn="l" rtl="0">
              <a:lnSpc>
                <a:spcPct val="70000"/>
              </a:lnSpc>
              <a:spcBef>
                <a:spcPts val="1000"/>
              </a:spcBef>
              <a:spcAft>
                <a:spcPts val="0"/>
              </a:spcAft>
              <a:buSzPts val="605"/>
              <a:buNone/>
            </a:pPr>
            <a:r>
              <a:rPr lang="en-US" sz="2040"/>
              <a:t> public static void main(String args[]) {</a:t>
            </a:r>
            <a:endParaRPr sz="2040"/>
          </a:p>
          <a:p>
            <a:pPr marL="0" lvl="0" indent="0" algn="l" rtl="0">
              <a:lnSpc>
                <a:spcPct val="70000"/>
              </a:lnSpc>
              <a:spcBef>
                <a:spcPts val="1000"/>
              </a:spcBef>
              <a:spcAft>
                <a:spcPts val="0"/>
              </a:spcAft>
              <a:buSzPts val="605"/>
              <a:buNone/>
            </a:pPr>
            <a:r>
              <a:rPr lang="en-US" sz="2040"/>
              <a:t> double m[][] = {</a:t>
            </a:r>
            <a:endParaRPr sz="2040"/>
          </a:p>
          <a:p>
            <a:pPr marL="0" lvl="0" indent="0" algn="l" rtl="0">
              <a:lnSpc>
                <a:spcPct val="70000"/>
              </a:lnSpc>
              <a:spcBef>
                <a:spcPts val="1000"/>
              </a:spcBef>
              <a:spcAft>
                <a:spcPts val="0"/>
              </a:spcAft>
              <a:buSzPts val="605"/>
              <a:buNone/>
            </a:pPr>
            <a:r>
              <a:rPr lang="en-US" sz="2040"/>
              <a:t> { 0*0, 1*0, 2*0, 3*0 },</a:t>
            </a:r>
            <a:endParaRPr sz="2040"/>
          </a:p>
          <a:p>
            <a:pPr marL="0" lvl="0" indent="0" algn="l" rtl="0">
              <a:lnSpc>
                <a:spcPct val="70000"/>
              </a:lnSpc>
              <a:spcBef>
                <a:spcPts val="1000"/>
              </a:spcBef>
              <a:spcAft>
                <a:spcPts val="0"/>
              </a:spcAft>
              <a:buSzPts val="605"/>
              <a:buNone/>
            </a:pPr>
            <a:r>
              <a:rPr lang="en-US" sz="2040"/>
              <a:t> { 0*1, 1*1, 2*1, 3*1 },</a:t>
            </a:r>
            <a:endParaRPr sz="2040"/>
          </a:p>
          <a:p>
            <a:pPr marL="0" lvl="0" indent="0" algn="l" rtl="0">
              <a:lnSpc>
                <a:spcPct val="70000"/>
              </a:lnSpc>
              <a:spcBef>
                <a:spcPts val="1000"/>
              </a:spcBef>
              <a:spcAft>
                <a:spcPts val="0"/>
              </a:spcAft>
              <a:buSzPts val="605"/>
              <a:buNone/>
            </a:pPr>
            <a:r>
              <a:rPr lang="en-US" sz="2040"/>
              <a:t> { 0*2, 1*2, 2*2, 3*2 },</a:t>
            </a:r>
            <a:endParaRPr sz="2040"/>
          </a:p>
          <a:p>
            <a:pPr marL="0" lvl="0" indent="0" algn="l" rtl="0">
              <a:lnSpc>
                <a:spcPct val="70000"/>
              </a:lnSpc>
              <a:spcBef>
                <a:spcPts val="1000"/>
              </a:spcBef>
              <a:spcAft>
                <a:spcPts val="0"/>
              </a:spcAft>
              <a:buSzPts val="605"/>
              <a:buNone/>
            </a:pPr>
            <a:r>
              <a:rPr lang="en-US" sz="2040"/>
              <a:t> { 0*3, 1*3, 2*3, 3*3 }</a:t>
            </a:r>
            <a:endParaRPr sz="2040"/>
          </a:p>
          <a:p>
            <a:pPr marL="0" lvl="0" indent="0" algn="l" rtl="0">
              <a:lnSpc>
                <a:spcPct val="70000"/>
              </a:lnSpc>
              <a:spcBef>
                <a:spcPts val="1000"/>
              </a:spcBef>
              <a:spcAft>
                <a:spcPts val="0"/>
              </a:spcAft>
              <a:buSzPts val="605"/>
              <a:buNone/>
            </a:pPr>
            <a:r>
              <a:rPr lang="en-US" sz="2040"/>
              <a:t>};</a:t>
            </a:r>
            <a:endParaRPr sz="2040"/>
          </a:p>
          <a:p>
            <a:pPr marL="0" lvl="0" indent="0" algn="l" rtl="0">
              <a:lnSpc>
                <a:spcPct val="70000"/>
              </a:lnSpc>
              <a:spcBef>
                <a:spcPts val="1000"/>
              </a:spcBef>
              <a:spcAft>
                <a:spcPts val="0"/>
              </a:spcAft>
              <a:buSzPts val="605"/>
              <a:buNone/>
            </a:pPr>
            <a:r>
              <a:rPr lang="en-US" sz="2040"/>
              <a:t> int i, j;</a:t>
            </a:r>
            <a:endParaRPr sz="2040"/>
          </a:p>
          <a:p>
            <a:pPr marL="0" lvl="0" indent="0" algn="l" rtl="0">
              <a:lnSpc>
                <a:spcPct val="70000"/>
              </a:lnSpc>
              <a:spcBef>
                <a:spcPts val="1000"/>
              </a:spcBef>
              <a:spcAft>
                <a:spcPts val="0"/>
              </a:spcAft>
              <a:buSzPts val="605"/>
              <a:buNone/>
            </a:pPr>
            <a:r>
              <a:rPr lang="en-US" sz="2040"/>
              <a:t> for(i=0; i&lt;4; i++) {</a:t>
            </a:r>
            <a:endParaRPr sz="2040"/>
          </a:p>
          <a:p>
            <a:pPr marL="0" lvl="0" indent="0" algn="l" rtl="0">
              <a:lnSpc>
                <a:spcPct val="70000"/>
              </a:lnSpc>
              <a:spcBef>
                <a:spcPts val="1000"/>
              </a:spcBef>
              <a:spcAft>
                <a:spcPts val="0"/>
              </a:spcAft>
              <a:buSzPts val="605"/>
              <a:buNone/>
            </a:pPr>
            <a:r>
              <a:rPr lang="en-US" sz="2040"/>
              <a:t> for(j=0; j&lt;4; j++)</a:t>
            </a:r>
            <a:endParaRPr sz="2040"/>
          </a:p>
          <a:p>
            <a:pPr marL="0" lvl="0" indent="0" algn="l" rtl="0">
              <a:lnSpc>
                <a:spcPct val="70000"/>
              </a:lnSpc>
              <a:spcBef>
                <a:spcPts val="1000"/>
              </a:spcBef>
              <a:spcAft>
                <a:spcPts val="0"/>
              </a:spcAft>
              <a:buSzPts val="605"/>
              <a:buNone/>
            </a:pPr>
            <a:r>
              <a:rPr lang="en-US" sz="2040"/>
              <a:t> System.out.print(m[i][j] + " ");</a:t>
            </a:r>
            <a:endParaRPr sz="2040"/>
          </a:p>
          <a:p>
            <a:pPr marL="0" lvl="0" indent="0" algn="l" rtl="0">
              <a:lnSpc>
                <a:spcPct val="70000"/>
              </a:lnSpc>
              <a:spcBef>
                <a:spcPts val="1000"/>
              </a:spcBef>
              <a:spcAft>
                <a:spcPts val="0"/>
              </a:spcAft>
              <a:buSzPts val="605"/>
              <a:buNone/>
            </a:pPr>
            <a:r>
              <a:rPr lang="en-US" sz="2040"/>
              <a:t> System.out.println();</a:t>
            </a:r>
            <a:endParaRPr sz="2040"/>
          </a:p>
          <a:p>
            <a:pPr marL="0" lvl="0" indent="0" algn="l" rtl="0">
              <a:lnSpc>
                <a:spcPct val="70000"/>
              </a:lnSpc>
              <a:spcBef>
                <a:spcPts val="1000"/>
              </a:spcBef>
              <a:spcAft>
                <a:spcPts val="0"/>
              </a:spcAft>
              <a:buSzPts val="605"/>
              <a:buNone/>
            </a:pPr>
            <a:r>
              <a:rPr lang="en-US" sz="2040"/>
              <a:t> }</a:t>
            </a:r>
            <a:endParaRPr sz="2040"/>
          </a:p>
          <a:p>
            <a:pPr marL="0" lvl="0" indent="0" algn="l" rtl="0">
              <a:lnSpc>
                <a:spcPct val="70000"/>
              </a:lnSpc>
              <a:spcBef>
                <a:spcPts val="1000"/>
              </a:spcBef>
              <a:spcAft>
                <a:spcPts val="0"/>
              </a:spcAft>
              <a:buSzPts val="605"/>
              <a:buNone/>
            </a:pPr>
            <a:r>
              <a:rPr lang="en-US" sz="2040"/>
              <a:t> }</a:t>
            </a:r>
            <a:endParaRPr sz="2040"/>
          </a:p>
          <a:p>
            <a:pPr marL="0" lvl="0" indent="0" algn="l" rtl="0">
              <a:lnSpc>
                <a:spcPct val="70000"/>
              </a:lnSpc>
              <a:spcBef>
                <a:spcPts val="1000"/>
              </a:spcBef>
              <a:spcAft>
                <a:spcPts val="0"/>
              </a:spcAft>
              <a:buSzPts val="605"/>
              <a:buNone/>
            </a:pPr>
            <a:r>
              <a:rPr lang="en-US" sz="2040"/>
              <a:t>}</a:t>
            </a:r>
            <a:endParaRPr sz="2040"/>
          </a:p>
        </p:txBody>
      </p:sp>
      <p:sp>
        <p:nvSpPr>
          <p:cNvPr id="769" name="Google Shape;769;g2a2df431535_0_133"/>
          <p:cNvSpPr txBox="1"/>
          <p:nvPr/>
        </p:nvSpPr>
        <p:spPr>
          <a:xfrm>
            <a:off x="6792825" y="1580100"/>
            <a:ext cx="4202700" cy="2031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When you run this program, you will get the following output:</a:t>
            </a:r>
            <a:endParaRPr sz="2000" b="1"/>
          </a:p>
          <a:p>
            <a:pPr marL="0" lvl="0" indent="0" algn="l" rtl="0">
              <a:spcBef>
                <a:spcPts val="0"/>
              </a:spcBef>
              <a:spcAft>
                <a:spcPts val="0"/>
              </a:spcAft>
              <a:buNone/>
            </a:pPr>
            <a:r>
              <a:rPr lang="en-US" sz="2000" b="1"/>
              <a:t> 0.0 0.0 0.0 0.0</a:t>
            </a:r>
            <a:endParaRPr sz="2000" b="1"/>
          </a:p>
          <a:p>
            <a:pPr marL="0" lvl="0" indent="0" algn="l" rtl="0">
              <a:spcBef>
                <a:spcPts val="0"/>
              </a:spcBef>
              <a:spcAft>
                <a:spcPts val="0"/>
              </a:spcAft>
              <a:buNone/>
            </a:pPr>
            <a:r>
              <a:rPr lang="en-US" sz="2000" b="1"/>
              <a:t> 0.0 1.0 2.0 3.0</a:t>
            </a:r>
            <a:endParaRPr sz="2000" b="1"/>
          </a:p>
          <a:p>
            <a:pPr marL="0" lvl="0" indent="0" algn="l" rtl="0">
              <a:spcBef>
                <a:spcPts val="0"/>
              </a:spcBef>
              <a:spcAft>
                <a:spcPts val="0"/>
              </a:spcAft>
              <a:buNone/>
            </a:pPr>
            <a:r>
              <a:rPr lang="en-US" sz="2000" b="1"/>
              <a:t> 0.0 2.0 4.0 6.0</a:t>
            </a:r>
            <a:endParaRPr sz="2000" b="1"/>
          </a:p>
          <a:p>
            <a:pPr marL="0" lvl="0" indent="0" algn="l" rtl="0">
              <a:spcBef>
                <a:spcPts val="0"/>
              </a:spcBef>
              <a:spcAft>
                <a:spcPts val="0"/>
              </a:spcAft>
              <a:buNone/>
            </a:pPr>
            <a:r>
              <a:rPr lang="en-US" sz="2000" b="1"/>
              <a:t> 0.0 3.0 6.0 9.0</a:t>
            </a:r>
            <a:endParaRPr sz="2000" b="1"/>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a2df431535_0_145"/>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3D-array Example on creating a 3 X 4 X 5, three-dimensional array. </a:t>
            </a:r>
            <a:endParaRPr/>
          </a:p>
        </p:txBody>
      </p:sp>
      <p:sp>
        <p:nvSpPr>
          <p:cNvPr id="775" name="Google Shape;775;g2a2df431535_0_145"/>
          <p:cNvSpPr txBox="1">
            <a:spLocks noGrp="1"/>
          </p:cNvSpPr>
          <p:nvPr>
            <p:ph type="body" idx="1"/>
          </p:nvPr>
        </p:nvSpPr>
        <p:spPr>
          <a:xfrm>
            <a:off x="838200" y="1253400"/>
            <a:ext cx="10515600" cy="43512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358"/>
              <a:buNone/>
            </a:pPr>
            <a:r>
              <a:rPr lang="en-US" sz="1910"/>
              <a:t>// Demonstrate a three-dimensional array.</a:t>
            </a:r>
            <a:endParaRPr sz="1910"/>
          </a:p>
          <a:p>
            <a:pPr marL="0" lvl="0" indent="0" algn="l" rtl="0">
              <a:lnSpc>
                <a:spcPct val="70000"/>
              </a:lnSpc>
              <a:spcBef>
                <a:spcPts val="1000"/>
              </a:spcBef>
              <a:spcAft>
                <a:spcPts val="0"/>
              </a:spcAft>
              <a:buSzPts val="358"/>
              <a:buNone/>
            </a:pPr>
            <a:r>
              <a:rPr lang="en-US" sz="1910"/>
              <a:t>class ThreeDMatrix {</a:t>
            </a:r>
            <a:endParaRPr sz="1910"/>
          </a:p>
          <a:p>
            <a:pPr marL="0" lvl="0" indent="0" algn="l" rtl="0">
              <a:lnSpc>
                <a:spcPct val="70000"/>
              </a:lnSpc>
              <a:spcBef>
                <a:spcPts val="1000"/>
              </a:spcBef>
              <a:spcAft>
                <a:spcPts val="0"/>
              </a:spcAft>
              <a:buSzPts val="358"/>
              <a:buNone/>
            </a:pPr>
            <a:r>
              <a:rPr lang="en-US" sz="1910"/>
              <a:t> public static void main(String args[]) {</a:t>
            </a:r>
            <a:endParaRPr sz="1910"/>
          </a:p>
          <a:p>
            <a:pPr marL="0" lvl="0" indent="0" algn="l" rtl="0">
              <a:lnSpc>
                <a:spcPct val="70000"/>
              </a:lnSpc>
              <a:spcBef>
                <a:spcPts val="1000"/>
              </a:spcBef>
              <a:spcAft>
                <a:spcPts val="0"/>
              </a:spcAft>
              <a:buSzPts val="358"/>
              <a:buNone/>
            </a:pPr>
            <a:r>
              <a:rPr lang="en-US" sz="1910"/>
              <a:t> int threeD[][][] = new int[3][4][5];</a:t>
            </a:r>
            <a:endParaRPr sz="1910"/>
          </a:p>
          <a:p>
            <a:pPr marL="0" lvl="0" indent="0" algn="l" rtl="0">
              <a:lnSpc>
                <a:spcPct val="70000"/>
              </a:lnSpc>
              <a:spcBef>
                <a:spcPts val="1000"/>
              </a:spcBef>
              <a:spcAft>
                <a:spcPts val="0"/>
              </a:spcAft>
              <a:buSzPts val="358"/>
              <a:buNone/>
            </a:pPr>
            <a:r>
              <a:rPr lang="en-US" sz="1910"/>
              <a:t> int i, j, k;</a:t>
            </a:r>
            <a:endParaRPr sz="1910"/>
          </a:p>
          <a:p>
            <a:pPr marL="0" lvl="0" indent="0" algn="l" rtl="0">
              <a:lnSpc>
                <a:spcPct val="70000"/>
              </a:lnSpc>
              <a:spcBef>
                <a:spcPts val="1000"/>
              </a:spcBef>
              <a:spcAft>
                <a:spcPts val="0"/>
              </a:spcAft>
              <a:buSzPts val="358"/>
              <a:buNone/>
            </a:pPr>
            <a:r>
              <a:rPr lang="en-US" sz="1910"/>
              <a:t> for(i=0; i&lt;3; i++)</a:t>
            </a:r>
            <a:endParaRPr sz="1910"/>
          </a:p>
          <a:p>
            <a:pPr marL="0" lvl="0" indent="0" algn="l" rtl="0">
              <a:lnSpc>
                <a:spcPct val="70000"/>
              </a:lnSpc>
              <a:spcBef>
                <a:spcPts val="1000"/>
              </a:spcBef>
              <a:spcAft>
                <a:spcPts val="0"/>
              </a:spcAft>
              <a:buSzPts val="358"/>
              <a:buNone/>
            </a:pPr>
            <a:r>
              <a:rPr lang="en-US" sz="1910"/>
              <a:t> for(j=0; j&lt;4; j++)</a:t>
            </a:r>
            <a:endParaRPr sz="1910"/>
          </a:p>
          <a:p>
            <a:pPr marL="0" lvl="0" indent="0" algn="l" rtl="0">
              <a:lnSpc>
                <a:spcPct val="70000"/>
              </a:lnSpc>
              <a:spcBef>
                <a:spcPts val="1000"/>
              </a:spcBef>
              <a:spcAft>
                <a:spcPts val="0"/>
              </a:spcAft>
              <a:buSzPts val="358"/>
              <a:buNone/>
            </a:pPr>
            <a:r>
              <a:rPr lang="en-US" sz="1910"/>
              <a:t> for(k=0; k&lt;5; k++)</a:t>
            </a:r>
            <a:endParaRPr sz="1910"/>
          </a:p>
          <a:p>
            <a:pPr marL="0" lvl="0" indent="0" algn="l" rtl="0">
              <a:lnSpc>
                <a:spcPct val="70000"/>
              </a:lnSpc>
              <a:spcBef>
                <a:spcPts val="1000"/>
              </a:spcBef>
              <a:spcAft>
                <a:spcPts val="0"/>
              </a:spcAft>
              <a:buSzPts val="358"/>
              <a:buNone/>
            </a:pPr>
            <a:r>
              <a:rPr lang="en-US" sz="1910"/>
              <a:t> threeD[i][j][k] = i * j * k;</a:t>
            </a:r>
            <a:endParaRPr sz="1910"/>
          </a:p>
          <a:p>
            <a:pPr marL="0" lvl="0" indent="0" algn="l" rtl="0">
              <a:lnSpc>
                <a:spcPct val="70000"/>
              </a:lnSpc>
              <a:spcBef>
                <a:spcPts val="1000"/>
              </a:spcBef>
              <a:spcAft>
                <a:spcPts val="0"/>
              </a:spcAft>
              <a:buSzPts val="358"/>
              <a:buNone/>
            </a:pPr>
            <a:r>
              <a:rPr lang="en-US" sz="1910"/>
              <a:t> for(i=0; i&lt;3; i++) {</a:t>
            </a:r>
            <a:endParaRPr sz="1910"/>
          </a:p>
          <a:p>
            <a:pPr marL="0" lvl="0" indent="0" algn="l" rtl="0">
              <a:lnSpc>
                <a:spcPct val="70000"/>
              </a:lnSpc>
              <a:spcBef>
                <a:spcPts val="1000"/>
              </a:spcBef>
              <a:spcAft>
                <a:spcPts val="0"/>
              </a:spcAft>
              <a:buSzPts val="358"/>
              <a:buNone/>
            </a:pPr>
            <a:r>
              <a:rPr lang="en-US" sz="1910"/>
              <a:t> for(j=0; j&lt;4; j++) {</a:t>
            </a:r>
            <a:endParaRPr sz="1910"/>
          </a:p>
          <a:p>
            <a:pPr marL="0" lvl="0" indent="0" algn="l" rtl="0">
              <a:lnSpc>
                <a:spcPct val="70000"/>
              </a:lnSpc>
              <a:spcBef>
                <a:spcPts val="1000"/>
              </a:spcBef>
              <a:spcAft>
                <a:spcPts val="0"/>
              </a:spcAft>
              <a:buSzPts val="358"/>
              <a:buNone/>
            </a:pPr>
            <a:r>
              <a:rPr lang="en-US" sz="1910"/>
              <a:t> for(k=0; k&lt;5; k++)</a:t>
            </a:r>
            <a:endParaRPr sz="1910"/>
          </a:p>
          <a:p>
            <a:pPr marL="0" lvl="0" indent="0" algn="l" rtl="0">
              <a:lnSpc>
                <a:spcPct val="70000"/>
              </a:lnSpc>
              <a:spcBef>
                <a:spcPts val="1000"/>
              </a:spcBef>
              <a:spcAft>
                <a:spcPts val="0"/>
              </a:spcAft>
              <a:buSzPts val="358"/>
              <a:buNone/>
            </a:pPr>
            <a:r>
              <a:rPr lang="en-US" sz="1910"/>
              <a:t> System.out.print(threeD[i][j][k] + " ");</a:t>
            </a:r>
            <a:endParaRPr sz="1910"/>
          </a:p>
          <a:p>
            <a:pPr marL="0" lvl="0" indent="0" algn="l" rtl="0">
              <a:lnSpc>
                <a:spcPct val="70000"/>
              </a:lnSpc>
              <a:spcBef>
                <a:spcPts val="1000"/>
              </a:spcBef>
              <a:spcAft>
                <a:spcPts val="0"/>
              </a:spcAft>
              <a:buSzPts val="358"/>
              <a:buNone/>
            </a:pPr>
            <a:r>
              <a:rPr lang="en-US" sz="1910"/>
              <a:t> System.out.println();</a:t>
            </a:r>
            <a:endParaRPr sz="1910"/>
          </a:p>
          <a:p>
            <a:pPr marL="0" lvl="0" indent="0" algn="l" rtl="0">
              <a:lnSpc>
                <a:spcPct val="70000"/>
              </a:lnSpc>
              <a:spcBef>
                <a:spcPts val="1000"/>
              </a:spcBef>
              <a:spcAft>
                <a:spcPts val="0"/>
              </a:spcAft>
              <a:buSzPts val="358"/>
              <a:buNone/>
            </a:pPr>
            <a:r>
              <a:rPr lang="en-US" sz="1910"/>
              <a:t> }</a:t>
            </a:r>
            <a:endParaRPr sz="1910"/>
          </a:p>
          <a:p>
            <a:pPr marL="0" lvl="0" indent="0" algn="l" rtl="0">
              <a:lnSpc>
                <a:spcPct val="70000"/>
              </a:lnSpc>
              <a:spcBef>
                <a:spcPts val="1000"/>
              </a:spcBef>
              <a:spcAft>
                <a:spcPts val="0"/>
              </a:spcAft>
              <a:buSzPts val="358"/>
              <a:buNone/>
            </a:pPr>
            <a:r>
              <a:rPr lang="en-US" sz="1910"/>
              <a:t> System.out.println();</a:t>
            </a:r>
            <a:endParaRPr sz="1910"/>
          </a:p>
          <a:p>
            <a:pPr marL="0" lvl="0" indent="0" algn="l" rtl="0">
              <a:lnSpc>
                <a:spcPct val="70000"/>
              </a:lnSpc>
              <a:spcBef>
                <a:spcPts val="1000"/>
              </a:spcBef>
              <a:spcAft>
                <a:spcPts val="0"/>
              </a:spcAft>
              <a:buSzPts val="358"/>
              <a:buNone/>
            </a:pPr>
            <a:r>
              <a:rPr lang="en-US" sz="1910"/>
              <a:t> } }}</a:t>
            </a:r>
            <a:endParaRPr sz="1910"/>
          </a:p>
        </p:txBody>
      </p:sp>
      <p:sp>
        <p:nvSpPr>
          <p:cNvPr id="776" name="Google Shape;776;g2a2df431535_0_145"/>
          <p:cNvSpPr txBox="1"/>
          <p:nvPr/>
        </p:nvSpPr>
        <p:spPr>
          <a:xfrm>
            <a:off x="6955725" y="1580100"/>
            <a:ext cx="3000000" cy="5156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900"/>
              <a:t>This program generates the following output:</a:t>
            </a: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r>
              <a:rPr lang="en-US" sz="1900"/>
              <a:t> 0 1 2 3 4</a:t>
            </a:r>
            <a:endParaRPr sz="1900"/>
          </a:p>
          <a:p>
            <a:pPr marL="0" lvl="0" indent="0" algn="l" rtl="0">
              <a:spcBef>
                <a:spcPts val="0"/>
              </a:spcBef>
              <a:spcAft>
                <a:spcPts val="0"/>
              </a:spcAft>
              <a:buNone/>
            </a:pPr>
            <a:r>
              <a:rPr lang="en-US" sz="1900"/>
              <a:t> 0 2 4 6 8</a:t>
            </a:r>
            <a:endParaRPr sz="1900"/>
          </a:p>
          <a:p>
            <a:pPr marL="0" lvl="0" indent="0" algn="l" rtl="0">
              <a:spcBef>
                <a:spcPts val="0"/>
              </a:spcBef>
              <a:spcAft>
                <a:spcPts val="0"/>
              </a:spcAft>
              <a:buNone/>
            </a:pPr>
            <a:r>
              <a:rPr lang="en-US" sz="1900"/>
              <a:t> 0 3 6 9 12</a:t>
            </a:r>
            <a:endParaRPr sz="1900"/>
          </a:p>
          <a:p>
            <a:pPr marL="0" lvl="0" indent="0" algn="l" rtl="0">
              <a:spcBef>
                <a:spcPts val="0"/>
              </a:spcBef>
              <a:spcAft>
                <a:spcPts val="0"/>
              </a:spcAft>
              <a:buNone/>
            </a:pPr>
            <a:endParaRPr sz="1900"/>
          </a:p>
          <a:p>
            <a:pPr marL="0" lvl="0" indent="0" algn="l" rtl="0">
              <a:spcBef>
                <a:spcPts val="0"/>
              </a:spcBef>
              <a:spcAft>
                <a:spcPts val="0"/>
              </a:spcAft>
              <a:buNone/>
            </a:pPr>
            <a:r>
              <a:rPr lang="en-US" sz="1900"/>
              <a:t> 0 0 0 0 0</a:t>
            </a:r>
            <a:endParaRPr sz="1900"/>
          </a:p>
          <a:p>
            <a:pPr marL="0" lvl="0" indent="0" algn="l" rtl="0">
              <a:spcBef>
                <a:spcPts val="0"/>
              </a:spcBef>
              <a:spcAft>
                <a:spcPts val="0"/>
              </a:spcAft>
              <a:buNone/>
            </a:pPr>
            <a:r>
              <a:rPr lang="en-US" sz="1900"/>
              <a:t> 0 2 4 6 8</a:t>
            </a:r>
            <a:endParaRPr sz="1900"/>
          </a:p>
          <a:p>
            <a:pPr marL="0" lvl="0" indent="0" algn="l" rtl="0">
              <a:spcBef>
                <a:spcPts val="0"/>
              </a:spcBef>
              <a:spcAft>
                <a:spcPts val="0"/>
              </a:spcAft>
              <a:buNone/>
            </a:pPr>
            <a:r>
              <a:rPr lang="en-US" sz="1900"/>
              <a:t> 0 4 8 12 16</a:t>
            </a:r>
            <a:endParaRPr sz="1900"/>
          </a:p>
          <a:p>
            <a:pPr marL="0" lvl="0" indent="0" algn="l" rtl="0">
              <a:spcBef>
                <a:spcPts val="0"/>
              </a:spcBef>
              <a:spcAft>
                <a:spcPts val="0"/>
              </a:spcAft>
              <a:buNone/>
            </a:pPr>
            <a:r>
              <a:rPr lang="en-US" sz="1900"/>
              <a:t> 0 6 12 18 24</a:t>
            </a:r>
            <a:endParaRPr sz="1900"/>
          </a:p>
          <a:p>
            <a:pPr marL="0" lvl="0" indent="0" algn="l" rtl="0">
              <a:spcBef>
                <a:spcPts val="0"/>
              </a:spcBef>
              <a:spcAft>
                <a:spcPts val="0"/>
              </a:spcAft>
              <a:buNone/>
            </a:pPr>
            <a:endParaRPr sz="19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a2df431535_0_15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Alternative Array Declaration Syntax</a:t>
            </a:r>
            <a:endParaRPr/>
          </a:p>
        </p:txBody>
      </p:sp>
      <p:sp>
        <p:nvSpPr>
          <p:cNvPr id="782" name="Google Shape;782;g2a2df431535_0_154"/>
          <p:cNvSpPr txBox="1">
            <a:spLocks noGrp="1"/>
          </p:cNvSpPr>
          <p:nvPr>
            <p:ph type="body" idx="1"/>
          </p:nvPr>
        </p:nvSpPr>
        <p:spPr>
          <a:xfrm>
            <a:off x="838200" y="1368350"/>
            <a:ext cx="10515600" cy="53919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935"/>
              <a:buNone/>
            </a:pPr>
            <a:r>
              <a:rPr lang="en-US" sz="2480"/>
              <a:t>type[ ] var-name;</a:t>
            </a:r>
            <a:endParaRPr sz="2480"/>
          </a:p>
          <a:p>
            <a:pPr marL="0" lvl="0" indent="0" algn="l" rtl="0">
              <a:lnSpc>
                <a:spcPct val="70000"/>
              </a:lnSpc>
              <a:spcBef>
                <a:spcPts val="1000"/>
              </a:spcBef>
              <a:spcAft>
                <a:spcPts val="0"/>
              </a:spcAft>
              <a:buSzPts val="935"/>
              <a:buNone/>
            </a:pPr>
            <a:endParaRPr sz="2480"/>
          </a:p>
          <a:p>
            <a:pPr marL="0" lvl="0" indent="0" algn="l" rtl="0">
              <a:lnSpc>
                <a:spcPct val="70000"/>
              </a:lnSpc>
              <a:spcBef>
                <a:spcPts val="1000"/>
              </a:spcBef>
              <a:spcAft>
                <a:spcPts val="0"/>
              </a:spcAft>
              <a:buSzPts val="935"/>
              <a:buNone/>
            </a:pPr>
            <a:r>
              <a:rPr lang="en-US" sz="2480"/>
              <a:t>1D-Declaration</a:t>
            </a:r>
            <a:endParaRPr sz="2480"/>
          </a:p>
          <a:p>
            <a:pPr marL="0" lvl="0" indent="0" algn="l" rtl="0">
              <a:lnSpc>
                <a:spcPct val="70000"/>
              </a:lnSpc>
              <a:spcBef>
                <a:spcPts val="1000"/>
              </a:spcBef>
              <a:spcAft>
                <a:spcPts val="0"/>
              </a:spcAft>
              <a:buSzPts val="935"/>
              <a:buNone/>
            </a:pPr>
            <a:r>
              <a:rPr lang="en-US" sz="2480"/>
              <a:t>int al[] = new int[3];  // both are same</a:t>
            </a:r>
            <a:endParaRPr sz="2480"/>
          </a:p>
          <a:p>
            <a:pPr marL="0" lvl="0" indent="0" algn="l" rtl="0">
              <a:lnSpc>
                <a:spcPct val="70000"/>
              </a:lnSpc>
              <a:spcBef>
                <a:spcPts val="1000"/>
              </a:spcBef>
              <a:spcAft>
                <a:spcPts val="0"/>
              </a:spcAft>
              <a:buSzPts val="935"/>
              <a:buNone/>
            </a:pPr>
            <a:r>
              <a:rPr lang="en-US" sz="2480"/>
              <a:t>int[] a2 = new int[3];</a:t>
            </a:r>
            <a:endParaRPr sz="2480"/>
          </a:p>
          <a:p>
            <a:pPr marL="0" lvl="0" indent="0" algn="l" rtl="0">
              <a:lnSpc>
                <a:spcPct val="70000"/>
              </a:lnSpc>
              <a:spcBef>
                <a:spcPts val="1000"/>
              </a:spcBef>
              <a:spcAft>
                <a:spcPts val="0"/>
              </a:spcAft>
              <a:buSzPts val="935"/>
              <a:buNone/>
            </a:pPr>
            <a:endParaRPr sz="2480"/>
          </a:p>
          <a:p>
            <a:pPr marL="0" lvl="0" indent="0" algn="l" rtl="0">
              <a:lnSpc>
                <a:spcPct val="70000"/>
              </a:lnSpc>
              <a:spcBef>
                <a:spcPts val="1000"/>
              </a:spcBef>
              <a:spcAft>
                <a:spcPts val="0"/>
              </a:spcAft>
              <a:buSzPts val="935"/>
              <a:buNone/>
            </a:pPr>
            <a:endParaRPr sz="2480"/>
          </a:p>
          <a:p>
            <a:pPr marL="0" lvl="0" indent="0" algn="l" rtl="0">
              <a:lnSpc>
                <a:spcPct val="70000"/>
              </a:lnSpc>
              <a:spcBef>
                <a:spcPts val="1000"/>
              </a:spcBef>
              <a:spcAft>
                <a:spcPts val="0"/>
              </a:spcAft>
              <a:buSzPts val="935"/>
              <a:buNone/>
            </a:pPr>
            <a:r>
              <a:rPr lang="en-US" sz="2480"/>
              <a:t>2D-declaration</a:t>
            </a:r>
            <a:endParaRPr sz="2480"/>
          </a:p>
          <a:p>
            <a:pPr marL="0" lvl="0" indent="0" algn="l" rtl="0">
              <a:lnSpc>
                <a:spcPct val="70000"/>
              </a:lnSpc>
              <a:spcBef>
                <a:spcPts val="1000"/>
              </a:spcBef>
              <a:spcAft>
                <a:spcPts val="0"/>
              </a:spcAft>
              <a:buClr>
                <a:schemeClr val="dk1"/>
              </a:buClr>
              <a:buSzPts val="935"/>
              <a:buFont typeface="Arial"/>
              <a:buNone/>
            </a:pPr>
            <a:r>
              <a:rPr lang="en-US" sz="2480"/>
              <a:t>char twod1[][] = new char[3][4];</a:t>
            </a:r>
            <a:endParaRPr sz="2480"/>
          </a:p>
          <a:p>
            <a:pPr marL="0" lvl="0" indent="0" algn="l" rtl="0">
              <a:lnSpc>
                <a:spcPct val="70000"/>
              </a:lnSpc>
              <a:spcBef>
                <a:spcPts val="1000"/>
              </a:spcBef>
              <a:spcAft>
                <a:spcPts val="0"/>
              </a:spcAft>
              <a:buSzPts val="935"/>
              <a:buNone/>
            </a:pPr>
            <a:r>
              <a:rPr lang="en-US" sz="2480"/>
              <a:t>char[][] twod2 = new char[3][4];</a:t>
            </a:r>
            <a:endParaRPr sz="2480"/>
          </a:p>
          <a:p>
            <a:pPr marL="0" lvl="0" indent="0" algn="l" rtl="0">
              <a:lnSpc>
                <a:spcPct val="70000"/>
              </a:lnSpc>
              <a:spcBef>
                <a:spcPts val="1000"/>
              </a:spcBef>
              <a:spcAft>
                <a:spcPts val="0"/>
              </a:spcAft>
              <a:buSzPts val="935"/>
              <a:buNone/>
            </a:pPr>
            <a:endParaRPr sz="2480"/>
          </a:p>
          <a:p>
            <a:pPr marL="0" lvl="0" indent="0" algn="l" rtl="0">
              <a:lnSpc>
                <a:spcPct val="70000"/>
              </a:lnSpc>
              <a:spcBef>
                <a:spcPts val="1000"/>
              </a:spcBef>
              <a:spcAft>
                <a:spcPts val="0"/>
              </a:spcAft>
              <a:buSzPts val="935"/>
              <a:buNone/>
            </a:pPr>
            <a:r>
              <a:rPr lang="en-US" sz="2480"/>
              <a:t>int[] nums, nums2, nums3; // create three arrays</a:t>
            </a:r>
            <a:endParaRPr sz="2480"/>
          </a:p>
          <a:p>
            <a:pPr marL="0" lvl="0" indent="0" algn="l" rtl="0">
              <a:lnSpc>
                <a:spcPct val="70000"/>
              </a:lnSpc>
              <a:spcBef>
                <a:spcPts val="1000"/>
              </a:spcBef>
              <a:spcAft>
                <a:spcPts val="0"/>
              </a:spcAft>
              <a:buClr>
                <a:schemeClr val="dk1"/>
              </a:buClr>
              <a:buSzPts val="935"/>
              <a:buFont typeface="Arial"/>
              <a:buNone/>
            </a:pPr>
            <a:r>
              <a:rPr lang="en-US" sz="2480"/>
              <a:t>int nums[], nums2[], nums3[]; // create three arrays</a:t>
            </a:r>
            <a:endParaRPr sz="2480"/>
          </a:p>
          <a:p>
            <a:pPr marL="0" lvl="0" indent="0" algn="l" rtl="0">
              <a:lnSpc>
                <a:spcPct val="70000"/>
              </a:lnSpc>
              <a:spcBef>
                <a:spcPts val="1000"/>
              </a:spcBef>
              <a:spcAft>
                <a:spcPts val="0"/>
              </a:spcAft>
              <a:buSzPts val="935"/>
              <a:buNone/>
            </a:pPr>
            <a:endParaRPr sz="248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a8aac945e6_0_112"/>
          <p:cNvSpPr txBox="1">
            <a:spLocks noGrp="1"/>
          </p:cNvSpPr>
          <p:nvPr>
            <p:ph type="ctrTitle"/>
          </p:nvPr>
        </p:nvSpPr>
        <p:spPr>
          <a:xfrm>
            <a:off x="0" y="152400"/>
            <a:ext cx="11988900" cy="2448000"/>
          </a:xfrm>
          <a:prstGeom prst="rect">
            <a:avLst/>
          </a:prstGeom>
          <a:noFill/>
          <a:ln>
            <a:noFill/>
          </a:ln>
        </p:spPr>
        <p:txBody>
          <a:bodyPr spcFirstLastPara="1" wrap="square" lIns="91425" tIns="45700" rIns="91425" bIns="45700" anchor="b" anchorCtr="0">
            <a:noAutofit/>
          </a:bodyPr>
          <a:lstStyle/>
          <a:p>
            <a:pPr marL="0" lvl="0" indent="0" rtl="0">
              <a:lnSpc>
                <a:spcPct val="100000"/>
              </a:lnSpc>
              <a:spcBef>
                <a:spcPts val="0"/>
              </a:spcBef>
              <a:spcAft>
                <a:spcPts val="0"/>
              </a:spcAft>
              <a:buClr>
                <a:schemeClr val="dk2"/>
              </a:buClr>
              <a:buSzPts val="4800"/>
              <a:buFont typeface="Times New Roman"/>
              <a:buNone/>
            </a:pPr>
            <a:br>
              <a:rPr lang="en-US" sz="4800" b="1" i="0" u="none" dirty="0">
                <a:solidFill>
                  <a:schemeClr val="dk2"/>
                </a:solidFill>
                <a:latin typeface="Times New Roman"/>
                <a:ea typeface="Times New Roman"/>
                <a:cs typeface="Times New Roman"/>
                <a:sym typeface="Times New Roman"/>
              </a:rPr>
            </a:br>
            <a:r>
              <a:rPr lang="en-US" sz="4800" b="1" i="0" u="none" dirty="0">
                <a:solidFill>
                  <a:schemeClr val="dk2"/>
                </a:solidFill>
                <a:latin typeface="Times New Roman"/>
                <a:ea typeface="Times New Roman"/>
                <a:cs typeface="Times New Roman"/>
                <a:sym typeface="Times New Roman"/>
              </a:rPr>
              <a:t>Operators  and </a:t>
            </a:r>
            <a:br>
              <a:rPr lang="en-US" sz="4800" b="1" i="0" u="none" dirty="0">
                <a:solidFill>
                  <a:schemeClr val="dk2"/>
                </a:solidFill>
                <a:latin typeface="Times New Roman"/>
                <a:ea typeface="Times New Roman"/>
                <a:cs typeface="Times New Roman"/>
                <a:sym typeface="Times New Roman"/>
              </a:rPr>
            </a:br>
            <a:r>
              <a:rPr lang="en-US" sz="4800" b="1" i="0" u="none" dirty="0">
                <a:solidFill>
                  <a:schemeClr val="dk2"/>
                </a:solidFill>
                <a:latin typeface="Times New Roman"/>
                <a:ea typeface="Times New Roman"/>
                <a:cs typeface="Times New Roman"/>
                <a:sym typeface="Times New Roman"/>
              </a:rPr>
              <a:t>Control statements</a:t>
            </a:r>
            <a:r>
              <a:rPr lang="en-US" sz="4400" b="1" i="0" u="none" dirty="0">
                <a:solidFill>
                  <a:schemeClr val="dk2"/>
                </a:solidFill>
                <a:latin typeface="Arial"/>
                <a:ea typeface="Arial"/>
                <a:cs typeface="Arial"/>
                <a:sym typeface="Arial"/>
              </a:rPr>
              <a:t> </a:t>
            </a:r>
            <a:br>
              <a:rPr lang="en-US" sz="4400" b="1" i="0" u="none" dirty="0">
                <a:solidFill>
                  <a:schemeClr val="dk2"/>
                </a:solidFill>
                <a:latin typeface="Times New Roman"/>
                <a:ea typeface="Times New Roman"/>
                <a:cs typeface="Times New Roman"/>
                <a:sym typeface="Times New Roman"/>
              </a:rPr>
            </a:br>
            <a:endParaRP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a8aac945e6_0_0"/>
          <p:cNvSpPr txBox="1">
            <a:spLocks noGrp="1"/>
          </p:cNvSpPr>
          <p:nvPr>
            <p:ph type="title"/>
          </p:nvPr>
        </p:nvSpPr>
        <p:spPr>
          <a:xfrm>
            <a:off x="609600" y="0"/>
            <a:ext cx="10058400"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900"/>
              <a:buFont typeface="Times New Roman"/>
              <a:buNone/>
            </a:pPr>
            <a:r>
              <a:rPr lang="en-US" sz="3900" b="1" i="0" u="none">
                <a:solidFill>
                  <a:schemeClr val="dk2"/>
                </a:solidFill>
                <a:latin typeface="Times New Roman"/>
                <a:ea typeface="Times New Roman"/>
                <a:cs typeface="Times New Roman"/>
                <a:sym typeface="Times New Roman"/>
              </a:rPr>
              <a:t>Outline </a:t>
            </a:r>
            <a:endParaRPr/>
          </a:p>
        </p:txBody>
      </p:sp>
      <p:sp>
        <p:nvSpPr>
          <p:cNvPr id="793" name="Google Shape;793;g2a8aac945e6_0_0"/>
          <p:cNvSpPr txBox="1">
            <a:spLocks noGrp="1"/>
          </p:cNvSpPr>
          <p:nvPr>
            <p:ph type="body" idx="1"/>
          </p:nvPr>
        </p:nvSpPr>
        <p:spPr>
          <a:xfrm>
            <a:off x="609600" y="838200"/>
            <a:ext cx="10972800" cy="5791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Operators: Arithmetic Operators,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Bitwise Operators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 Relational Operators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Boolean Logical Operators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Assignment Operator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 Operator</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 Operator Precedence</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Using Parentheses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Control Statements: Java’s Selection Statements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 Iteration Statements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 Jump Statements.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a2df431535_0_16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Operators</a:t>
            </a:r>
            <a:endParaRPr/>
          </a:p>
        </p:txBody>
      </p:sp>
      <p:sp>
        <p:nvSpPr>
          <p:cNvPr id="799" name="Google Shape;799;g2a2df431535_0_16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Arithmetic Operators</a:t>
            </a:r>
            <a:endParaRPr/>
          </a:p>
          <a:p>
            <a:pPr marL="0" lvl="0" indent="0" algn="l" rtl="0">
              <a:spcBef>
                <a:spcPts val="1000"/>
              </a:spcBef>
              <a:spcAft>
                <a:spcPts val="0"/>
              </a:spcAft>
              <a:buNone/>
            </a:pPr>
            <a:endParaRPr/>
          </a:p>
        </p:txBody>
      </p:sp>
      <p:pic>
        <p:nvPicPr>
          <p:cNvPr id="800" name="Google Shape;800;g2a2df431535_0_165"/>
          <p:cNvPicPr preferRelativeResize="0"/>
          <p:nvPr/>
        </p:nvPicPr>
        <p:blipFill>
          <a:blip r:embed="rId3">
            <a:alphaModFix/>
          </a:blip>
          <a:stretch>
            <a:fillRect/>
          </a:stretch>
        </p:blipFill>
        <p:spPr>
          <a:xfrm>
            <a:off x="4110275" y="1690825"/>
            <a:ext cx="8156430" cy="435120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a2df431535_0_17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Basic Arithmetic Operators</a:t>
            </a:r>
            <a:endParaRPr/>
          </a:p>
        </p:txBody>
      </p:sp>
      <p:sp>
        <p:nvSpPr>
          <p:cNvPr id="806" name="Google Shape;806;g2a2df431535_0_173"/>
          <p:cNvSpPr txBox="1">
            <a:spLocks noGrp="1"/>
          </p:cNvSpPr>
          <p:nvPr>
            <p:ph type="body" idx="1"/>
          </p:nvPr>
        </p:nvSpPr>
        <p:spPr>
          <a:xfrm>
            <a:off x="137750" y="1466075"/>
            <a:ext cx="4309500" cy="5537400"/>
          </a:xfrm>
          <a:prstGeom prst="rect">
            <a:avLst/>
          </a:prstGeom>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440"/>
              <a:buNone/>
            </a:pPr>
            <a:r>
              <a:rPr lang="en-US" sz="1920"/>
              <a:t>// Demonstrate the basic arithmetic operators.</a:t>
            </a:r>
            <a:endParaRPr sz="1920"/>
          </a:p>
          <a:p>
            <a:pPr marL="0" lvl="0" indent="0" algn="l" rtl="0">
              <a:lnSpc>
                <a:spcPct val="70000"/>
              </a:lnSpc>
              <a:spcBef>
                <a:spcPts val="1000"/>
              </a:spcBef>
              <a:spcAft>
                <a:spcPts val="0"/>
              </a:spcAft>
              <a:buSzPts val="440"/>
              <a:buNone/>
            </a:pPr>
            <a:r>
              <a:rPr lang="en-US" sz="1920"/>
              <a:t>class BasicMath {</a:t>
            </a:r>
            <a:endParaRPr sz="1920"/>
          </a:p>
          <a:p>
            <a:pPr marL="0" lvl="0" indent="0" algn="l" rtl="0">
              <a:lnSpc>
                <a:spcPct val="70000"/>
              </a:lnSpc>
              <a:spcBef>
                <a:spcPts val="1000"/>
              </a:spcBef>
              <a:spcAft>
                <a:spcPts val="0"/>
              </a:spcAft>
              <a:buSzPts val="440"/>
              <a:buNone/>
            </a:pPr>
            <a:r>
              <a:rPr lang="en-US" sz="1920"/>
              <a:t> public static void main(String args[]) {</a:t>
            </a:r>
            <a:endParaRPr sz="1920"/>
          </a:p>
          <a:p>
            <a:pPr marL="0" lvl="0" indent="0" algn="l" rtl="0">
              <a:lnSpc>
                <a:spcPct val="70000"/>
              </a:lnSpc>
              <a:spcBef>
                <a:spcPts val="1000"/>
              </a:spcBef>
              <a:spcAft>
                <a:spcPts val="0"/>
              </a:spcAft>
              <a:buSzPts val="440"/>
              <a:buNone/>
            </a:pPr>
            <a:r>
              <a:rPr lang="en-US" sz="1920"/>
              <a:t> // arithmetic using integers</a:t>
            </a:r>
            <a:endParaRPr sz="1920"/>
          </a:p>
          <a:p>
            <a:pPr marL="0" lvl="0" indent="0" algn="l" rtl="0">
              <a:lnSpc>
                <a:spcPct val="70000"/>
              </a:lnSpc>
              <a:spcBef>
                <a:spcPts val="1000"/>
              </a:spcBef>
              <a:spcAft>
                <a:spcPts val="0"/>
              </a:spcAft>
              <a:buSzPts val="440"/>
              <a:buNone/>
            </a:pPr>
            <a:r>
              <a:rPr lang="en-US" sz="1920"/>
              <a:t> System.out.println("Integer Arithmetic");</a:t>
            </a:r>
            <a:endParaRPr sz="1920"/>
          </a:p>
          <a:p>
            <a:pPr marL="0" lvl="0" indent="0" algn="l" rtl="0">
              <a:lnSpc>
                <a:spcPct val="70000"/>
              </a:lnSpc>
              <a:spcBef>
                <a:spcPts val="1000"/>
              </a:spcBef>
              <a:spcAft>
                <a:spcPts val="0"/>
              </a:spcAft>
              <a:buSzPts val="440"/>
              <a:buNone/>
            </a:pPr>
            <a:r>
              <a:rPr lang="en-US" sz="1920"/>
              <a:t> int a = 1 + 1;</a:t>
            </a:r>
            <a:endParaRPr sz="1920"/>
          </a:p>
          <a:p>
            <a:pPr marL="0" lvl="0" indent="0" algn="l" rtl="0">
              <a:lnSpc>
                <a:spcPct val="70000"/>
              </a:lnSpc>
              <a:spcBef>
                <a:spcPts val="1000"/>
              </a:spcBef>
              <a:spcAft>
                <a:spcPts val="0"/>
              </a:spcAft>
              <a:buSzPts val="440"/>
              <a:buNone/>
            </a:pPr>
            <a:r>
              <a:rPr lang="en-US" sz="1920"/>
              <a:t> int b = a * 3;</a:t>
            </a:r>
            <a:endParaRPr sz="1920"/>
          </a:p>
          <a:p>
            <a:pPr marL="0" lvl="0" indent="0" algn="l" rtl="0">
              <a:lnSpc>
                <a:spcPct val="70000"/>
              </a:lnSpc>
              <a:spcBef>
                <a:spcPts val="1000"/>
              </a:spcBef>
              <a:spcAft>
                <a:spcPts val="0"/>
              </a:spcAft>
              <a:buSzPts val="440"/>
              <a:buNone/>
            </a:pPr>
            <a:r>
              <a:rPr lang="en-US" sz="1920"/>
              <a:t> int c = b / 4;</a:t>
            </a:r>
            <a:endParaRPr sz="1920"/>
          </a:p>
          <a:p>
            <a:pPr marL="0" lvl="0" indent="0" algn="l" rtl="0">
              <a:lnSpc>
                <a:spcPct val="70000"/>
              </a:lnSpc>
              <a:spcBef>
                <a:spcPts val="1000"/>
              </a:spcBef>
              <a:spcAft>
                <a:spcPts val="0"/>
              </a:spcAft>
              <a:buSzPts val="440"/>
              <a:buNone/>
            </a:pPr>
            <a:r>
              <a:rPr lang="en-US" sz="1920"/>
              <a:t> int d = c - a;</a:t>
            </a:r>
            <a:endParaRPr sz="1920"/>
          </a:p>
          <a:p>
            <a:pPr marL="0" lvl="0" indent="0" algn="l" rtl="0">
              <a:lnSpc>
                <a:spcPct val="70000"/>
              </a:lnSpc>
              <a:spcBef>
                <a:spcPts val="1000"/>
              </a:spcBef>
              <a:spcAft>
                <a:spcPts val="0"/>
              </a:spcAft>
              <a:buSzPts val="440"/>
              <a:buNone/>
            </a:pPr>
            <a:r>
              <a:rPr lang="en-US" sz="1920"/>
              <a:t> int e = -d;</a:t>
            </a:r>
            <a:endParaRPr sz="1920"/>
          </a:p>
          <a:p>
            <a:pPr marL="0" lvl="0" indent="0" algn="l" rtl="0">
              <a:lnSpc>
                <a:spcPct val="70000"/>
              </a:lnSpc>
              <a:spcBef>
                <a:spcPts val="1000"/>
              </a:spcBef>
              <a:spcAft>
                <a:spcPts val="0"/>
              </a:spcAft>
              <a:buSzPts val="440"/>
              <a:buNone/>
            </a:pPr>
            <a:r>
              <a:rPr lang="en-US" sz="1920"/>
              <a:t> System.out.println("a = " + a);</a:t>
            </a:r>
            <a:endParaRPr sz="1920"/>
          </a:p>
          <a:p>
            <a:pPr marL="0" lvl="0" indent="0" algn="l" rtl="0">
              <a:lnSpc>
                <a:spcPct val="70000"/>
              </a:lnSpc>
              <a:spcBef>
                <a:spcPts val="1000"/>
              </a:spcBef>
              <a:spcAft>
                <a:spcPts val="0"/>
              </a:spcAft>
              <a:buSzPts val="440"/>
              <a:buNone/>
            </a:pPr>
            <a:r>
              <a:rPr lang="en-US" sz="1920"/>
              <a:t> System.out.println("b = " + b);</a:t>
            </a:r>
            <a:endParaRPr sz="1920"/>
          </a:p>
          <a:p>
            <a:pPr marL="0" lvl="0" indent="0" algn="l" rtl="0">
              <a:lnSpc>
                <a:spcPct val="70000"/>
              </a:lnSpc>
              <a:spcBef>
                <a:spcPts val="1000"/>
              </a:spcBef>
              <a:spcAft>
                <a:spcPts val="0"/>
              </a:spcAft>
              <a:buSzPts val="440"/>
              <a:buNone/>
            </a:pPr>
            <a:r>
              <a:rPr lang="en-US" sz="1920"/>
              <a:t> System.out.println("c = " + c);</a:t>
            </a:r>
            <a:endParaRPr sz="1920"/>
          </a:p>
          <a:p>
            <a:pPr marL="0" lvl="0" indent="0" algn="l" rtl="0">
              <a:lnSpc>
                <a:spcPct val="70000"/>
              </a:lnSpc>
              <a:spcBef>
                <a:spcPts val="1000"/>
              </a:spcBef>
              <a:spcAft>
                <a:spcPts val="0"/>
              </a:spcAft>
              <a:buSzPts val="440"/>
              <a:buNone/>
            </a:pPr>
            <a:r>
              <a:rPr lang="en-US" sz="1920"/>
              <a:t> System.out.println("d = " + d);</a:t>
            </a:r>
            <a:endParaRPr sz="1920"/>
          </a:p>
          <a:p>
            <a:pPr marL="0" lvl="0" indent="0" algn="l" rtl="0">
              <a:lnSpc>
                <a:spcPct val="70000"/>
              </a:lnSpc>
              <a:spcBef>
                <a:spcPts val="1000"/>
              </a:spcBef>
              <a:spcAft>
                <a:spcPts val="0"/>
              </a:spcAft>
              <a:buSzPts val="440"/>
              <a:buNone/>
            </a:pPr>
            <a:r>
              <a:rPr lang="en-US" sz="1920"/>
              <a:t> System.out.println("e = " + e);</a:t>
            </a:r>
            <a:endParaRPr sz="1920"/>
          </a:p>
          <a:p>
            <a:pPr marL="0" lvl="0" indent="0" algn="l" rtl="0">
              <a:lnSpc>
                <a:spcPct val="70000"/>
              </a:lnSpc>
              <a:spcBef>
                <a:spcPts val="1000"/>
              </a:spcBef>
              <a:spcAft>
                <a:spcPts val="0"/>
              </a:spcAft>
              <a:buSzPts val="440"/>
              <a:buNone/>
            </a:pPr>
            <a:r>
              <a:rPr lang="en-US" sz="1920"/>
              <a:t> // arithmetic using doubles</a:t>
            </a:r>
            <a:endParaRPr sz="1920"/>
          </a:p>
          <a:p>
            <a:pPr marL="0" lvl="0" indent="0" algn="l" rtl="0">
              <a:lnSpc>
                <a:spcPct val="70000"/>
              </a:lnSpc>
              <a:spcBef>
                <a:spcPts val="1000"/>
              </a:spcBef>
              <a:spcAft>
                <a:spcPts val="0"/>
              </a:spcAft>
              <a:buSzPts val="440"/>
              <a:buNone/>
            </a:pPr>
            <a:r>
              <a:rPr lang="en-US" sz="1920"/>
              <a:t> </a:t>
            </a:r>
            <a:endParaRPr sz="1920"/>
          </a:p>
        </p:txBody>
      </p:sp>
      <p:sp>
        <p:nvSpPr>
          <p:cNvPr id="807" name="Google Shape;807;g2a2df431535_0_173"/>
          <p:cNvSpPr txBox="1"/>
          <p:nvPr/>
        </p:nvSpPr>
        <p:spPr>
          <a:xfrm>
            <a:off x="4626300" y="1397250"/>
            <a:ext cx="4642500" cy="4063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800"/>
              <a:t>System.out.println("\nFloating Point Arithmetic");</a:t>
            </a:r>
            <a:endParaRPr sz="1800"/>
          </a:p>
          <a:p>
            <a:pPr marL="0" lvl="0" indent="0" algn="l" rtl="0">
              <a:spcBef>
                <a:spcPts val="0"/>
              </a:spcBef>
              <a:spcAft>
                <a:spcPts val="0"/>
              </a:spcAft>
              <a:buNone/>
            </a:pPr>
            <a:r>
              <a:rPr lang="en-US" sz="1800"/>
              <a:t> double da = 1 + 1;</a:t>
            </a:r>
            <a:endParaRPr sz="1800"/>
          </a:p>
          <a:p>
            <a:pPr marL="0" lvl="0" indent="0" algn="l" rtl="0">
              <a:spcBef>
                <a:spcPts val="0"/>
              </a:spcBef>
              <a:spcAft>
                <a:spcPts val="0"/>
              </a:spcAft>
              <a:buNone/>
            </a:pPr>
            <a:r>
              <a:rPr lang="en-US" sz="1800"/>
              <a:t> double db = da * 3;</a:t>
            </a:r>
            <a:endParaRPr sz="1800"/>
          </a:p>
          <a:p>
            <a:pPr marL="0" lvl="0" indent="0" algn="l" rtl="0">
              <a:spcBef>
                <a:spcPts val="0"/>
              </a:spcBef>
              <a:spcAft>
                <a:spcPts val="0"/>
              </a:spcAft>
              <a:buNone/>
            </a:pPr>
            <a:r>
              <a:rPr lang="en-US" sz="1800"/>
              <a:t> double dc = db / 4;</a:t>
            </a:r>
            <a:endParaRPr sz="1800"/>
          </a:p>
          <a:p>
            <a:pPr marL="0" lvl="0" indent="0" algn="l" rtl="0">
              <a:spcBef>
                <a:spcPts val="0"/>
              </a:spcBef>
              <a:spcAft>
                <a:spcPts val="0"/>
              </a:spcAft>
              <a:buNone/>
            </a:pPr>
            <a:r>
              <a:rPr lang="en-US" sz="1800"/>
              <a:t> double dd = dc - a;</a:t>
            </a:r>
            <a:endParaRPr sz="1800"/>
          </a:p>
          <a:p>
            <a:pPr marL="0" lvl="0" indent="0" algn="l" rtl="0">
              <a:spcBef>
                <a:spcPts val="0"/>
              </a:spcBef>
              <a:spcAft>
                <a:spcPts val="0"/>
              </a:spcAft>
              <a:buNone/>
            </a:pPr>
            <a:r>
              <a:rPr lang="en-US" sz="1800"/>
              <a:t> double de = -dd;</a:t>
            </a:r>
            <a:endParaRPr sz="1800"/>
          </a:p>
          <a:p>
            <a:pPr marL="0" lvl="0" indent="0" algn="l" rtl="0">
              <a:spcBef>
                <a:spcPts val="0"/>
              </a:spcBef>
              <a:spcAft>
                <a:spcPts val="0"/>
              </a:spcAft>
              <a:buNone/>
            </a:pPr>
            <a:r>
              <a:rPr lang="en-US" sz="1800"/>
              <a:t> System.out.println("da = " + da);</a:t>
            </a:r>
            <a:endParaRPr sz="1800"/>
          </a:p>
          <a:p>
            <a:pPr marL="0" lvl="0" indent="0" algn="l" rtl="0">
              <a:spcBef>
                <a:spcPts val="0"/>
              </a:spcBef>
              <a:spcAft>
                <a:spcPts val="0"/>
              </a:spcAft>
              <a:buNone/>
            </a:pPr>
            <a:r>
              <a:rPr lang="en-US" sz="1800"/>
              <a:t> System.out.println("db = " + db);</a:t>
            </a:r>
            <a:endParaRPr sz="1800"/>
          </a:p>
          <a:p>
            <a:pPr marL="0" lvl="0" indent="0" algn="l" rtl="0">
              <a:spcBef>
                <a:spcPts val="0"/>
              </a:spcBef>
              <a:spcAft>
                <a:spcPts val="0"/>
              </a:spcAft>
              <a:buNone/>
            </a:pPr>
            <a:r>
              <a:rPr lang="en-US" sz="1800"/>
              <a:t> System.out.println("dc = " + dc);</a:t>
            </a:r>
            <a:endParaRPr sz="1800"/>
          </a:p>
          <a:p>
            <a:pPr marL="0" lvl="0" indent="0" algn="l" rtl="0">
              <a:spcBef>
                <a:spcPts val="0"/>
              </a:spcBef>
              <a:spcAft>
                <a:spcPts val="0"/>
              </a:spcAft>
              <a:buNone/>
            </a:pPr>
            <a:r>
              <a:rPr lang="en-US" sz="1800"/>
              <a:t> System.out.println("dd = " + dd);</a:t>
            </a:r>
            <a:endParaRPr sz="1800"/>
          </a:p>
          <a:p>
            <a:pPr marL="0" lvl="0" indent="0" algn="l" rtl="0">
              <a:spcBef>
                <a:spcPts val="0"/>
              </a:spcBef>
              <a:spcAft>
                <a:spcPts val="0"/>
              </a:spcAft>
              <a:buNone/>
            </a:pPr>
            <a:r>
              <a:rPr lang="en-US" sz="1800"/>
              <a:t> System.out.println("de = " + de);</a:t>
            </a:r>
            <a:endParaRPr sz="1800"/>
          </a:p>
          <a:p>
            <a:pPr marL="0" lvl="0" indent="0" algn="l" rtl="0">
              <a:spcBef>
                <a:spcPts val="0"/>
              </a:spcBef>
              <a:spcAft>
                <a:spcPts val="0"/>
              </a:spcAft>
              <a:buNone/>
            </a:pPr>
            <a:r>
              <a:rPr lang="en-US" sz="1800"/>
              <a:t> }</a:t>
            </a:r>
            <a:endParaRPr sz="1800"/>
          </a:p>
          <a:p>
            <a:pPr marL="0" lvl="0" indent="0" algn="l" rtl="0">
              <a:spcBef>
                <a:spcPts val="0"/>
              </a:spcBef>
              <a:spcAft>
                <a:spcPts val="0"/>
              </a:spcAft>
              <a:buNone/>
            </a:pPr>
            <a:r>
              <a:rPr lang="en-US" sz="1800"/>
              <a:t>}</a:t>
            </a:r>
            <a:endParaRPr sz="1800"/>
          </a:p>
        </p:txBody>
      </p:sp>
      <p:sp>
        <p:nvSpPr>
          <p:cNvPr id="808" name="Google Shape;808;g2a2df431535_0_173"/>
          <p:cNvSpPr txBox="1"/>
          <p:nvPr/>
        </p:nvSpPr>
        <p:spPr>
          <a:xfrm>
            <a:off x="9578300" y="879650"/>
            <a:ext cx="2492400" cy="3986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900"/>
              <a:t>Integer Arithmetic</a:t>
            </a:r>
            <a:endParaRPr sz="1900"/>
          </a:p>
          <a:p>
            <a:pPr marL="0" lvl="0" indent="0" algn="l" rtl="0">
              <a:spcBef>
                <a:spcPts val="0"/>
              </a:spcBef>
              <a:spcAft>
                <a:spcPts val="0"/>
              </a:spcAft>
              <a:buNone/>
            </a:pPr>
            <a:r>
              <a:rPr lang="en-US" sz="1900"/>
              <a:t> a = 2</a:t>
            </a:r>
            <a:endParaRPr sz="1900"/>
          </a:p>
          <a:p>
            <a:pPr marL="0" lvl="0" indent="0" algn="l" rtl="0">
              <a:spcBef>
                <a:spcPts val="0"/>
              </a:spcBef>
              <a:spcAft>
                <a:spcPts val="0"/>
              </a:spcAft>
              <a:buNone/>
            </a:pPr>
            <a:r>
              <a:rPr lang="en-US" sz="1900"/>
              <a:t> b = 6</a:t>
            </a:r>
            <a:endParaRPr sz="1900"/>
          </a:p>
          <a:p>
            <a:pPr marL="0" lvl="0" indent="0" algn="l" rtl="0">
              <a:spcBef>
                <a:spcPts val="0"/>
              </a:spcBef>
              <a:spcAft>
                <a:spcPts val="0"/>
              </a:spcAft>
              <a:buNone/>
            </a:pPr>
            <a:r>
              <a:rPr lang="en-US" sz="1900"/>
              <a:t> c = 1</a:t>
            </a:r>
            <a:endParaRPr sz="1900"/>
          </a:p>
          <a:p>
            <a:pPr marL="0" lvl="0" indent="0" algn="l" rtl="0">
              <a:spcBef>
                <a:spcPts val="0"/>
              </a:spcBef>
              <a:spcAft>
                <a:spcPts val="0"/>
              </a:spcAft>
              <a:buNone/>
            </a:pPr>
            <a:r>
              <a:rPr lang="en-US" sz="1900"/>
              <a:t> d = -1</a:t>
            </a:r>
            <a:endParaRPr sz="1900"/>
          </a:p>
          <a:p>
            <a:pPr marL="0" lvl="0" indent="0" algn="l" rtl="0">
              <a:spcBef>
                <a:spcPts val="0"/>
              </a:spcBef>
              <a:spcAft>
                <a:spcPts val="0"/>
              </a:spcAft>
              <a:buNone/>
            </a:pPr>
            <a:r>
              <a:rPr lang="en-US" sz="1900"/>
              <a:t> e = 1</a:t>
            </a:r>
            <a:endParaRPr sz="1900"/>
          </a:p>
          <a:p>
            <a:pPr marL="0" lvl="0" indent="0" algn="l" rtl="0">
              <a:spcBef>
                <a:spcPts val="0"/>
              </a:spcBef>
              <a:spcAft>
                <a:spcPts val="0"/>
              </a:spcAft>
              <a:buNone/>
            </a:pPr>
            <a:r>
              <a:rPr lang="en-US" sz="1900"/>
              <a:t> Floating Point Arithmetic</a:t>
            </a:r>
            <a:endParaRPr sz="1900"/>
          </a:p>
          <a:p>
            <a:pPr marL="0" lvl="0" indent="0" algn="l" rtl="0">
              <a:spcBef>
                <a:spcPts val="0"/>
              </a:spcBef>
              <a:spcAft>
                <a:spcPts val="0"/>
              </a:spcAft>
              <a:buNone/>
            </a:pPr>
            <a:r>
              <a:rPr lang="en-US" sz="1900"/>
              <a:t> da = 2.0</a:t>
            </a:r>
            <a:endParaRPr sz="1900"/>
          </a:p>
          <a:p>
            <a:pPr marL="0" lvl="0" indent="0" algn="l" rtl="0">
              <a:spcBef>
                <a:spcPts val="0"/>
              </a:spcBef>
              <a:spcAft>
                <a:spcPts val="0"/>
              </a:spcAft>
              <a:buNone/>
            </a:pPr>
            <a:r>
              <a:rPr lang="en-US" sz="1900"/>
              <a:t> db = 6.0</a:t>
            </a:r>
            <a:endParaRPr sz="1900"/>
          </a:p>
          <a:p>
            <a:pPr marL="0" lvl="0" indent="0" algn="l" rtl="0">
              <a:spcBef>
                <a:spcPts val="0"/>
              </a:spcBef>
              <a:spcAft>
                <a:spcPts val="0"/>
              </a:spcAft>
              <a:buNone/>
            </a:pPr>
            <a:r>
              <a:rPr lang="en-US" sz="1900"/>
              <a:t> dc = 1.5</a:t>
            </a:r>
            <a:endParaRPr sz="1900"/>
          </a:p>
          <a:p>
            <a:pPr marL="0" lvl="0" indent="0" algn="l" rtl="0">
              <a:spcBef>
                <a:spcPts val="0"/>
              </a:spcBef>
              <a:spcAft>
                <a:spcPts val="0"/>
              </a:spcAft>
              <a:buNone/>
            </a:pPr>
            <a:r>
              <a:rPr lang="en-US" sz="1900"/>
              <a:t> dd = -0.5</a:t>
            </a:r>
            <a:endParaRPr sz="1900"/>
          </a:p>
          <a:p>
            <a:pPr marL="0" lvl="0" indent="0" algn="l" rtl="0">
              <a:spcBef>
                <a:spcPts val="0"/>
              </a:spcBef>
              <a:spcAft>
                <a:spcPts val="0"/>
              </a:spcAft>
              <a:buNone/>
            </a:pPr>
            <a:r>
              <a:rPr lang="en-US" sz="1900"/>
              <a:t> de = 0.5</a:t>
            </a:r>
            <a:endParaRPr sz="19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a2df431535_0_18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Modulus Operator</a:t>
            </a:r>
            <a:endParaRPr/>
          </a:p>
        </p:txBody>
      </p:sp>
      <p:sp>
        <p:nvSpPr>
          <p:cNvPr id="814" name="Google Shape;814;g2a2df431535_0_183"/>
          <p:cNvSpPr txBox="1">
            <a:spLocks noGrp="1"/>
          </p:cNvSpPr>
          <p:nvPr>
            <p:ph type="body" idx="1"/>
          </p:nvPr>
        </p:nvSpPr>
        <p:spPr>
          <a:xfrm>
            <a:off x="195475" y="1400925"/>
            <a:ext cx="11907600" cy="47433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a:t>The modulus operator, %, returns the remainder of a division operation.</a:t>
            </a:r>
            <a:endParaRPr/>
          </a:p>
          <a:p>
            <a:pPr marL="0" lvl="0" indent="0" algn="l" rtl="0">
              <a:spcBef>
                <a:spcPts val="1000"/>
              </a:spcBef>
              <a:spcAft>
                <a:spcPts val="0"/>
              </a:spcAft>
              <a:buNone/>
            </a:pPr>
            <a:r>
              <a:rPr lang="en-US"/>
              <a:t>It can be applied to floating-point types as well as integer types.</a:t>
            </a:r>
            <a:endParaRPr/>
          </a:p>
          <a:p>
            <a:pPr marL="0" lvl="0" indent="0" algn="l" rtl="0">
              <a:spcBef>
                <a:spcPts val="1000"/>
              </a:spcBef>
              <a:spcAft>
                <a:spcPts val="0"/>
              </a:spcAft>
              <a:buNone/>
            </a:pPr>
            <a:r>
              <a:rPr lang="en-US"/>
              <a:t>// Demonstrate the % operator.</a:t>
            </a:r>
            <a:endParaRPr/>
          </a:p>
          <a:p>
            <a:pPr marL="0" lvl="0" indent="0" algn="l" rtl="0">
              <a:spcBef>
                <a:spcPts val="1000"/>
              </a:spcBef>
              <a:spcAft>
                <a:spcPts val="0"/>
              </a:spcAft>
              <a:buNone/>
            </a:pPr>
            <a:r>
              <a:rPr lang="en-US"/>
              <a:t>class Modulus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 int x = 42;</a:t>
            </a:r>
            <a:endParaRPr/>
          </a:p>
          <a:p>
            <a:pPr marL="0" lvl="0" indent="0" algn="l" rtl="0">
              <a:spcBef>
                <a:spcPts val="1000"/>
              </a:spcBef>
              <a:spcAft>
                <a:spcPts val="0"/>
              </a:spcAft>
              <a:buNone/>
            </a:pPr>
            <a:r>
              <a:rPr lang="en-US"/>
              <a:t> double y = 42.25;</a:t>
            </a:r>
            <a:endParaRPr/>
          </a:p>
          <a:p>
            <a:pPr marL="0" lvl="0" indent="0" algn="l" rtl="0">
              <a:spcBef>
                <a:spcPts val="1000"/>
              </a:spcBef>
              <a:spcAft>
                <a:spcPts val="0"/>
              </a:spcAft>
              <a:buNone/>
            </a:pPr>
            <a:r>
              <a:rPr lang="en-US"/>
              <a:t> System.out.println("x mod 10 = " + x % 10);</a:t>
            </a:r>
            <a:endParaRPr/>
          </a:p>
          <a:p>
            <a:pPr marL="0" lvl="0" indent="0" algn="l" rtl="0">
              <a:spcBef>
                <a:spcPts val="1000"/>
              </a:spcBef>
              <a:spcAft>
                <a:spcPts val="0"/>
              </a:spcAft>
              <a:buNone/>
            </a:pPr>
            <a:r>
              <a:rPr lang="en-US"/>
              <a:t> System.out.println("y mod 10 = " + y % 10);</a:t>
            </a:r>
            <a:endParaRPr/>
          </a:p>
          <a:p>
            <a:pPr marL="0" lvl="0" indent="0" algn="l" rtl="0">
              <a:spcBef>
                <a:spcPts val="1000"/>
              </a:spcBef>
              <a:spcAft>
                <a:spcPts val="0"/>
              </a:spcAft>
              <a:buNone/>
            </a:pPr>
            <a:r>
              <a:rPr lang="en-US"/>
              <a:t> }</a:t>
            </a:r>
            <a:endParaRPr/>
          </a:p>
          <a:p>
            <a:pPr marL="0" lvl="0" indent="0" algn="l" rtl="0">
              <a:spcBef>
                <a:spcPts val="1000"/>
              </a:spcBef>
              <a:spcAft>
                <a:spcPts val="0"/>
              </a:spcAft>
              <a:buNone/>
            </a:pPr>
            <a:r>
              <a:rPr lang="en-US"/>
              <a:t>}</a:t>
            </a:r>
            <a:endParaRPr/>
          </a:p>
        </p:txBody>
      </p:sp>
      <p:sp>
        <p:nvSpPr>
          <p:cNvPr id="815" name="Google Shape;815;g2a2df431535_0_183"/>
          <p:cNvSpPr txBox="1"/>
          <p:nvPr/>
        </p:nvSpPr>
        <p:spPr>
          <a:xfrm>
            <a:off x="7542175" y="2410900"/>
            <a:ext cx="4153800" cy="2031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400"/>
              <a:t>When you run this program, you will get the following output:</a:t>
            </a:r>
            <a:endParaRPr sz="2400"/>
          </a:p>
          <a:p>
            <a:pPr marL="0" lvl="0" indent="0" algn="l" rtl="0">
              <a:spcBef>
                <a:spcPts val="0"/>
              </a:spcBef>
              <a:spcAft>
                <a:spcPts val="0"/>
              </a:spcAft>
              <a:buNone/>
            </a:pPr>
            <a:r>
              <a:rPr lang="en-US" sz="2400"/>
              <a:t> x mod 10 = 2</a:t>
            </a:r>
            <a:endParaRPr sz="2400"/>
          </a:p>
          <a:p>
            <a:pPr marL="0" lvl="0" indent="0" algn="l" rtl="0">
              <a:spcBef>
                <a:spcPts val="0"/>
              </a:spcBef>
              <a:spcAft>
                <a:spcPts val="0"/>
              </a:spcAft>
              <a:buNone/>
            </a:pPr>
            <a:r>
              <a:rPr lang="en-US" sz="2400"/>
              <a:t> y mod 10 = 2.25</a:t>
            </a:r>
            <a:endParaRPr sz="24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a2df431535_0_19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Arithmetic Compound Assignment Operators</a:t>
            </a:r>
            <a:endParaRPr/>
          </a:p>
        </p:txBody>
      </p:sp>
      <p:sp>
        <p:nvSpPr>
          <p:cNvPr id="821" name="Google Shape;821;g2a2df431535_0_19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a = a + 4;</a:t>
            </a:r>
            <a:endParaRPr/>
          </a:p>
          <a:p>
            <a:pPr marL="0" lvl="0" indent="0" algn="l" rtl="0">
              <a:spcBef>
                <a:spcPts val="1000"/>
              </a:spcBef>
              <a:spcAft>
                <a:spcPts val="0"/>
              </a:spcAft>
              <a:buNone/>
            </a:pPr>
            <a:r>
              <a:rPr lang="en-US"/>
              <a:t>In Java, you can rewrite this statement as shown here:</a:t>
            </a:r>
            <a:endParaRPr/>
          </a:p>
          <a:p>
            <a:pPr marL="0" lvl="0" indent="0" algn="l" rtl="0">
              <a:spcBef>
                <a:spcPts val="1000"/>
              </a:spcBef>
              <a:spcAft>
                <a:spcPts val="0"/>
              </a:spcAft>
              <a:buNone/>
            </a:pPr>
            <a:r>
              <a:rPr lang="en-US"/>
              <a:t>a += 4;</a:t>
            </a:r>
            <a:endParaRPr/>
          </a:p>
          <a:p>
            <a:pPr marL="0" lvl="0" indent="0" algn="l" rtl="0">
              <a:spcBef>
                <a:spcPts val="1000"/>
              </a:spcBef>
              <a:spcAft>
                <a:spcPts val="0"/>
              </a:spcAft>
              <a:buNone/>
            </a:pPr>
            <a:endParaRPr/>
          </a:p>
          <a:p>
            <a:pPr marL="0" lvl="0" indent="0" algn="l" rtl="0">
              <a:spcBef>
                <a:spcPts val="1000"/>
              </a:spcBef>
              <a:spcAft>
                <a:spcPts val="0"/>
              </a:spcAft>
              <a:buNone/>
            </a:pPr>
            <a:r>
              <a:rPr lang="en-US"/>
              <a:t>This version uses the += compound assignment operator.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var = var op expression;</a:t>
            </a:r>
            <a:endParaRPr/>
          </a:p>
          <a:p>
            <a:pPr marL="457200" lvl="0" indent="457200" algn="l" rtl="0">
              <a:spcBef>
                <a:spcPts val="1000"/>
              </a:spcBef>
              <a:spcAft>
                <a:spcPts val="0"/>
              </a:spcAft>
              <a:buClr>
                <a:schemeClr val="dk1"/>
              </a:buClr>
              <a:buSzPts val="1100"/>
              <a:buFont typeface="Arial"/>
              <a:buNone/>
            </a:pPr>
            <a:r>
              <a:rPr lang="en-US"/>
              <a:t>can be rewritten as</a:t>
            </a:r>
            <a:endParaRPr/>
          </a:p>
          <a:p>
            <a:pPr marL="0" lvl="0" indent="0" algn="l" rtl="0">
              <a:spcBef>
                <a:spcPts val="1000"/>
              </a:spcBef>
              <a:spcAft>
                <a:spcPts val="0"/>
              </a:spcAft>
              <a:buClr>
                <a:schemeClr val="dk1"/>
              </a:buClr>
              <a:buSzPts val="1100"/>
              <a:buFont typeface="Arial"/>
              <a:buNone/>
            </a:pPr>
            <a:r>
              <a:rPr lang="en-US"/>
              <a:t>var op= expression;</a:t>
            </a:r>
            <a:endParaRPr/>
          </a:p>
          <a:p>
            <a:pPr marL="0" lvl="0" indent="0" algn="l" rtl="0">
              <a:spcBef>
                <a:spcPts val="1000"/>
              </a:spcBef>
              <a:spcAft>
                <a:spcPts val="0"/>
              </a:spcAft>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a8aac945e6_0_162"/>
          <p:cNvSpPr txBox="1">
            <a:spLocks noGrp="1"/>
          </p:cNvSpPr>
          <p:nvPr>
            <p:ph type="title"/>
          </p:nvPr>
        </p:nvSpPr>
        <p:spPr>
          <a:xfrm>
            <a:off x="1117600" y="365125"/>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400"/>
              <a:buFont typeface="Times New Roman"/>
              <a:buNone/>
            </a:pPr>
            <a:r>
              <a:rPr lang="en-US" sz="3400" b="1" i="0" u="none">
                <a:solidFill>
                  <a:schemeClr val="dk2"/>
                </a:solidFill>
                <a:latin typeface="Times New Roman"/>
                <a:ea typeface="Times New Roman"/>
                <a:cs typeface="Times New Roman"/>
                <a:sym typeface="Times New Roman"/>
              </a:rPr>
              <a:t>Increment and Decrement</a:t>
            </a:r>
            <a:endParaRPr/>
          </a:p>
        </p:txBody>
      </p:sp>
      <p:sp>
        <p:nvSpPr>
          <p:cNvPr id="827" name="Google Shape;827;g2a8aac945e6_0_162"/>
          <p:cNvSpPr txBox="1">
            <a:spLocks noGrp="1"/>
          </p:cNvSpPr>
          <p:nvPr>
            <p:ph type="body" idx="1"/>
          </p:nvPr>
        </p:nvSpPr>
        <p:spPr>
          <a:xfrm>
            <a:off x="609600" y="1719262"/>
            <a:ext cx="10972800" cy="4986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 and the – – are Java’s increment and decrement operators.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increment operator increases its operand by one. The decrement operator decreases its operand by one.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For example, this statement:</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r>
              <a:rPr lang="en-US" sz="2200" b="1" i="1" u="none">
                <a:solidFill>
                  <a:srgbClr val="FF0000"/>
                </a:solidFill>
                <a:latin typeface="Times New Roman"/>
                <a:ea typeface="Times New Roman"/>
                <a:cs typeface="Times New Roman"/>
                <a:sym typeface="Times New Roman"/>
              </a:rPr>
              <a:t>  x = x + 1;</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can be rewritten like this by use of the increment operator:</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1" i="1" u="none">
                <a:solidFill>
                  <a:srgbClr val="FF0000"/>
                </a:solidFill>
                <a:latin typeface="Times New Roman"/>
                <a:ea typeface="Times New Roman"/>
                <a:cs typeface="Times New Roman"/>
                <a:sym typeface="Times New Roman"/>
              </a:rPr>
              <a:t>           x++;    ++x;</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Similarly, this statement:</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1" i="1" u="none">
                <a:solidFill>
                  <a:srgbClr val="FF0000"/>
                </a:solidFill>
                <a:latin typeface="Times New Roman"/>
                <a:ea typeface="Times New Roman"/>
                <a:cs typeface="Times New Roman"/>
                <a:sym typeface="Times New Roman"/>
              </a:rPr>
              <a:t>        x = x - 1;</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is equivalent to</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1" i="1" u="none">
                <a:solidFill>
                  <a:srgbClr val="FF0000"/>
                </a:solidFill>
                <a:latin typeface="Times New Roman"/>
                <a:ea typeface="Times New Roman"/>
                <a:cs typeface="Times New Roman"/>
                <a:sym typeface="Times New Roman"/>
              </a:rPr>
              <a:t>      x--;</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a8aac945e6_0_167"/>
          <p:cNvSpPr txBox="1">
            <a:spLocks noGrp="1"/>
          </p:cNvSpPr>
          <p:nvPr>
            <p:ph type="body" idx="1"/>
          </p:nvPr>
        </p:nvSpPr>
        <p:spPr>
          <a:xfrm>
            <a:off x="609600" y="228600"/>
            <a:ext cx="10972800" cy="6629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These operators are unique in that they can appear both in </a:t>
            </a:r>
            <a:r>
              <a:rPr lang="en-US" sz="2000" b="0" i="1" u="none">
                <a:solidFill>
                  <a:schemeClr val="dk1"/>
                </a:solidFill>
                <a:latin typeface="Times New Roman"/>
                <a:ea typeface="Times New Roman"/>
                <a:cs typeface="Times New Roman"/>
                <a:sym typeface="Times New Roman"/>
              </a:rPr>
              <a:t>postfix form, where they </a:t>
            </a:r>
            <a:r>
              <a:rPr lang="en-US" sz="2000" b="0" i="0" u="none">
                <a:solidFill>
                  <a:schemeClr val="dk1"/>
                </a:solidFill>
                <a:latin typeface="Times New Roman"/>
                <a:ea typeface="Times New Roman"/>
                <a:cs typeface="Times New Roman"/>
                <a:sym typeface="Times New Roman"/>
              </a:rPr>
              <a:t>follow the operand as just shown, and </a:t>
            </a:r>
            <a:r>
              <a:rPr lang="en-US" sz="2000" b="0" i="1" u="none">
                <a:solidFill>
                  <a:schemeClr val="dk1"/>
                </a:solidFill>
                <a:latin typeface="Times New Roman"/>
                <a:ea typeface="Times New Roman"/>
                <a:cs typeface="Times New Roman"/>
                <a:sym typeface="Times New Roman"/>
              </a:rPr>
              <a:t>prefix form, where they precede the operand </a:t>
            </a:r>
            <a:r>
              <a:rPr lang="en-US" sz="2000" b="0" i="0" u="none">
                <a:solidFill>
                  <a:schemeClr val="dk1"/>
                </a:solidFill>
                <a:latin typeface="Times New Roman"/>
                <a:ea typeface="Times New Roman"/>
                <a:cs typeface="Times New Roman"/>
                <a:sym typeface="Times New Roman"/>
              </a:rPr>
              <a:t>is modified. For example:</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FF0000"/>
                </a:solidFill>
                <a:latin typeface="Times New Roman"/>
                <a:ea typeface="Times New Roman"/>
                <a:cs typeface="Times New Roman"/>
                <a:sym typeface="Times New Roman"/>
              </a:rPr>
              <a:t>    x = 42;</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FF0000"/>
                </a:solidFill>
                <a:latin typeface="Times New Roman"/>
                <a:ea typeface="Times New Roman"/>
                <a:cs typeface="Times New Roman"/>
                <a:sym typeface="Times New Roman"/>
              </a:rPr>
              <a:t>    y = ++x;</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In this case, </a:t>
            </a:r>
            <a:r>
              <a:rPr lang="en-US" sz="2000" b="1" i="0" u="none">
                <a:solidFill>
                  <a:schemeClr val="dk1"/>
                </a:solidFill>
                <a:latin typeface="Times New Roman"/>
                <a:ea typeface="Times New Roman"/>
                <a:cs typeface="Times New Roman"/>
                <a:sym typeface="Times New Roman"/>
              </a:rPr>
              <a:t>y is set to 43 as you would expect, because the increment occurs </a:t>
            </a:r>
            <a:r>
              <a:rPr lang="en-US" sz="2000" b="1" i="1" u="none">
                <a:solidFill>
                  <a:schemeClr val="dk1"/>
                </a:solidFill>
                <a:latin typeface="Times New Roman"/>
                <a:ea typeface="Times New Roman"/>
                <a:cs typeface="Times New Roman"/>
                <a:sym typeface="Times New Roman"/>
              </a:rPr>
              <a:t>before x is assigned </a:t>
            </a:r>
            <a:r>
              <a:rPr lang="en-US" sz="2000" b="0" i="0" u="none">
                <a:solidFill>
                  <a:schemeClr val="dk1"/>
                </a:solidFill>
                <a:latin typeface="Times New Roman"/>
                <a:ea typeface="Times New Roman"/>
                <a:cs typeface="Times New Roman"/>
                <a:sym typeface="Times New Roman"/>
              </a:rPr>
              <a:t>to </a:t>
            </a:r>
            <a:r>
              <a:rPr lang="en-US" sz="2000" b="1" i="0" u="none">
                <a:solidFill>
                  <a:schemeClr val="dk1"/>
                </a:solidFill>
                <a:latin typeface="Times New Roman"/>
                <a:ea typeface="Times New Roman"/>
                <a:cs typeface="Times New Roman"/>
                <a:sym typeface="Times New Roman"/>
              </a:rPr>
              <a:t>y. </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0" u="none">
                <a:solidFill>
                  <a:schemeClr val="dk1"/>
                </a:solidFill>
                <a:latin typeface="Times New Roman"/>
                <a:ea typeface="Times New Roman"/>
                <a:cs typeface="Times New Roman"/>
                <a:sym typeface="Times New Roman"/>
              </a:rPr>
              <a:t>Thus, the line y = ++x; is the equivalent of these two statements:</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00B0F0"/>
                </a:solidFill>
                <a:latin typeface="Times New Roman"/>
                <a:ea typeface="Times New Roman"/>
                <a:cs typeface="Times New Roman"/>
                <a:sym typeface="Times New Roman"/>
              </a:rPr>
              <a:t>x = x + 1;</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00B0F0"/>
                </a:solidFill>
                <a:latin typeface="Times New Roman"/>
                <a:ea typeface="Times New Roman"/>
                <a:cs typeface="Times New Roman"/>
                <a:sym typeface="Times New Roman"/>
              </a:rPr>
              <a:t>y = x;</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However, when written like this,</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x = 42;</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y = x++;</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      the value of </a:t>
            </a:r>
            <a:r>
              <a:rPr lang="en-US" sz="2000" b="1" i="0" u="none">
                <a:solidFill>
                  <a:schemeClr val="dk1"/>
                </a:solidFill>
                <a:latin typeface="Times New Roman"/>
                <a:ea typeface="Times New Roman"/>
                <a:cs typeface="Times New Roman"/>
                <a:sym typeface="Times New Roman"/>
              </a:rPr>
              <a:t>x is obtained before the increment operator is executed, so the value of y is 42.</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0" i="0" u="none">
                <a:solidFill>
                  <a:schemeClr val="dk1"/>
                </a:solidFill>
                <a:latin typeface="Times New Roman"/>
                <a:ea typeface="Times New Roman"/>
                <a:cs typeface="Times New Roman"/>
                <a:sym typeface="Times New Roman"/>
              </a:rPr>
              <a:t>Of course, in both cases </a:t>
            </a:r>
            <a:r>
              <a:rPr lang="en-US" sz="2000" b="1" i="0" u="none">
                <a:solidFill>
                  <a:schemeClr val="dk1"/>
                </a:solidFill>
                <a:latin typeface="Times New Roman"/>
                <a:ea typeface="Times New Roman"/>
                <a:cs typeface="Times New Roman"/>
                <a:sym typeface="Times New Roman"/>
              </a:rPr>
              <a:t>x is set to 43. Here, the line y = x++; is the equivalent of these two </a:t>
            </a:r>
            <a:r>
              <a:rPr lang="en-US" sz="2000" b="0" i="0" u="none">
                <a:solidFill>
                  <a:schemeClr val="dk1"/>
                </a:solidFill>
                <a:latin typeface="Times New Roman"/>
                <a:ea typeface="Times New Roman"/>
                <a:cs typeface="Times New Roman"/>
                <a:sym typeface="Times New Roman"/>
              </a:rPr>
              <a:t>statements:</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00B0F0"/>
                </a:solidFill>
                <a:latin typeface="Times New Roman"/>
                <a:ea typeface="Times New Roman"/>
                <a:cs typeface="Times New Roman"/>
                <a:sym typeface="Times New Roman"/>
              </a:rPr>
              <a:t>y = x;</a:t>
            </a:r>
            <a:endParaRPr/>
          </a:p>
          <a:p>
            <a:pPr marL="342900" marR="0" lvl="0" indent="-342900" algn="l" rtl="0">
              <a:lnSpc>
                <a:spcPct val="100000"/>
              </a:lnSpc>
              <a:spcBef>
                <a:spcPts val="400"/>
              </a:spcBef>
              <a:spcAft>
                <a:spcPts val="0"/>
              </a:spcAft>
              <a:buClr>
                <a:schemeClr val="dk2"/>
              </a:buClr>
              <a:buSzPts val="1400"/>
              <a:buFont typeface="Noto Sans Symbols"/>
              <a:buChar char="●"/>
            </a:pPr>
            <a:r>
              <a:rPr lang="en-US" sz="2000" b="1" i="1" u="none">
                <a:solidFill>
                  <a:srgbClr val="00B0F0"/>
                </a:solidFill>
                <a:latin typeface="Times New Roman"/>
                <a:ea typeface="Times New Roman"/>
                <a:cs typeface="Times New Roman"/>
                <a:sym typeface="Times New Roman"/>
              </a:rPr>
              <a:t>x = x + 1;</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a8aac945e6_0_174"/>
          <p:cNvSpPr txBox="1">
            <a:spLocks noGrp="1"/>
          </p:cNvSpPr>
          <p:nvPr>
            <p:ph type="body" idx="1"/>
          </p:nvPr>
        </p:nvSpPr>
        <p:spPr>
          <a:xfrm>
            <a:off x="312650" y="367625"/>
            <a:ext cx="4565700" cy="49068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None/>
            </a:pPr>
            <a:r>
              <a:rPr lang="en-US" sz="2200" b="1" i="0" u="none">
                <a:solidFill>
                  <a:srgbClr val="FF0000"/>
                </a:solidFill>
                <a:latin typeface="Times New Roman"/>
                <a:ea typeface="Times New Roman"/>
                <a:cs typeface="Times New Roman"/>
                <a:sym typeface="Times New Roman"/>
              </a:rPr>
              <a:t>// Demonstrate ++.</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class IncDec {</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public static void main(String args[]) {</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a = 1;</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b = 2;</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c;</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d;</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c = ++b;</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d = a++;</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c++;</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e=d--;</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f=--c;</a:t>
            </a:r>
            <a:endParaRPr/>
          </a:p>
          <a:p>
            <a:pPr marL="342900" marR="0" lvl="0" indent="-342900" algn="l" rtl="0">
              <a:lnSpc>
                <a:spcPct val="100000"/>
              </a:lnSpc>
              <a:spcBef>
                <a:spcPts val="400"/>
              </a:spcBef>
              <a:spcAft>
                <a:spcPts val="0"/>
              </a:spcAft>
              <a:buClr>
                <a:schemeClr val="dk2"/>
              </a:buClr>
              <a:buSzPts val="1400"/>
              <a:buFont typeface="Noto Sans Symbols"/>
              <a:buNone/>
            </a:pPr>
            <a:r>
              <a:rPr lang="en-US" sz="2000" b="0" i="0" u="none">
                <a:solidFill>
                  <a:schemeClr val="dk1"/>
                </a:solidFill>
                <a:latin typeface="Times New Roman"/>
                <a:ea typeface="Times New Roman"/>
                <a:cs typeface="Times New Roman"/>
                <a:sym typeface="Times New Roman"/>
              </a:rPr>
              <a:t>int G=c++ + --f;</a:t>
            </a:r>
            <a:endParaRPr/>
          </a:p>
          <a:p>
            <a:pPr marL="342900" marR="0" lvl="0" indent="-342900" algn="l" rtl="0">
              <a:lnSpc>
                <a:spcPct val="100000"/>
              </a:lnSpc>
              <a:spcBef>
                <a:spcPts val="400"/>
              </a:spcBef>
              <a:spcAft>
                <a:spcPts val="0"/>
              </a:spcAft>
              <a:buClr>
                <a:schemeClr val="dk2"/>
              </a:buClr>
              <a:buSzPts val="1400"/>
              <a:buFont typeface="Noto Sans Symbols"/>
              <a:buNone/>
            </a:pPr>
            <a:endParaRPr/>
          </a:p>
        </p:txBody>
      </p:sp>
      <p:sp>
        <p:nvSpPr>
          <p:cNvPr id="844" name="Google Shape;844;g2a8aac945e6_0_174"/>
          <p:cNvSpPr txBox="1"/>
          <p:nvPr/>
        </p:nvSpPr>
        <p:spPr>
          <a:xfrm>
            <a:off x="5981325" y="127250"/>
            <a:ext cx="4751100" cy="3365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System.out.println("a = " + a);   //a=2</a:t>
            </a:r>
            <a:endParaRPr sz="28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System.out.println("b = " + b);   //b=3</a:t>
            </a:r>
            <a:endParaRPr sz="28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System.out.println("c = " + c);   //c=4</a:t>
            </a:r>
            <a:endParaRPr sz="28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System.out.println("d = " + d);  //d=0</a:t>
            </a:r>
            <a:endParaRPr sz="2000">
              <a:solidFill>
                <a:schemeClr val="dk1"/>
              </a:solidFill>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System.out.println("e="+e); //e=1</a:t>
            </a:r>
            <a:endParaRPr sz="2000">
              <a:solidFill>
                <a:schemeClr val="dk1"/>
              </a:solidFill>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System.out.println("f="+f);//f=2</a:t>
            </a:r>
            <a:endParaRPr sz="2000">
              <a:solidFill>
                <a:schemeClr val="dk1"/>
              </a:solidFill>
              <a:latin typeface="Times New Roman"/>
              <a:ea typeface="Times New Roman"/>
              <a:cs typeface="Times New Roman"/>
              <a:sym typeface="Times New Roman"/>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System.out.println("G="+G);//G=5</a:t>
            </a:r>
            <a:endParaRPr sz="2000">
              <a:solidFill>
                <a:schemeClr val="dk1"/>
              </a:solidFill>
              <a:latin typeface="Times New Roman"/>
              <a:ea typeface="Times New Roman"/>
              <a:cs typeface="Times New Roman"/>
              <a:sym typeface="Times New Roman"/>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a:t>
            </a:r>
            <a:endParaRPr sz="28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2000">
                <a:solidFill>
                  <a:schemeClr val="dk1"/>
                </a:solidFill>
                <a:latin typeface="Times New Roman"/>
                <a:ea typeface="Times New Roman"/>
                <a:cs typeface="Times New Roman"/>
                <a:sym typeface="Times New Roman"/>
              </a:rPr>
              <a:t>}</a:t>
            </a:r>
            <a:endParaRPr sz="2800">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a8aac945e6_0_181"/>
          <p:cNvSpPr txBox="1">
            <a:spLocks noGrp="1"/>
          </p:cNvSpPr>
          <p:nvPr>
            <p:ph type="title"/>
          </p:nvPr>
        </p:nvSpPr>
        <p:spPr>
          <a:xfrm>
            <a:off x="1117600" y="365125"/>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4800"/>
              <a:buFont typeface="Arial"/>
              <a:buNone/>
            </a:pPr>
            <a:r>
              <a:rPr lang="en-US" sz="4800" b="1" i="0" u="none">
                <a:solidFill>
                  <a:schemeClr val="dk1"/>
                </a:solidFill>
                <a:latin typeface="Arial"/>
                <a:ea typeface="Arial"/>
                <a:cs typeface="Arial"/>
                <a:sym typeface="Arial"/>
              </a:rPr>
              <a:t>The Bitwise Operators</a:t>
            </a:r>
            <a:br>
              <a:rPr lang="en-US" sz="4800" b="1" i="0" u="none">
                <a:solidFill>
                  <a:schemeClr val="dk1"/>
                </a:solidFill>
                <a:latin typeface="Arial"/>
                <a:ea typeface="Arial"/>
                <a:cs typeface="Arial"/>
                <a:sym typeface="Arial"/>
              </a:rPr>
            </a:br>
            <a:endParaRPr/>
          </a:p>
        </p:txBody>
      </p:sp>
      <p:sp>
        <p:nvSpPr>
          <p:cNvPr id="853" name="Google Shape;853;g2a8aac945e6_0_181"/>
          <p:cNvSpPr txBox="1">
            <a:spLocks noGrp="1"/>
          </p:cNvSpPr>
          <p:nvPr>
            <p:ph type="body" idx="1"/>
          </p:nvPr>
        </p:nvSpPr>
        <p:spPr>
          <a:xfrm>
            <a:off x="609600" y="838200"/>
            <a:ext cx="10972800" cy="5292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Java defines several </a:t>
            </a:r>
            <a:r>
              <a:rPr lang="en-US" sz="2200" b="0" i="1" u="none">
                <a:solidFill>
                  <a:schemeClr val="dk1"/>
                </a:solidFill>
                <a:latin typeface="Times New Roman"/>
                <a:ea typeface="Times New Roman"/>
                <a:cs typeface="Times New Roman"/>
                <a:sym typeface="Times New Roman"/>
              </a:rPr>
              <a:t>bitwise operators that can be applied to the integer types, long, int, short, </a:t>
            </a:r>
            <a:r>
              <a:rPr lang="en-US" sz="2200" b="0" i="0" u="none">
                <a:solidFill>
                  <a:schemeClr val="dk1"/>
                </a:solidFill>
                <a:latin typeface="Times New Roman"/>
                <a:ea typeface="Times New Roman"/>
                <a:cs typeface="Times New Roman"/>
                <a:sym typeface="Times New Roman"/>
              </a:rPr>
              <a:t>char, and byte.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These operators act upon the individual bits of their operands.</a:t>
            </a:r>
            <a:endParaRPr/>
          </a:p>
          <a:p>
            <a:pPr marL="342900" marR="0" lvl="0" indent="-245109" algn="l" rtl="0">
              <a:spcBef>
                <a:spcPts val="440"/>
              </a:spcBef>
              <a:spcAft>
                <a:spcPts val="0"/>
              </a:spcAft>
              <a:buClr>
                <a:schemeClr val="dk2"/>
              </a:buClr>
              <a:buSzPts val="1540"/>
              <a:buFont typeface="Noto Sans Symbols"/>
              <a:buNone/>
            </a:pPr>
            <a:endParaRPr sz="2200" b="0" i="0" u="none">
              <a:solidFill>
                <a:schemeClr val="dk1"/>
              </a:solidFill>
              <a:latin typeface="Times New Roman"/>
              <a:ea typeface="Times New Roman"/>
              <a:cs typeface="Times New Roman"/>
              <a:sym typeface="Times New Roman"/>
            </a:endParaRPr>
          </a:p>
        </p:txBody>
      </p:sp>
      <p:pic>
        <p:nvPicPr>
          <p:cNvPr id="854" name="Google Shape;854;g2a8aac945e6_0_181" descr="Capture.JPG"/>
          <p:cNvPicPr preferRelativeResize="0"/>
          <p:nvPr/>
        </p:nvPicPr>
        <p:blipFill rotWithShape="1">
          <a:blip r:embed="rId3">
            <a:alphaModFix/>
          </a:blip>
          <a:srcRect/>
          <a:stretch/>
        </p:blipFill>
        <p:spPr>
          <a:xfrm>
            <a:off x="1117600" y="2209800"/>
            <a:ext cx="9956800" cy="41148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a8aac945e6_0_190"/>
          <p:cNvSpPr txBox="1">
            <a:spLocks noGrp="1"/>
          </p:cNvSpPr>
          <p:nvPr>
            <p:ph type="title"/>
          </p:nvPr>
        </p:nvSpPr>
        <p:spPr>
          <a:xfrm>
            <a:off x="1117600" y="365125"/>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400"/>
              <a:buFont typeface="Times New Roman"/>
              <a:buNone/>
            </a:pPr>
            <a:r>
              <a:rPr lang="en-US" sz="3400" b="1" i="0" u="none">
                <a:solidFill>
                  <a:schemeClr val="dk1"/>
                </a:solidFill>
                <a:latin typeface="Times New Roman"/>
                <a:ea typeface="Times New Roman"/>
                <a:cs typeface="Times New Roman"/>
                <a:sym typeface="Times New Roman"/>
              </a:rPr>
              <a:t>The Bitwise Logical Operators</a:t>
            </a:r>
            <a:br>
              <a:rPr lang="en-US" sz="3400" b="1" i="0" u="none">
                <a:solidFill>
                  <a:schemeClr val="dk1"/>
                </a:solidFill>
                <a:latin typeface="Times New Roman"/>
                <a:ea typeface="Times New Roman"/>
                <a:cs typeface="Times New Roman"/>
                <a:sym typeface="Times New Roman"/>
              </a:rPr>
            </a:br>
            <a:endParaRPr/>
          </a:p>
        </p:txBody>
      </p:sp>
      <p:sp>
        <p:nvSpPr>
          <p:cNvPr id="860" name="Google Shape;860;g2a8aac945e6_0_190"/>
          <p:cNvSpPr txBox="1">
            <a:spLocks noGrp="1"/>
          </p:cNvSpPr>
          <p:nvPr>
            <p:ph type="body" idx="1"/>
          </p:nvPr>
        </p:nvSpPr>
        <p:spPr>
          <a:xfrm>
            <a:off x="609600" y="1066800"/>
            <a:ext cx="10972800" cy="5064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bitwise logical operators are </a:t>
            </a:r>
            <a:r>
              <a:rPr lang="en-US" sz="2200" b="1" i="0" u="none">
                <a:solidFill>
                  <a:schemeClr val="dk1"/>
                </a:solidFill>
                <a:latin typeface="Times New Roman"/>
                <a:ea typeface="Times New Roman"/>
                <a:cs typeface="Times New Roman"/>
                <a:sym typeface="Times New Roman"/>
              </a:rPr>
              <a:t>&amp;, |, ^, and ~.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bitwise operators are applied to each individual bit within each operand.</a:t>
            </a:r>
            <a:endParaRPr/>
          </a:p>
          <a:p>
            <a:pPr marL="342900" marR="0" lvl="0" indent="-245109" algn="l" rtl="0">
              <a:spcBef>
                <a:spcPts val="440"/>
              </a:spcBef>
              <a:spcAft>
                <a:spcPts val="0"/>
              </a:spcAft>
              <a:buClr>
                <a:schemeClr val="dk2"/>
              </a:buClr>
              <a:buSzPts val="1540"/>
              <a:buFont typeface="Noto Sans Symbols"/>
              <a:buNone/>
            </a:pPr>
            <a:endParaRPr sz="2200" b="0" i="0" u="none">
              <a:solidFill>
                <a:schemeClr val="dk1"/>
              </a:solidFill>
              <a:latin typeface="Times New Roman"/>
              <a:ea typeface="Times New Roman"/>
              <a:cs typeface="Times New Roman"/>
              <a:sym typeface="Times New Roman"/>
            </a:endParaRPr>
          </a:p>
        </p:txBody>
      </p:sp>
      <p:pic>
        <p:nvPicPr>
          <p:cNvPr id="861" name="Google Shape;861;g2a8aac945e6_0_190" descr="Capture.JPG"/>
          <p:cNvPicPr preferRelativeResize="0"/>
          <p:nvPr/>
        </p:nvPicPr>
        <p:blipFill rotWithShape="1">
          <a:blip r:embed="rId3">
            <a:alphaModFix/>
          </a:blip>
          <a:srcRect/>
          <a:stretch/>
        </p:blipFill>
        <p:spPr>
          <a:xfrm>
            <a:off x="2235200" y="3000375"/>
            <a:ext cx="8128001" cy="21812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a8aac945e6_0_196"/>
          <p:cNvSpPr txBox="1">
            <a:spLocks noGrp="1"/>
          </p:cNvSpPr>
          <p:nvPr>
            <p:ph type="body" idx="1"/>
          </p:nvPr>
        </p:nvSpPr>
        <p:spPr>
          <a:xfrm>
            <a:off x="436275" y="216000"/>
            <a:ext cx="4886400" cy="65835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None/>
            </a:pPr>
            <a:r>
              <a:rPr lang="en-US" sz="2100" b="1" i="0" u="none">
                <a:solidFill>
                  <a:srgbClr val="FF0000"/>
                </a:solidFill>
                <a:latin typeface="Times New Roman"/>
                <a:ea typeface="Times New Roman"/>
                <a:cs typeface="Times New Roman"/>
                <a:sym typeface="Times New Roman"/>
              </a:rPr>
              <a:t>// Demonstrate the bitwise logical operators.</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class BitLogic {</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public static void main(String args[]) {</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String binary[] ={</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"0000", "0001", "0010", "0011", "0100", "0101", "0110", "0111",</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"1000", "1001", "1010", "1011", "1100", "1101", "1110", "1111"</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a = 3; // 0 + 2 + 1 or 0011 in binary</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b = 6; // 4 + 2 + 0 or 0110 in binary</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c = a | b;</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d = a &amp; b;</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e = a ^ b;</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f = (~a &amp; b) | (a &amp; ~b);</a:t>
            </a:r>
            <a:endParaRPr sz="2700"/>
          </a:p>
          <a:p>
            <a:pPr marL="342900" marR="0" lvl="0" indent="-342900" algn="l" rtl="0">
              <a:lnSpc>
                <a:spcPct val="100000"/>
              </a:lnSpc>
              <a:spcBef>
                <a:spcPts val="400"/>
              </a:spcBef>
              <a:spcAft>
                <a:spcPts val="0"/>
              </a:spcAft>
              <a:buClr>
                <a:schemeClr val="dk2"/>
              </a:buClr>
              <a:buSzPts val="1400"/>
              <a:buFont typeface="Noto Sans Symbols"/>
              <a:buNone/>
            </a:pPr>
            <a:r>
              <a:rPr lang="en-US" sz="1900" b="0" i="0" u="none">
                <a:solidFill>
                  <a:schemeClr val="dk1"/>
                </a:solidFill>
                <a:latin typeface="Times New Roman"/>
                <a:ea typeface="Times New Roman"/>
                <a:cs typeface="Times New Roman"/>
                <a:sym typeface="Times New Roman"/>
              </a:rPr>
              <a:t>int i=0X0f;</a:t>
            </a:r>
            <a:endParaRPr sz="2700"/>
          </a:p>
          <a:p>
            <a:pPr marL="342900" marR="0" lvl="0" indent="-342900" algn="l" rtl="0">
              <a:lnSpc>
                <a:spcPct val="100000"/>
              </a:lnSpc>
              <a:spcBef>
                <a:spcPts val="400"/>
              </a:spcBef>
              <a:spcAft>
                <a:spcPts val="0"/>
              </a:spcAft>
              <a:buClr>
                <a:schemeClr val="dk2"/>
              </a:buClr>
              <a:buSzPts val="1400"/>
              <a:buFont typeface="Noto Sans Symbols"/>
              <a:buNone/>
            </a:pPr>
            <a:endParaRPr sz="2700"/>
          </a:p>
        </p:txBody>
      </p:sp>
      <p:sp>
        <p:nvSpPr>
          <p:cNvPr id="870" name="Google Shape;870;g2a8aac945e6_0_196"/>
          <p:cNvSpPr txBox="1"/>
          <p:nvPr/>
        </p:nvSpPr>
        <p:spPr>
          <a:xfrm>
            <a:off x="5761300" y="409425"/>
            <a:ext cx="5600700" cy="4073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int g = ~a &amp; 0x0f;</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a = " + binary[a]);//binary[3]=0011</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b = " + binary[b]);  //binary[6]=0110</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a|b = " + binary[c]);</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a&amp;b = " + binary[d]);</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a^b = " + binary[e]);</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System.out.println("~a&amp;b|a&amp;~b = " + binary[f]);   </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~a = " + binary[g]);</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System.out.println(" i = " + binary[i]);</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endParaRPr sz="1800">
              <a:solidFill>
                <a:schemeClr val="dk1"/>
              </a:solidFill>
              <a:latin typeface="Times New Roman"/>
              <a:ea typeface="Times New Roman"/>
              <a:cs typeface="Times New Roman"/>
              <a:sym typeface="Times New Roman"/>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a:t>
            </a:r>
            <a:endParaRPr sz="2600">
              <a:solidFill>
                <a:schemeClr val="dk1"/>
              </a:solidFill>
              <a:latin typeface="Calibri"/>
              <a:ea typeface="Calibri"/>
              <a:cs typeface="Calibri"/>
              <a:sym typeface="Calibri"/>
            </a:endParaRPr>
          </a:p>
          <a:p>
            <a:pPr marL="342900" lvl="0" indent="-342900" algn="l" rtl="0">
              <a:spcBef>
                <a:spcPts val="400"/>
              </a:spcBef>
              <a:spcAft>
                <a:spcPts val="0"/>
              </a:spcAft>
              <a:buNone/>
            </a:pPr>
            <a:r>
              <a:rPr lang="en-US" sz="1800">
                <a:solidFill>
                  <a:schemeClr val="dk1"/>
                </a:solidFill>
                <a:latin typeface="Times New Roman"/>
                <a:ea typeface="Times New Roman"/>
                <a:cs typeface="Times New Roman"/>
                <a:sym typeface="Times New Roman"/>
              </a:rPr>
              <a:t>}</a:t>
            </a:r>
            <a:endParaRPr sz="26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a8aac945e6_0_203"/>
          <p:cNvSpPr txBox="1">
            <a:spLocks noGrp="1"/>
          </p:cNvSpPr>
          <p:nvPr>
            <p:ph type="title"/>
          </p:nvPr>
        </p:nvSpPr>
        <p:spPr>
          <a:xfrm>
            <a:off x="609600" y="122237"/>
            <a:ext cx="10058400" cy="11733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Times New Roman"/>
              <a:buNone/>
            </a:pPr>
            <a:r>
              <a:rPr lang="en-US" sz="3600" b="1" i="0" u="none">
                <a:solidFill>
                  <a:schemeClr val="dk2"/>
                </a:solidFill>
                <a:latin typeface="Times New Roman"/>
                <a:ea typeface="Times New Roman"/>
                <a:cs typeface="Times New Roman"/>
                <a:sym typeface="Times New Roman"/>
              </a:rPr>
              <a:t>The Left Shift</a:t>
            </a:r>
            <a:endParaRPr/>
          </a:p>
        </p:txBody>
      </p:sp>
      <p:sp>
        <p:nvSpPr>
          <p:cNvPr id="879" name="Google Shape;879;g2a8aac945e6_0_203"/>
          <p:cNvSpPr txBox="1">
            <a:spLocks noGrp="1"/>
          </p:cNvSpPr>
          <p:nvPr>
            <p:ph type="body" idx="1"/>
          </p:nvPr>
        </p:nvSpPr>
        <p:spPr>
          <a:xfrm>
            <a:off x="609600" y="1371600"/>
            <a:ext cx="10972800" cy="5486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left shift operator,</a:t>
            </a:r>
            <a:r>
              <a:rPr lang="en-US" sz="2200" b="1" i="0" u="none">
                <a:solidFill>
                  <a:srgbClr val="FF0000"/>
                </a:solidFill>
                <a:latin typeface="Times New Roman"/>
                <a:ea typeface="Times New Roman"/>
                <a:cs typeface="Times New Roman"/>
                <a:sym typeface="Times New Roman"/>
              </a:rPr>
              <a:t> &lt;&lt;, </a:t>
            </a:r>
            <a:r>
              <a:rPr lang="en-US" sz="2200" b="1" i="0" u="none">
                <a:solidFill>
                  <a:schemeClr val="dk1"/>
                </a:solidFill>
                <a:latin typeface="Times New Roman"/>
                <a:ea typeface="Times New Roman"/>
                <a:cs typeface="Times New Roman"/>
                <a:sym typeface="Times New Roman"/>
              </a:rPr>
              <a:t>shifts all of the bits in a value to the left a specified number of times.</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It has this general form:</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1" u="none">
                <a:solidFill>
                  <a:schemeClr val="dk1"/>
                </a:solidFill>
                <a:latin typeface="Times New Roman"/>
                <a:ea typeface="Times New Roman"/>
                <a:cs typeface="Times New Roman"/>
                <a:sym typeface="Times New Roman"/>
              </a:rPr>
              <a:t>          syntax:   </a:t>
            </a:r>
            <a:r>
              <a:rPr lang="en-US" sz="2200" b="1" i="1" u="none">
                <a:solidFill>
                  <a:srgbClr val="FF0000"/>
                </a:solidFill>
                <a:latin typeface="Times New Roman"/>
                <a:ea typeface="Times New Roman"/>
                <a:cs typeface="Times New Roman"/>
                <a:sym typeface="Times New Roman"/>
              </a:rPr>
              <a:t> value &lt;&lt; num</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Here, </a:t>
            </a:r>
            <a:r>
              <a:rPr lang="en-US" sz="2200" b="0" i="1" u="none">
                <a:solidFill>
                  <a:schemeClr val="dk1"/>
                </a:solidFill>
                <a:latin typeface="Times New Roman"/>
                <a:ea typeface="Times New Roman"/>
                <a:cs typeface="Times New Roman"/>
                <a:sym typeface="Times New Roman"/>
              </a:rPr>
              <a:t>num specifies the number of positions to left-shift the value in value.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1" u="none">
                <a:solidFill>
                  <a:schemeClr val="dk1"/>
                </a:solidFill>
                <a:latin typeface="Times New Roman"/>
                <a:ea typeface="Times New Roman"/>
                <a:cs typeface="Times New Roman"/>
                <a:sym typeface="Times New Roman"/>
              </a:rPr>
              <a:t> The </a:t>
            </a:r>
            <a:r>
              <a:rPr lang="en-US" sz="2200" b="1" i="1" u="none">
                <a:solidFill>
                  <a:schemeClr val="dk1"/>
                </a:solidFill>
                <a:latin typeface="Times New Roman"/>
                <a:ea typeface="Times New Roman"/>
                <a:cs typeface="Times New Roman"/>
                <a:sym typeface="Times New Roman"/>
              </a:rPr>
              <a:t>&lt;&lt; </a:t>
            </a:r>
            <a:r>
              <a:rPr lang="en-US" sz="2200" b="0" i="0" u="none">
                <a:solidFill>
                  <a:schemeClr val="dk1"/>
                </a:solidFill>
                <a:latin typeface="Times New Roman"/>
                <a:ea typeface="Times New Roman"/>
                <a:cs typeface="Times New Roman"/>
                <a:sym typeface="Times New Roman"/>
              </a:rPr>
              <a:t>moves all of the bits in the specified value to the left by the number of bit positions specified by </a:t>
            </a:r>
            <a:r>
              <a:rPr lang="en-US" sz="2200" b="0" i="1" u="none">
                <a:solidFill>
                  <a:schemeClr val="dk1"/>
                </a:solidFill>
                <a:latin typeface="Times New Roman"/>
                <a:ea typeface="Times New Roman"/>
                <a:cs typeface="Times New Roman"/>
                <a:sym typeface="Times New Roman"/>
              </a:rPr>
              <a:t>num.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1" u="none">
                <a:solidFill>
                  <a:schemeClr val="dk1"/>
                </a:solidFill>
                <a:latin typeface="Times New Roman"/>
                <a:ea typeface="Times New Roman"/>
                <a:cs typeface="Times New Roman"/>
                <a:sym typeface="Times New Roman"/>
              </a:rPr>
              <a:t>  For each shift left, the high-order bit is shifted out (and lost), and a zero is brought </a:t>
            </a:r>
            <a:r>
              <a:rPr lang="en-US" sz="2200" b="0" i="0" u="none">
                <a:solidFill>
                  <a:schemeClr val="dk1"/>
                </a:solidFill>
                <a:latin typeface="Times New Roman"/>
                <a:ea typeface="Times New Roman"/>
                <a:cs typeface="Times New Roman"/>
                <a:sym typeface="Times New Roman"/>
              </a:rPr>
              <a:t>in on the right.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This means that when a left shift is applied to an </a:t>
            </a:r>
            <a:r>
              <a:rPr lang="en-US" sz="2200" b="1" i="0" u="none">
                <a:solidFill>
                  <a:schemeClr val="dk1"/>
                </a:solidFill>
                <a:latin typeface="Times New Roman"/>
                <a:ea typeface="Times New Roman"/>
                <a:cs typeface="Times New Roman"/>
                <a:sym typeface="Times New Roman"/>
              </a:rPr>
              <a:t>int operand, bits are lost</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once they are shifted past bit position 31. If the operand is a </a:t>
            </a:r>
            <a:r>
              <a:rPr lang="en-US" sz="2200" b="1" i="0" u="none">
                <a:solidFill>
                  <a:schemeClr val="dk1"/>
                </a:solidFill>
                <a:latin typeface="Times New Roman"/>
                <a:ea typeface="Times New Roman"/>
                <a:cs typeface="Times New Roman"/>
                <a:sym typeface="Times New Roman"/>
              </a:rPr>
              <a:t>long, then bits are lost after bit </a:t>
            </a:r>
            <a:r>
              <a:rPr lang="en-US" sz="2200" b="0" i="0" u="none">
                <a:solidFill>
                  <a:schemeClr val="dk1"/>
                </a:solidFill>
                <a:latin typeface="Times New Roman"/>
                <a:ea typeface="Times New Roman"/>
                <a:cs typeface="Times New Roman"/>
                <a:sym typeface="Times New Roman"/>
              </a:rPr>
              <a:t>position 63.</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a8aac945e6_0_211"/>
          <p:cNvSpPr txBox="1">
            <a:spLocks noGrp="1"/>
          </p:cNvSpPr>
          <p:nvPr>
            <p:ph type="body" idx="1"/>
          </p:nvPr>
        </p:nvSpPr>
        <p:spPr>
          <a:xfrm>
            <a:off x="609600" y="228600"/>
            <a:ext cx="6220200" cy="5902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680"/>
              <a:buFont typeface="Noto Sans Symbols"/>
              <a:buNone/>
            </a:pPr>
            <a:r>
              <a:rPr lang="en-US" sz="2400" b="1" i="0" u="none">
                <a:solidFill>
                  <a:srgbClr val="FF0000"/>
                </a:solidFill>
                <a:latin typeface="Times New Roman"/>
                <a:ea typeface="Times New Roman"/>
                <a:cs typeface="Times New Roman"/>
                <a:sym typeface="Times New Roman"/>
              </a:rPr>
              <a:t>// Left shifting a byte value.</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class ByteShift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public static void main(String args[])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byte a = 64, b;</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int i;</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 = a &lt;&lt; 2;</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b = (byte) (a &lt;&lt; 2);</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System.out.println("Original value of a: " + a);</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System.out.println("i and b: " + i + " " + b);</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a8aac945e6_0_218"/>
          <p:cNvSpPr txBox="1">
            <a:spLocks noGrp="1"/>
          </p:cNvSpPr>
          <p:nvPr>
            <p:ph type="title"/>
          </p:nvPr>
        </p:nvSpPr>
        <p:spPr>
          <a:xfrm>
            <a:off x="609600" y="122237"/>
            <a:ext cx="10058400" cy="944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900"/>
              <a:buFont typeface="Arial"/>
              <a:buNone/>
            </a:pPr>
            <a:r>
              <a:rPr lang="en-US" sz="3900" b="1" i="0" u="none">
                <a:solidFill>
                  <a:schemeClr val="dk2"/>
                </a:solidFill>
                <a:latin typeface="Arial"/>
                <a:ea typeface="Arial"/>
                <a:cs typeface="Arial"/>
                <a:sym typeface="Arial"/>
              </a:rPr>
              <a:t>The Right Shif</a:t>
            </a:r>
            <a:endParaRPr/>
          </a:p>
        </p:txBody>
      </p:sp>
      <p:sp>
        <p:nvSpPr>
          <p:cNvPr id="893" name="Google Shape;893;g2a8aac945e6_0_218"/>
          <p:cNvSpPr txBox="1">
            <a:spLocks noGrp="1"/>
          </p:cNvSpPr>
          <p:nvPr>
            <p:ph type="body" idx="1"/>
          </p:nvPr>
        </p:nvSpPr>
        <p:spPr>
          <a:xfrm>
            <a:off x="609600" y="990600"/>
            <a:ext cx="10972800" cy="5410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right shift operator, &gt;&gt;, shifts all of the bits in a value to the right a specified number of  times.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Its general form is shown here:</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r>
              <a:rPr lang="en-US" sz="2200" b="1" i="1" u="none">
                <a:solidFill>
                  <a:srgbClr val="FF0000"/>
                </a:solidFill>
                <a:latin typeface="Times New Roman"/>
                <a:ea typeface="Times New Roman"/>
                <a:cs typeface="Times New Roman"/>
                <a:sym typeface="Times New Roman"/>
              </a:rPr>
              <a:t>Syntax: value &gt;&gt; num</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Here, </a:t>
            </a:r>
            <a:r>
              <a:rPr lang="en-US" sz="2200" b="0" i="1" u="none">
                <a:solidFill>
                  <a:schemeClr val="dk1"/>
                </a:solidFill>
                <a:latin typeface="Times New Roman"/>
                <a:ea typeface="Times New Roman"/>
                <a:cs typeface="Times New Roman"/>
                <a:sym typeface="Times New Roman"/>
              </a:rPr>
              <a:t>num specifies the number of positions to right-shift the value in value. </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1" u="none">
                <a:solidFill>
                  <a:schemeClr val="dk1"/>
                </a:solidFill>
                <a:latin typeface="Times New Roman"/>
                <a:ea typeface="Times New Roman"/>
                <a:cs typeface="Times New Roman"/>
                <a:sym typeface="Times New Roman"/>
              </a:rPr>
              <a:t> The </a:t>
            </a:r>
            <a:r>
              <a:rPr lang="en-US" sz="2200" b="1" i="1" u="none">
                <a:solidFill>
                  <a:schemeClr val="dk1"/>
                </a:solidFill>
                <a:latin typeface="Times New Roman"/>
                <a:ea typeface="Times New Roman"/>
                <a:cs typeface="Times New Roman"/>
                <a:sym typeface="Times New Roman"/>
              </a:rPr>
              <a:t>&gt;&gt; </a:t>
            </a:r>
            <a:r>
              <a:rPr lang="en-US" sz="2200" b="0" i="0" u="none">
                <a:solidFill>
                  <a:schemeClr val="dk1"/>
                </a:solidFill>
                <a:latin typeface="Times New Roman"/>
                <a:ea typeface="Times New Roman"/>
                <a:cs typeface="Times New Roman"/>
                <a:sym typeface="Times New Roman"/>
              </a:rPr>
              <a:t>moves all of the bits in the specified value to the right the number of bit positions specified by </a:t>
            </a:r>
            <a:r>
              <a:rPr lang="en-US" sz="2200" b="0" i="1" u="none">
                <a:solidFill>
                  <a:schemeClr val="dk1"/>
                </a:solidFill>
                <a:latin typeface="Times New Roman"/>
                <a:ea typeface="Times New Roman"/>
                <a:cs typeface="Times New Roman"/>
                <a:sym typeface="Times New Roman"/>
              </a:rPr>
              <a:t>num.</a:t>
            </a:r>
            <a:endParaRPr/>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The following code fragment shifts the value 32 to the right by two positions, resulting  in </a:t>
            </a:r>
            <a:r>
              <a:rPr lang="en-US" sz="2200" b="1" i="0" u="none">
                <a:solidFill>
                  <a:schemeClr val="dk1"/>
                </a:solidFill>
                <a:latin typeface="Times New Roman"/>
                <a:ea typeface="Times New Roman"/>
                <a:cs typeface="Times New Roman"/>
                <a:sym typeface="Times New Roman"/>
              </a:rPr>
              <a:t>a being set to 8:</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int a = 32;</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 = a &gt;&gt; 2;</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a8aac945e6_1_7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Right Shift Example</a:t>
            </a:r>
            <a:endParaRPr/>
          </a:p>
        </p:txBody>
      </p:sp>
      <p:sp>
        <p:nvSpPr>
          <p:cNvPr id="899" name="Google Shape;899;g2a8aac945e6_1_7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39285"/>
              <a:buFont typeface="Arial"/>
              <a:buNone/>
            </a:pPr>
            <a:r>
              <a:rPr lang="en-US"/>
              <a:t>// Left shifting a byte value.</a:t>
            </a:r>
            <a:endParaRPr/>
          </a:p>
          <a:p>
            <a:pPr marL="0" lvl="0" indent="0" algn="l" rtl="0">
              <a:spcBef>
                <a:spcPts val="1000"/>
              </a:spcBef>
              <a:spcAft>
                <a:spcPts val="0"/>
              </a:spcAft>
              <a:buClr>
                <a:schemeClr val="dk1"/>
              </a:buClr>
              <a:buSzPct val="39285"/>
              <a:buFont typeface="Arial"/>
              <a:buNone/>
            </a:pPr>
            <a:r>
              <a:rPr lang="en-US"/>
              <a:t>class ByteShiftRight {</a:t>
            </a:r>
            <a:endParaRPr/>
          </a:p>
          <a:p>
            <a:pPr marL="0" lvl="0" indent="0" algn="l" rtl="0">
              <a:spcBef>
                <a:spcPts val="1000"/>
              </a:spcBef>
              <a:spcAft>
                <a:spcPts val="0"/>
              </a:spcAft>
              <a:buClr>
                <a:schemeClr val="dk1"/>
              </a:buClr>
              <a:buSzPct val="39285"/>
              <a:buFont typeface="Arial"/>
              <a:buNone/>
            </a:pPr>
            <a:r>
              <a:rPr lang="en-US"/>
              <a:t>	public static void main(String args[]) {</a:t>
            </a:r>
            <a:endParaRPr/>
          </a:p>
          <a:p>
            <a:pPr marL="0" lvl="0" indent="0" algn="l" rtl="0">
              <a:spcBef>
                <a:spcPts val="1000"/>
              </a:spcBef>
              <a:spcAft>
                <a:spcPts val="0"/>
              </a:spcAft>
              <a:buClr>
                <a:schemeClr val="dk1"/>
              </a:buClr>
              <a:buSzPct val="39285"/>
              <a:buFont typeface="Arial"/>
              <a:buNone/>
            </a:pPr>
            <a:r>
              <a:rPr lang="en-US"/>
              <a:t>	byte a = 64, b;</a:t>
            </a:r>
            <a:endParaRPr/>
          </a:p>
          <a:p>
            <a:pPr marL="0" lvl="0" indent="0" algn="l" rtl="0">
              <a:spcBef>
                <a:spcPts val="1000"/>
              </a:spcBef>
              <a:spcAft>
                <a:spcPts val="0"/>
              </a:spcAft>
              <a:buClr>
                <a:schemeClr val="dk1"/>
              </a:buClr>
              <a:buSzPct val="39285"/>
              <a:buFont typeface="Arial"/>
              <a:buNone/>
            </a:pPr>
            <a:r>
              <a:rPr lang="en-US"/>
              <a:t>	int i;</a:t>
            </a:r>
            <a:endParaRPr/>
          </a:p>
          <a:p>
            <a:pPr marL="0" lvl="0" indent="0" algn="l" rtl="0">
              <a:spcBef>
                <a:spcPts val="1000"/>
              </a:spcBef>
              <a:spcAft>
                <a:spcPts val="0"/>
              </a:spcAft>
              <a:buClr>
                <a:schemeClr val="dk1"/>
              </a:buClr>
              <a:buSzPct val="39285"/>
              <a:buFont typeface="Arial"/>
              <a:buNone/>
            </a:pPr>
            <a:r>
              <a:rPr lang="en-US"/>
              <a:t>	i = a &gt;&gt; 2;</a:t>
            </a:r>
            <a:endParaRPr/>
          </a:p>
          <a:p>
            <a:pPr marL="0" lvl="0" indent="0" algn="l" rtl="0">
              <a:spcBef>
                <a:spcPts val="1000"/>
              </a:spcBef>
              <a:spcAft>
                <a:spcPts val="0"/>
              </a:spcAft>
              <a:buClr>
                <a:schemeClr val="dk1"/>
              </a:buClr>
              <a:buSzPct val="39285"/>
              <a:buFont typeface="Arial"/>
              <a:buNone/>
            </a:pPr>
            <a:r>
              <a:rPr lang="en-US"/>
              <a:t>	b = (byte) (a &gt;&gt; 2);</a:t>
            </a:r>
            <a:endParaRPr/>
          </a:p>
          <a:p>
            <a:pPr marL="0" lvl="0" indent="0" algn="l" rtl="0">
              <a:spcBef>
                <a:spcPts val="1000"/>
              </a:spcBef>
              <a:spcAft>
                <a:spcPts val="0"/>
              </a:spcAft>
              <a:buClr>
                <a:schemeClr val="dk1"/>
              </a:buClr>
              <a:buSzPct val="39285"/>
              <a:buFont typeface="Arial"/>
              <a:buNone/>
            </a:pPr>
            <a:r>
              <a:rPr lang="en-US"/>
              <a:t>	System.out.println("Original value of a: " + a);</a:t>
            </a:r>
            <a:endParaRPr/>
          </a:p>
          <a:p>
            <a:pPr marL="0" lvl="0" indent="0" algn="l" rtl="0">
              <a:spcBef>
                <a:spcPts val="1000"/>
              </a:spcBef>
              <a:spcAft>
                <a:spcPts val="0"/>
              </a:spcAft>
              <a:buClr>
                <a:schemeClr val="dk1"/>
              </a:buClr>
              <a:buSzPct val="39285"/>
              <a:buFont typeface="Arial"/>
              <a:buNone/>
            </a:pPr>
            <a:r>
              <a:rPr lang="en-US"/>
              <a:t>	System.out.println("i and b: " + i + " " + b);</a:t>
            </a:r>
            <a:endParaRPr/>
          </a:p>
          <a:p>
            <a:pPr marL="0" lvl="0" indent="0" algn="l" rtl="0">
              <a:spcBef>
                <a:spcPts val="1000"/>
              </a:spcBef>
              <a:spcAft>
                <a:spcPts val="0"/>
              </a:spcAft>
              <a:buClr>
                <a:schemeClr val="dk1"/>
              </a:buClr>
              <a:buSzPct val="39285"/>
              <a:buFont typeface="Arial"/>
              <a:buNone/>
            </a:pPr>
            <a:r>
              <a:rPr lang="en-US"/>
              <a:t>	}</a:t>
            </a:r>
            <a:endParaRPr/>
          </a:p>
          <a:p>
            <a:pPr marL="0" lvl="0" indent="0" algn="l" rtl="0">
              <a:spcBef>
                <a:spcPts val="1000"/>
              </a:spcBef>
              <a:spcAft>
                <a:spcPts val="0"/>
              </a:spcAft>
              <a:buClr>
                <a:schemeClr val="dk1"/>
              </a:buClr>
              <a:buSzPct val="39285"/>
              <a:buFont typeface="Arial"/>
              <a:buNone/>
            </a:pPr>
            <a:r>
              <a:rPr lang="en-US"/>
              <a:t>}</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a8aac945e6_0_228"/>
          <p:cNvSpPr txBox="1">
            <a:spLocks noGrp="1"/>
          </p:cNvSpPr>
          <p:nvPr>
            <p:ph type="title"/>
          </p:nvPr>
        </p:nvSpPr>
        <p:spPr>
          <a:xfrm>
            <a:off x="191344" y="0"/>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900"/>
              <a:buFont typeface="Arial"/>
              <a:buNone/>
            </a:pPr>
            <a:r>
              <a:rPr lang="en-US" sz="3900" b="1" i="0" u="none" dirty="0">
                <a:solidFill>
                  <a:schemeClr val="dk2"/>
                </a:solidFill>
                <a:latin typeface="Arial"/>
                <a:ea typeface="Arial"/>
                <a:cs typeface="Arial"/>
                <a:sym typeface="Arial"/>
              </a:rPr>
              <a:t>program demonstrates the bitwise operators</a:t>
            </a:r>
            <a:endParaRPr dirty="0"/>
          </a:p>
        </p:txBody>
      </p:sp>
      <p:sp>
        <p:nvSpPr>
          <p:cNvPr id="905" name="Google Shape;905;g2a8aac945e6_0_228"/>
          <p:cNvSpPr txBox="1">
            <a:spLocks noGrp="1"/>
          </p:cNvSpPr>
          <p:nvPr>
            <p:ph type="body" idx="1"/>
          </p:nvPr>
        </p:nvSpPr>
        <p:spPr>
          <a:xfrm>
            <a:off x="609600" y="1719262"/>
            <a:ext cx="10972800" cy="4910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public class Test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public static void main(String args[])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a = 60; /* 60 = 0011 1100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int b = 13; /* 13 = 0000 1101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int c = 0; c = a &amp; b; /* 12 = 0000 1100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c = a &lt;&lt; 2; /* 240 = 1111 0000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&lt;&lt; 2 = " + c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c = a &gt;&gt; 2; /* 15 = 1111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&gt;&gt; 2 = " + c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c = a &gt;&gt;&gt; 2; /* 15 = 0000 1111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&gt;&gt;&gt; 2 = " + c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a8aac945e6_0_233"/>
          <p:cNvSpPr txBox="1">
            <a:spLocks noGrp="1"/>
          </p:cNvSpPr>
          <p:nvPr>
            <p:ph type="title"/>
          </p:nvPr>
        </p:nvSpPr>
        <p:spPr>
          <a:xfrm>
            <a:off x="191344" y="0"/>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900"/>
              <a:buFont typeface="Arial"/>
              <a:buNone/>
            </a:pPr>
            <a:r>
              <a:rPr lang="en-US" sz="3900" b="1" i="0" u="none" dirty="0">
                <a:solidFill>
                  <a:schemeClr val="dk2"/>
                </a:solidFill>
                <a:latin typeface="Arial"/>
                <a:ea typeface="Arial"/>
                <a:cs typeface="Arial"/>
                <a:sym typeface="Arial"/>
              </a:rPr>
              <a:t>Bitwise Operator Compound Assignments</a:t>
            </a:r>
            <a:endParaRPr dirty="0"/>
          </a:p>
        </p:txBody>
      </p:sp>
      <p:sp>
        <p:nvSpPr>
          <p:cNvPr id="911" name="Google Shape;911;g2a8aac945e6_0_233"/>
          <p:cNvSpPr txBox="1">
            <a:spLocks noGrp="1"/>
          </p:cNvSpPr>
          <p:nvPr>
            <p:ph type="body" idx="1"/>
          </p:nvPr>
        </p:nvSpPr>
        <p:spPr>
          <a:xfrm>
            <a:off x="609600" y="1719262"/>
            <a:ext cx="10972800" cy="4757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All of the binary bitwise operators have a compound form similar to that of the algebraic operators, which combines the assignment with the bitwise operation. </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For example, the following two statements, which shift the value in </a:t>
            </a:r>
            <a:r>
              <a:rPr lang="en-US" sz="2200" b="1" i="0" u="none" dirty="0">
                <a:solidFill>
                  <a:schemeClr val="dk1"/>
                </a:solidFill>
                <a:latin typeface="Times New Roman"/>
                <a:ea typeface="Times New Roman"/>
                <a:cs typeface="Times New Roman"/>
                <a:sym typeface="Times New Roman"/>
              </a:rPr>
              <a:t>a right by four bits, are equivalent:</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1" i="1" u="none" dirty="0">
                <a:solidFill>
                  <a:srgbClr val="FF0000"/>
                </a:solidFill>
                <a:latin typeface="Times New Roman"/>
                <a:ea typeface="Times New Roman"/>
                <a:cs typeface="Times New Roman"/>
                <a:sym typeface="Times New Roman"/>
              </a:rPr>
              <a:t>a = a &gt;&gt; 4;</a:t>
            </a:r>
            <a:endParaRPr dirty="0"/>
          </a:p>
          <a:p>
            <a:pPr marL="342900" marR="0" lvl="0" indent="-342900" algn="l" rtl="0">
              <a:lnSpc>
                <a:spcPct val="100000"/>
              </a:lnSpc>
              <a:spcBef>
                <a:spcPts val="600"/>
              </a:spcBef>
              <a:spcAft>
                <a:spcPts val="0"/>
              </a:spcAft>
              <a:buClr>
                <a:schemeClr val="dk2"/>
              </a:buClr>
              <a:buSzPts val="1540"/>
              <a:buFont typeface="Noto Sans Symbols"/>
              <a:buChar char="●"/>
            </a:pPr>
            <a:r>
              <a:rPr lang="en-US" sz="2200" b="1" i="1" u="none" dirty="0">
                <a:solidFill>
                  <a:srgbClr val="FF0000"/>
                </a:solidFill>
                <a:latin typeface="Times New Roman"/>
                <a:ea typeface="Times New Roman"/>
                <a:cs typeface="Times New Roman"/>
                <a:sym typeface="Times New Roman"/>
              </a:rPr>
              <a:t>a &gt;&gt;= 4</a:t>
            </a:r>
            <a:r>
              <a:rPr lang="en-US" sz="3000" b="1" i="1" u="none" dirty="0">
                <a:solidFill>
                  <a:srgbClr val="FF0000"/>
                </a:solidFill>
                <a:latin typeface="Arial"/>
                <a:ea typeface="Arial"/>
                <a:cs typeface="Arial"/>
                <a:sym typeface="Arial"/>
              </a:rPr>
              <a:t>;</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Likewise, the following two statements, which result in a being assigned the bitwise</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expression a OR b, are equivalent:</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1" i="1" u="none" dirty="0">
                <a:solidFill>
                  <a:srgbClr val="FF0000"/>
                </a:solidFill>
                <a:latin typeface="Times New Roman"/>
                <a:ea typeface="Times New Roman"/>
                <a:cs typeface="Times New Roman"/>
                <a:sym typeface="Times New Roman"/>
              </a:rPr>
              <a:t>a = a | b;</a:t>
            </a:r>
            <a:endParaRPr dirty="0"/>
          </a:p>
          <a:p>
            <a:pPr marL="342900" marR="0" lvl="0" indent="-342900" algn="l" rtl="0">
              <a:lnSpc>
                <a:spcPct val="100000"/>
              </a:lnSpc>
              <a:spcBef>
                <a:spcPts val="440"/>
              </a:spcBef>
              <a:spcAft>
                <a:spcPts val="0"/>
              </a:spcAft>
              <a:buClr>
                <a:schemeClr val="dk2"/>
              </a:buClr>
              <a:buSzPts val="1540"/>
              <a:buFont typeface="Noto Sans Symbols"/>
              <a:buChar char="●"/>
            </a:pPr>
            <a:r>
              <a:rPr lang="en-US" sz="2200" b="1" i="1" u="none" dirty="0">
                <a:solidFill>
                  <a:srgbClr val="FF0000"/>
                </a:solidFill>
                <a:latin typeface="Times New Roman"/>
                <a:ea typeface="Times New Roman"/>
                <a:cs typeface="Times New Roman"/>
                <a:sym typeface="Times New Roman"/>
              </a:rPr>
              <a:t>a |= b;</a:t>
            </a:r>
            <a:endParaRPr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a8aac945e6_0_238"/>
          <p:cNvSpPr txBox="1">
            <a:spLocks noGrp="1"/>
          </p:cNvSpPr>
          <p:nvPr>
            <p:ph type="body" idx="1"/>
          </p:nvPr>
        </p:nvSpPr>
        <p:spPr>
          <a:xfrm>
            <a:off x="609600" y="152400"/>
            <a:ext cx="10972800" cy="7239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a:solidFill>
                  <a:schemeClr val="dk1"/>
                </a:solidFill>
                <a:latin typeface="Times New Roman"/>
                <a:ea typeface="Times New Roman"/>
                <a:cs typeface="Times New Roman"/>
                <a:sym typeface="Times New Roman"/>
              </a:rPr>
              <a:t>program creates a few integer variables and then uses compound bitwise operator assignments to manipulate the variables:</a:t>
            </a:r>
            <a:endParaRPr/>
          </a:p>
          <a:p>
            <a:pPr marL="342900" marR="0" lvl="0" indent="-342900" algn="l" rtl="0">
              <a:lnSpc>
                <a:spcPct val="100000"/>
              </a:lnSpc>
              <a:spcBef>
                <a:spcPts val="440"/>
              </a:spcBef>
              <a:spcAft>
                <a:spcPts val="0"/>
              </a:spcAft>
              <a:buClr>
                <a:schemeClr val="dk2"/>
              </a:buClr>
              <a:buSzPts val="1540"/>
              <a:buFont typeface="Noto Sans Symbols"/>
              <a:buNone/>
            </a:pPr>
            <a:endParaRPr sz="22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class OpBitEquals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public static void main(String args[])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a = 1;</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b = 2;</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c = 3;</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 |= 4;</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b &gt;&gt;= 1;</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c &lt;&lt;= 1;</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 ^= c;</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 " + a);</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System.out.println("b = " + b);</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System.out.println("c = " + c);</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a8aac945e6_0_245"/>
          <p:cNvSpPr txBox="1">
            <a:spLocks noGrp="1"/>
          </p:cNvSpPr>
          <p:nvPr>
            <p:ph type="title"/>
          </p:nvPr>
        </p:nvSpPr>
        <p:spPr>
          <a:xfrm>
            <a:off x="1055440" y="-4395"/>
            <a:ext cx="140208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Arial"/>
              <a:buNone/>
            </a:pPr>
            <a:r>
              <a:rPr lang="en-US" sz="3600" b="1" i="0" u="none" dirty="0">
                <a:solidFill>
                  <a:schemeClr val="dk2"/>
                </a:solidFill>
                <a:latin typeface="Arial"/>
                <a:ea typeface="Arial"/>
                <a:cs typeface="Arial"/>
                <a:sym typeface="Arial"/>
              </a:rPr>
              <a:t>THE RELATIONAL OPERATORS</a:t>
            </a:r>
            <a:endParaRPr dirty="0"/>
          </a:p>
        </p:txBody>
      </p:sp>
      <p:sp>
        <p:nvSpPr>
          <p:cNvPr id="928" name="Google Shape;928;g2a8aac945e6_0_245"/>
          <p:cNvSpPr txBox="1">
            <a:spLocks noGrp="1"/>
          </p:cNvSpPr>
          <p:nvPr>
            <p:ph type="body" idx="1"/>
          </p:nvPr>
        </p:nvSpPr>
        <p:spPr>
          <a:xfrm>
            <a:off x="609600" y="1719262"/>
            <a:ext cx="10972800" cy="5138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The </a:t>
            </a:r>
            <a:r>
              <a:rPr lang="en-US" sz="2200" b="0" i="1" u="none" dirty="0">
                <a:solidFill>
                  <a:schemeClr val="dk1"/>
                </a:solidFill>
                <a:latin typeface="Times New Roman"/>
                <a:ea typeface="Times New Roman"/>
                <a:cs typeface="Times New Roman"/>
                <a:sym typeface="Times New Roman"/>
              </a:rPr>
              <a:t>relational operators determine the relationship that one operand has to the other.</a:t>
            </a:r>
            <a:endParaRPr dirty="0"/>
          </a:p>
          <a:p>
            <a:pPr marL="342900" marR="0" lvl="0" indent="-342900" algn="l" rtl="0">
              <a:lnSpc>
                <a:spcPct val="100000"/>
              </a:lnSpc>
              <a:spcBef>
                <a:spcPts val="480"/>
              </a:spcBef>
              <a:spcAft>
                <a:spcPts val="0"/>
              </a:spcAft>
              <a:buClr>
                <a:schemeClr val="dk2"/>
              </a:buClr>
              <a:buSzPts val="1540"/>
              <a:buFont typeface="Noto Sans Symbols"/>
              <a:buChar char="●"/>
            </a:pPr>
            <a:r>
              <a:rPr lang="en-US" sz="2200" b="0" i="0" u="none" dirty="0">
                <a:solidFill>
                  <a:schemeClr val="dk1"/>
                </a:solidFill>
                <a:latin typeface="Times New Roman"/>
                <a:ea typeface="Times New Roman"/>
                <a:cs typeface="Times New Roman"/>
                <a:sym typeface="Times New Roman"/>
              </a:rPr>
              <a:t>Specifically, they determine equality and ordering. The relational operators are shown here: The outcome of these operations is a </a:t>
            </a:r>
            <a:r>
              <a:rPr lang="en-US" sz="2200" b="1" i="0" u="none" dirty="0" err="1">
                <a:solidFill>
                  <a:schemeClr val="dk1"/>
                </a:solidFill>
                <a:latin typeface="Times New Roman"/>
                <a:ea typeface="Times New Roman"/>
                <a:cs typeface="Times New Roman"/>
                <a:sym typeface="Times New Roman"/>
              </a:rPr>
              <a:t>boolean</a:t>
            </a:r>
            <a:r>
              <a:rPr lang="en-US" sz="2200" b="1" i="0" u="none" dirty="0">
                <a:solidFill>
                  <a:schemeClr val="dk1"/>
                </a:solidFill>
                <a:latin typeface="Times New Roman"/>
                <a:ea typeface="Times New Roman"/>
                <a:cs typeface="Times New Roman"/>
                <a:sym typeface="Times New Roman"/>
              </a:rPr>
              <a:t> value.  The relational operators are most </a:t>
            </a:r>
            <a:r>
              <a:rPr lang="en-US" sz="2200" b="0" i="0" u="none" dirty="0">
                <a:solidFill>
                  <a:schemeClr val="dk1"/>
                </a:solidFill>
                <a:latin typeface="Times New Roman"/>
                <a:ea typeface="Times New Roman"/>
                <a:cs typeface="Times New Roman"/>
                <a:sym typeface="Times New Roman"/>
              </a:rPr>
              <a:t>frequently used in the expressions that control the </a:t>
            </a:r>
            <a:r>
              <a:rPr lang="en-US" sz="2200" b="1" i="0" u="none" dirty="0">
                <a:solidFill>
                  <a:schemeClr val="dk1"/>
                </a:solidFill>
                <a:latin typeface="Times New Roman"/>
                <a:ea typeface="Times New Roman"/>
                <a:cs typeface="Times New Roman"/>
                <a:sym typeface="Times New Roman"/>
              </a:rPr>
              <a:t>if s</a:t>
            </a:r>
            <a:r>
              <a:rPr lang="en-US" sz="2400" b="1" i="0" u="none" dirty="0">
                <a:solidFill>
                  <a:schemeClr val="dk1"/>
                </a:solidFill>
                <a:latin typeface="Arial"/>
                <a:ea typeface="Arial"/>
                <a:cs typeface="Arial"/>
                <a:sym typeface="Arial"/>
              </a:rPr>
              <a:t>tatement and the various loop statements.</a:t>
            </a:r>
            <a:endParaRPr sz="2200" b="0" i="0" u="none" dirty="0">
              <a:solidFill>
                <a:schemeClr val="dk1"/>
              </a:solidFill>
              <a:latin typeface="Times New Roman"/>
              <a:ea typeface="Times New Roman"/>
              <a:cs typeface="Times New Roman"/>
              <a:sym typeface="Times New Roman"/>
            </a:endParaRPr>
          </a:p>
          <a:p>
            <a:pPr marL="342900" marR="0" lvl="0" indent="-245109" algn="l" rtl="0">
              <a:spcBef>
                <a:spcPts val="440"/>
              </a:spcBef>
              <a:spcAft>
                <a:spcPts val="0"/>
              </a:spcAft>
              <a:buClr>
                <a:schemeClr val="dk2"/>
              </a:buClr>
              <a:buSzPts val="1540"/>
              <a:buFont typeface="Noto Sans Symbols"/>
              <a:buNone/>
            </a:pPr>
            <a:endParaRPr sz="2200" b="0" i="0" u="none" dirty="0">
              <a:solidFill>
                <a:schemeClr val="dk1"/>
              </a:solidFill>
              <a:latin typeface="Times New Roman"/>
              <a:ea typeface="Times New Roman"/>
              <a:cs typeface="Times New Roman"/>
              <a:sym typeface="Times New Roman"/>
            </a:endParaRPr>
          </a:p>
        </p:txBody>
      </p:sp>
      <p:pic>
        <p:nvPicPr>
          <p:cNvPr id="929" name="Google Shape;929;g2a8aac945e6_0_245" descr="Capture.JPG"/>
          <p:cNvPicPr preferRelativeResize="0"/>
          <p:nvPr/>
        </p:nvPicPr>
        <p:blipFill rotWithShape="1">
          <a:blip r:embed="rId3">
            <a:alphaModFix/>
          </a:blip>
          <a:srcRect/>
          <a:stretch/>
        </p:blipFill>
        <p:spPr>
          <a:xfrm>
            <a:off x="1524000" y="4343400"/>
            <a:ext cx="9753600" cy="25146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a8aac945e6_0_254"/>
          <p:cNvSpPr txBox="1">
            <a:spLocks noGrp="1"/>
          </p:cNvSpPr>
          <p:nvPr>
            <p:ph type="body" idx="1"/>
          </p:nvPr>
        </p:nvSpPr>
        <p:spPr>
          <a:xfrm>
            <a:off x="609600" y="0"/>
            <a:ext cx="10972800" cy="6130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public class Test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public static void main(String args[])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a = 10;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int b = 20;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 b = " + (a == b) );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System.out.println("a != b = " + (a != b)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System.out.println("a &gt; b = " + (a &gt; b)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System.out.println("a &lt; b = " + (a &lt; b)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System.out.println("b &gt;= a = " + (b &gt;= a)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System.out.println("b &lt;= a = " + (b &lt;= a) );</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440"/>
              </a:spcBef>
              <a:spcAft>
                <a:spcPts val="0"/>
              </a:spcAft>
              <a:buClr>
                <a:schemeClr val="dk2"/>
              </a:buClr>
              <a:buSzPts val="1540"/>
              <a:buFont typeface="Noto Sans Symbols"/>
              <a:buNone/>
            </a:pPr>
            <a:r>
              <a:rPr lang="en-US" sz="2200" b="0" i="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a2df431535_0_20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Boolean Logical Operators</a:t>
            </a:r>
            <a:endParaRPr/>
          </a:p>
        </p:txBody>
      </p:sp>
      <p:pic>
        <p:nvPicPr>
          <p:cNvPr id="943" name="Google Shape;943;g2a2df431535_0_202"/>
          <p:cNvPicPr preferRelativeResize="0"/>
          <p:nvPr/>
        </p:nvPicPr>
        <p:blipFill>
          <a:blip r:embed="rId3">
            <a:alphaModFix/>
          </a:blip>
          <a:stretch>
            <a:fillRect/>
          </a:stretch>
        </p:blipFill>
        <p:spPr>
          <a:xfrm>
            <a:off x="972087" y="1530325"/>
            <a:ext cx="9466300" cy="50260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a8aac945e6_0_370"/>
          <p:cNvSpPr txBox="1">
            <a:spLocks noGrp="1"/>
          </p:cNvSpPr>
          <p:nvPr>
            <p:ph type="title"/>
          </p:nvPr>
        </p:nvSpPr>
        <p:spPr>
          <a:xfrm>
            <a:off x="838200" y="0"/>
            <a:ext cx="10515600" cy="723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a:t>
            </a:r>
            <a:endParaRPr/>
          </a:p>
        </p:txBody>
      </p:sp>
      <p:sp>
        <p:nvSpPr>
          <p:cNvPr id="949" name="Google Shape;949;g2a8aac945e6_0_370"/>
          <p:cNvSpPr txBox="1">
            <a:spLocks noGrp="1"/>
          </p:cNvSpPr>
          <p:nvPr>
            <p:ph type="body" idx="1"/>
          </p:nvPr>
        </p:nvSpPr>
        <p:spPr>
          <a:xfrm>
            <a:off x="838200" y="829200"/>
            <a:ext cx="4927200" cy="51996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523"/>
              <a:buNone/>
            </a:pPr>
            <a:r>
              <a:rPr lang="en-US" sz="1729"/>
              <a:t>// Demonstrate the boolean logical operators.</a:t>
            </a:r>
            <a:endParaRPr sz="1729"/>
          </a:p>
          <a:p>
            <a:pPr marL="0" lvl="0" indent="0" algn="l" rtl="0">
              <a:lnSpc>
                <a:spcPct val="70000"/>
              </a:lnSpc>
              <a:spcBef>
                <a:spcPts val="1000"/>
              </a:spcBef>
              <a:spcAft>
                <a:spcPts val="0"/>
              </a:spcAft>
              <a:buSzPts val="523"/>
              <a:buNone/>
            </a:pPr>
            <a:r>
              <a:rPr lang="en-US" sz="1729"/>
              <a:t>class BoolLogic {</a:t>
            </a:r>
            <a:endParaRPr sz="1729"/>
          </a:p>
          <a:p>
            <a:pPr marL="0" lvl="0" indent="0" algn="l" rtl="0">
              <a:lnSpc>
                <a:spcPct val="70000"/>
              </a:lnSpc>
              <a:spcBef>
                <a:spcPts val="1000"/>
              </a:spcBef>
              <a:spcAft>
                <a:spcPts val="0"/>
              </a:spcAft>
              <a:buSzPts val="523"/>
              <a:buNone/>
            </a:pPr>
            <a:r>
              <a:rPr lang="en-US" sz="1729"/>
              <a:t> public static void main(String args[]) {</a:t>
            </a:r>
            <a:endParaRPr sz="1729"/>
          </a:p>
          <a:p>
            <a:pPr marL="0" lvl="0" indent="0" algn="l" rtl="0">
              <a:lnSpc>
                <a:spcPct val="70000"/>
              </a:lnSpc>
              <a:spcBef>
                <a:spcPts val="1000"/>
              </a:spcBef>
              <a:spcAft>
                <a:spcPts val="0"/>
              </a:spcAft>
              <a:buSzPts val="523"/>
              <a:buNone/>
            </a:pPr>
            <a:r>
              <a:rPr lang="en-US" sz="1729"/>
              <a:t> boolean a = true;</a:t>
            </a:r>
            <a:endParaRPr sz="1729"/>
          </a:p>
          <a:p>
            <a:pPr marL="0" lvl="0" indent="0" algn="l" rtl="0">
              <a:lnSpc>
                <a:spcPct val="70000"/>
              </a:lnSpc>
              <a:spcBef>
                <a:spcPts val="1000"/>
              </a:spcBef>
              <a:spcAft>
                <a:spcPts val="0"/>
              </a:spcAft>
              <a:buSzPts val="523"/>
              <a:buNone/>
            </a:pPr>
            <a:r>
              <a:rPr lang="en-US" sz="1729"/>
              <a:t> boolean b = false;</a:t>
            </a:r>
            <a:endParaRPr sz="1729"/>
          </a:p>
          <a:p>
            <a:pPr marL="0" lvl="0" indent="0" algn="l" rtl="0">
              <a:lnSpc>
                <a:spcPct val="70000"/>
              </a:lnSpc>
              <a:spcBef>
                <a:spcPts val="1000"/>
              </a:spcBef>
              <a:spcAft>
                <a:spcPts val="0"/>
              </a:spcAft>
              <a:buSzPts val="523"/>
              <a:buNone/>
            </a:pPr>
            <a:r>
              <a:rPr lang="en-US" sz="1729"/>
              <a:t> boolean c = a | b;</a:t>
            </a:r>
            <a:endParaRPr sz="1729"/>
          </a:p>
          <a:p>
            <a:pPr marL="0" lvl="0" indent="0" algn="l" rtl="0">
              <a:lnSpc>
                <a:spcPct val="70000"/>
              </a:lnSpc>
              <a:spcBef>
                <a:spcPts val="1000"/>
              </a:spcBef>
              <a:spcAft>
                <a:spcPts val="0"/>
              </a:spcAft>
              <a:buSzPts val="523"/>
              <a:buNone/>
            </a:pPr>
            <a:r>
              <a:rPr lang="en-US" sz="1729"/>
              <a:t> boolean d = a &amp; b;</a:t>
            </a:r>
            <a:endParaRPr sz="1729"/>
          </a:p>
          <a:p>
            <a:pPr marL="0" lvl="0" indent="0" algn="l" rtl="0">
              <a:lnSpc>
                <a:spcPct val="70000"/>
              </a:lnSpc>
              <a:spcBef>
                <a:spcPts val="1000"/>
              </a:spcBef>
              <a:spcAft>
                <a:spcPts val="0"/>
              </a:spcAft>
              <a:buSzPts val="523"/>
              <a:buNone/>
            </a:pPr>
            <a:r>
              <a:rPr lang="en-US" sz="1729"/>
              <a:t>boolean e = a ^ b;</a:t>
            </a:r>
            <a:endParaRPr sz="1729"/>
          </a:p>
          <a:p>
            <a:pPr marL="0" lvl="0" indent="0" algn="l" rtl="0">
              <a:lnSpc>
                <a:spcPct val="70000"/>
              </a:lnSpc>
              <a:spcBef>
                <a:spcPts val="1000"/>
              </a:spcBef>
              <a:spcAft>
                <a:spcPts val="0"/>
              </a:spcAft>
              <a:buSzPts val="523"/>
              <a:buNone/>
            </a:pPr>
            <a:r>
              <a:rPr lang="en-US" sz="1729"/>
              <a:t> boolean f = (!a &amp; b) | (a &amp; !b);</a:t>
            </a:r>
            <a:endParaRPr sz="1729"/>
          </a:p>
          <a:p>
            <a:pPr marL="0" lvl="0" indent="0" algn="l" rtl="0">
              <a:lnSpc>
                <a:spcPct val="70000"/>
              </a:lnSpc>
              <a:spcBef>
                <a:spcPts val="1000"/>
              </a:spcBef>
              <a:spcAft>
                <a:spcPts val="0"/>
              </a:spcAft>
              <a:buSzPts val="523"/>
              <a:buNone/>
            </a:pPr>
            <a:r>
              <a:rPr lang="en-US" sz="1729"/>
              <a:t> boolean g = !a;</a:t>
            </a:r>
            <a:endParaRPr sz="1729"/>
          </a:p>
          <a:p>
            <a:pPr marL="0" lvl="0" indent="0" algn="l" rtl="0">
              <a:lnSpc>
                <a:spcPct val="70000"/>
              </a:lnSpc>
              <a:spcBef>
                <a:spcPts val="1000"/>
              </a:spcBef>
              <a:spcAft>
                <a:spcPts val="0"/>
              </a:spcAft>
              <a:buSzPts val="523"/>
              <a:buNone/>
            </a:pPr>
            <a:r>
              <a:rPr lang="en-US" sz="1729"/>
              <a:t> System.out.println(" a = " + a);</a:t>
            </a:r>
            <a:endParaRPr sz="1729"/>
          </a:p>
          <a:p>
            <a:pPr marL="0" lvl="0" indent="0" algn="l" rtl="0">
              <a:lnSpc>
                <a:spcPct val="70000"/>
              </a:lnSpc>
              <a:spcBef>
                <a:spcPts val="1000"/>
              </a:spcBef>
              <a:spcAft>
                <a:spcPts val="0"/>
              </a:spcAft>
              <a:buSzPts val="523"/>
              <a:buNone/>
            </a:pPr>
            <a:r>
              <a:rPr lang="en-US" sz="1729"/>
              <a:t> System.out.println(" b = " + b);</a:t>
            </a:r>
            <a:endParaRPr sz="1729"/>
          </a:p>
          <a:p>
            <a:pPr marL="0" lvl="0" indent="0" algn="l" rtl="0">
              <a:lnSpc>
                <a:spcPct val="70000"/>
              </a:lnSpc>
              <a:spcBef>
                <a:spcPts val="1000"/>
              </a:spcBef>
              <a:spcAft>
                <a:spcPts val="0"/>
              </a:spcAft>
              <a:buSzPts val="523"/>
              <a:buNone/>
            </a:pPr>
            <a:r>
              <a:rPr lang="en-US" sz="1729"/>
              <a:t> System.out.println(" a|b = " + c);</a:t>
            </a:r>
            <a:endParaRPr sz="1729"/>
          </a:p>
          <a:p>
            <a:pPr marL="0" lvl="0" indent="0" algn="l" rtl="0">
              <a:lnSpc>
                <a:spcPct val="70000"/>
              </a:lnSpc>
              <a:spcBef>
                <a:spcPts val="1000"/>
              </a:spcBef>
              <a:spcAft>
                <a:spcPts val="0"/>
              </a:spcAft>
              <a:buSzPts val="523"/>
              <a:buNone/>
            </a:pPr>
            <a:r>
              <a:rPr lang="en-US" sz="1729"/>
              <a:t> System.out.println(" a&amp;b = " + d);</a:t>
            </a:r>
            <a:endParaRPr sz="1729"/>
          </a:p>
          <a:p>
            <a:pPr marL="0" lvl="0" indent="0" algn="l" rtl="0">
              <a:lnSpc>
                <a:spcPct val="70000"/>
              </a:lnSpc>
              <a:spcBef>
                <a:spcPts val="1000"/>
              </a:spcBef>
              <a:spcAft>
                <a:spcPts val="0"/>
              </a:spcAft>
              <a:buSzPts val="523"/>
              <a:buNone/>
            </a:pPr>
            <a:r>
              <a:rPr lang="en-US" sz="1729"/>
              <a:t> System.out.println(" a^b = " + e);</a:t>
            </a:r>
            <a:endParaRPr sz="1729"/>
          </a:p>
          <a:p>
            <a:pPr marL="0" lvl="0" indent="0" algn="l" rtl="0">
              <a:lnSpc>
                <a:spcPct val="70000"/>
              </a:lnSpc>
              <a:spcBef>
                <a:spcPts val="1000"/>
              </a:spcBef>
              <a:spcAft>
                <a:spcPts val="0"/>
              </a:spcAft>
              <a:buSzPts val="523"/>
              <a:buNone/>
            </a:pPr>
            <a:r>
              <a:rPr lang="en-US" sz="1729"/>
              <a:t> System.out.println("!a&amp;b|a&amp;!b = " + f);</a:t>
            </a:r>
            <a:endParaRPr sz="1729"/>
          </a:p>
          <a:p>
            <a:pPr marL="0" lvl="0" indent="0" algn="l" rtl="0">
              <a:lnSpc>
                <a:spcPct val="70000"/>
              </a:lnSpc>
              <a:spcBef>
                <a:spcPts val="1000"/>
              </a:spcBef>
              <a:spcAft>
                <a:spcPts val="0"/>
              </a:spcAft>
              <a:buSzPts val="523"/>
              <a:buNone/>
            </a:pPr>
            <a:r>
              <a:rPr lang="en-US" sz="1729"/>
              <a:t> System.out.println(" !a = " + g);</a:t>
            </a:r>
            <a:endParaRPr sz="1729"/>
          </a:p>
          <a:p>
            <a:pPr marL="0" lvl="0" indent="0" algn="l" rtl="0">
              <a:lnSpc>
                <a:spcPct val="70000"/>
              </a:lnSpc>
              <a:spcBef>
                <a:spcPts val="1000"/>
              </a:spcBef>
              <a:spcAft>
                <a:spcPts val="0"/>
              </a:spcAft>
              <a:buSzPts val="523"/>
              <a:buNone/>
            </a:pPr>
            <a:r>
              <a:rPr lang="en-US" sz="1729"/>
              <a:t> }</a:t>
            </a:r>
            <a:endParaRPr sz="1729"/>
          </a:p>
          <a:p>
            <a:pPr marL="0" lvl="0" indent="0" algn="l" rtl="0">
              <a:lnSpc>
                <a:spcPct val="70000"/>
              </a:lnSpc>
              <a:spcBef>
                <a:spcPts val="1000"/>
              </a:spcBef>
              <a:spcAft>
                <a:spcPts val="0"/>
              </a:spcAft>
              <a:buSzPts val="523"/>
              <a:buNone/>
            </a:pPr>
            <a:r>
              <a:rPr lang="en-US" sz="1729"/>
              <a:t>}</a:t>
            </a:r>
            <a:endParaRPr sz="1729"/>
          </a:p>
        </p:txBody>
      </p:sp>
      <p:pic>
        <p:nvPicPr>
          <p:cNvPr id="950" name="Google Shape;950;g2a8aac945e6_0_370"/>
          <p:cNvPicPr preferRelativeResize="0"/>
          <p:nvPr/>
        </p:nvPicPr>
        <p:blipFill>
          <a:blip r:embed="rId3">
            <a:alphaModFix/>
          </a:blip>
          <a:stretch>
            <a:fillRect/>
          </a:stretch>
        </p:blipFill>
        <p:spPr>
          <a:xfrm>
            <a:off x="5917800" y="876300"/>
            <a:ext cx="4717800" cy="28357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a8aac945e6_0_37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Assignment Operator</a:t>
            </a:r>
            <a:endParaRPr/>
          </a:p>
        </p:txBody>
      </p:sp>
      <p:sp>
        <p:nvSpPr>
          <p:cNvPr id="956" name="Google Shape;956;g2a8aac945e6_0_37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a:t>The assignment operator is the single equal sign, =. </a:t>
            </a:r>
            <a:endParaRPr/>
          </a:p>
          <a:p>
            <a:pPr marL="0" lvl="0" indent="0" algn="l" rtl="0">
              <a:spcBef>
                <a:spcPts val="1000"/>
              </a:spcBef>
              <a:spcAft>
                <a:spcPts val="0"/>
              </a:spcAft>
              <a:buNone/>
            </a:pPr>
            <a:r>
              <a:rPr lang="en-US"/>
              <a:t>The assignment operator works in Java much as it does in any other computer language. It has this general form:</a:t>
            </a:r>
            <a:endParaRPr/>
          </a:p>
          <a:p>
            <a:pPr marL="0" lvl="0" indent="0" algn="l" rtl="0">
              <a:spcBef>
                <a:spcPts val="1000"/>
              </a:spcBef>
              <a:spcAft>
                <a:spcPts val="0"/>
              </a:spcAft>
              <a:buNone/>
            </a:pPr>
            <a:r>
              <a:rPr lang="en-US">
                <a:solidFill>
                  <a:srgbClr val="FF0000"/>
                </a:solidFill>
              </a:rPr>
              <a:t>var = expression;</a:t>
            </a:r>
            <a:endParaRPr>
              <a:solidFill>
                <a:srgbClr val="FF0000"/>
              </a:solidFill>
            </a:endParaRPr>
          </a:p>
          <a:p>
            <a:pPr marL="0" lvl="0" indent="0" algn="l" rtl="0">
              <a:spcBef>
                <a:spcPts val="1000"/>
              </a:spcBef>
              <a:spcAft>
                <a:spcPts val="0"/>
              </a:spcAft>
              <a:buNone/>
            </a:pPr>
            <a:r>
              <a:rPr lang="en-US"/>
              <a:t>Here, the type of var must be compatible with the type of expression.</a:t>
            </a:r>
            <a:endParaRPr/>
          </a:p>
          <a:p>
            <a:pPr marL="0" lvl="0" indent="0" algn="l" rtl="0">
              <a:spcBef>
                <a:spcPts val="1000"/>
              </a:spcBef>
              <a:spcAft>
                <a:spcPts val="0"/>
              </a:spcAft>
              <a:buNone/>
            </a:pPr>
            <a:r>
              <a:rPr lang="en-US"/>
              <a:t>It allows you to create a chain of assignments.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For example, consider this fragment:</a:t>
            </a:r>
            <a:endParaRPr/>
          </a:p>
          <a:p>
            <a:pPr marL="0" lvl="0" indent="0" algn="l" rtl="0">
              <a:spcBef>
                <a:spcPts val="1000"/>
              </a:spcBef>
              <a:spcAft>
                <a:spcPts val="0"/>
              </a:spcAft>
              <a:buNone/>
            </a:pPr>
            <a:r>
              <a:rPr lang="en-US"/>
              <a:t>int x, y, z;</a:t>
            </a:r>
            <a:endParaRPr/>
          </a:p>
          <a:p>
            <a:pPr marL="0" lvl="0" indent="0" algn="l" rtl="0">
              <a:spcBef>
                <a:spcPts val="1000"/>
              </a:spcBef>
              <a:spcAft>
                <a:spcPts val="0"/>
              </a:spcAft>
              <a:buNone/>
            </a:pPr>
            <a:r>
              <a:rPr lang="en-US"/>
              <a:t>x = y = z = 100; // set x, y, and z to 100</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a8aac945e6_0_38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 Operator</a:t>
            </a:r>
            <a:endParaRPr/>
          </a:p>
        </p:txBody>
      </p:sp>
      <p:sp>
        <p:nvSpPr>
          <p:cNvPr id="962" name="Google Shape;962;g2a8aac945e6_0_38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Java includes a special ternary (three-way) operator that can replace certain types of if-then else statements. This operator is the ?. </a:t>
            </a:r>
            <a:endParaRPr/>
          </a:p>
          <a:p>
            <a:pPr marL="0" lvl="0" indent="0" algn="l" rtl="0">
              <a:spcBef>
                <a:spcPts val="1000"/>
              </a:spcBef>
              <a:spcAft>
                <a:spcPts val="0"/>
              </a:spcAft>
              <a:buNone/>
            </a:pPr>
            <a:r>
              <a:rPr lang="en-US"/>
              <a:t>The ? has this general form: </a:t>
            </a:r>
            <a:endParaRPr/>
          </a:p>
          <a:p>
            <a:pPr marL="0" lvl="0" indent="0" algn="l" rtl="0">
              <a:spcBef>
                <a:spcPts val="1000"/>
              </a:spcBef>
              <a:spcAft>
                <a:spcPts val="0"/>
              </a:spcAft>
              <a:buNone/>
            </a:pPr>
            <a:r>
              <a:rPr lang="en-US">
                <a:solidFill>
                  <a:srgbClr val="980000"/>
                </a:solidFill>
              </a:rPr>
              <a:t>expression1 ? expression2 : expression3;</a:t>
            </a:r>
            <a:endParaRPr>
              <a:solidFill>
                <a:srgbClr val="980000"/>
              </a:solidFill>
            </a:endParaRPr>
          </a:p>
          <a:p>
            <a:pPr marL="0" lvl="0" indent="0" algn="l" rtl="0">
              <a:spcBef>
                <a:spcPts val="1000"/>
              </a:spcBef>
              <a:spcAft>
                <a:spcPts val="0"/>
              </a:spcAft>
              <a:buNone/>
            </a:pPr>
            <a:endParaRPr>
              <a:solidFill>
                <a:srgbClr val="980000"/>
              </a:solidFill>
            </a:endParaRPr>
          </a:p>
          <a:p>
            <a:pPr marL="0" lvl="0" indent="0" algn="l" rtl="0">
              <a:spcBef>
                <a:spcPts val="1000"/>
              </a:spcBef>
              <a:spcAft>
                <a:spcPts val="0"/>
              </a:spcAft>
              <a:buNone/>
            </a:pPr>
            <a:r>
              <a:rPr lang="en-US">
                <a:solidFill>
                  <a:srgbClr val="980000"/>
                </a:solidFill>
              </a:rPr>
              <a:t>ratio = (denom == 0) ? 0 : num / denom;</a:t>
            </a:r>
            <a:endParaRPr>
              <a:solidFill>
                <a:srgbClr val="98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a8aac945e6_0_392"/>
          <p:cNvSpPr txBox="1">
            <a:spLocks noGrp="1"/>
          </p:cNvSpPr>
          <p:nvPr>
            <p:ph type="title"/>
          </p:nvPr>
        </p:nvSpPr>
        <p:spPr>
          <a:xfrm>
            <a:off x="838200" y="-6925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a:t>
            </a:r>
            <a:endParaRPr/>
          </a:p>
        </p:txBody>
      </p:sp>
      <p:sp>
        <p:nvSpPr>
          <p:cNvPr id="968" name="Google Shape;968;g2a8aac945e6_0_392"/>
          <p:cNvSpPr txBox="1">
            <a:spLocks noGrp="1"/>
          </p:cNvSpPr>
          <p:nvPr>
            <p:ph type="body" idx="1"/>
          </p:nvPr>
        </p:nvSpPr>
        <p:spPr>
          <a:xfrm>
            <a:off x="838200" y="1253400"/>
            <a:ext cx="5572200" cy="43512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05"/>
              <a:buNone/>
            </a:pPr>
            <a:r>
              <a:rPr lang="en-US" sz="2240"/>
              <a:t>// Demonstrate ?.</a:t>
            </a:r>
            <a:endParaRPr sz="2240"/>
          </a:p>
          <a:p>
            <a:pPr marL="0" lvl="0" indent="0" algn="l" rtl="0">
              <a:lnSpc>
                <a:spcPct val="70000"/>
              </a:lnSpc>
              <a:spcBef>
                <a:spcPts val="1000"/>
              </a:spcBef>
              <a:spcAft>
                <a:spcPts val="0"/>
              </a:spcAft>
              <a:buSzPts val="605"/>
              <a:buNone/>
            </a:pPr>
            <a:r>
              <a:rPr lang="en-US" sz="2240"/>
              <a:t>class Ternary {</a:t>
            </a:r>
            <a:endParaRPr sz="2240"/>
          </a:p>
          <a:p>
            <a:pPr marL="0" lvl="0" indent="0" algn="l" rtl="0">
              <a:lnSpc>
                <a:spcPct val="70000"/>
              </a:lnSpc>
              <a:spcBef>
                <a:spcPts val="1000"/>
              </a:spcBef>
              <a:spcAft>
                <a:spcPts val="0"/>
              </a:spcAft>
              <a:buSzPts val="605"/>
              <a:buNone/>
            </a:pPr>
            <a:r>
              <a:rPr lang="en-US" sz="2240"/>
              <a:t> public static void main(String args[]) {</a:t>
            </a:r>
            <a:endParaRPr sz="2240"/>
          </a:p>
          <a:p>
            <a:pPr marL="0" lvl="0" indent="0" algn="l" rtl="0">
              <a:lnSpc>
                <a:spcPct val="70000"/>
              </a:lnSpc>
              <a:spcBef>
                <a:spcPts val="1000"/>
              </a:spcBef>
              <a:spcAft>
                <a:spcPts val="0"/>
              </a:spcAft>
              <a:buSzPts val="605"/>
              <a:buNone/>
            </a:pPr>
            <a:r>
              <a:rPr lang="en-US" sz="2240"/>
              <a:t> int i, k;</a:t>
            </a:r>
            <a:endParaRPr sz="2240"/>
          </a:p>
          <a:p>
            <a:pPr marL="0" lvl="0" indent="0" algn="l" rtl="0">
              <a:lnSpc>
                <a:spcPct val="70000"/>
              </a:lnSpc>
              <a:spcBef>
                <a:spcPts val="1000"/>
              </a:spcBef>
              <a:spcAft>
                <a:spcPts val="0"/>
              </a:spcAft>
              <a:buSzPts val="605"/>
              <a:buNone/>
            </a:pPr>
            <a:r>
              <a:rPr lang="en-US" sz="2240"/>
              <a:t>i = 10;</a:t>
            </a:r>
            <a:endParaRPr sz="2240"/>
          </a:p>
          <a:p>
            <a:pPr marL="0" lvl="0" indent="0" algn="l" rtl="0">
              <a:lnSpc>
                <a:spcPct val="70000"/>
              </a:lnSpc>
              <a:spcBef>
                <a:spcPts val="1000"/>
              </a:spcBef>
              <a:spcAft>
                <a:spcPts val="0"/>
              </a:spcAft>
              <a:buSzPts val="605"/>
              <a:buNone/>
            </a:pPr>
            <a:r>
              <a:rPr lang="en-US" sz="2240"/>
              <a:t> k = i &lt; 0 ? -i : i; // get absolute value of i</a:t>
            </a:r>
            <a:endParaRPr sz="2240"/>
          </a:p>
          <a:p>
            <a:pPr marL="0" lvl="0" indent="0" algn="l" rtl="0">
              <a:lnSpc>
                <a:spcPct val="70000"/>
              </a:lnSpc>
              <a:spcBef>
                <a:spcPts val="1000"/>
              </a:spcBef>
              <a:spcAft>
                <a:spcPts val="0"/>
              </a:spcAft>
              <a:buSzPts val="605"/>
              <a:buNone/>
            </a:pPr>
            <a:r>
              <a:rPr lang="en-US" sz="2240"/>
              <a:t> System.out.print("Absolute value of ");</a:t>
            </a:r>
            <a:endParaRPr sz="2240"/>
          </a:p>
          <a:p>
            <a:pPr marL="0" lvl="0" indent="0" algn="l" rtl="0">
              <a:lnSpc>
                <a:spcPct val="70000"/>
              </a:lnSpc>
              <a:spcBef>
                <a:spcPts val="1000"/>
              </a:spcBef>
              <a:spcAft>
                <a:spcPts val="0"/>
              </a:spcAft>
              <a:buSzPts val="605"/>
              <a:buNone/>
            </a:pPr>
            <a:r>
              <a:rPr lang="en-US" sz="2240"/>
              <a:t> System.out.println(i + " is " + k);</a:t>
            </a:r>
            <a:endParaRPr sz="2240"/>
          </a:p>
          <a:p>
            <a:pPr marL="0" lvl="0" indent="0" algn="l" rtl="0">
              <a:lnSpc>
                <a:spcPct val="70000"/>
              </a:lnSpc>
              <a:spcBef>
                <a:spcPts val="1000"/>
              </a:spcBef>
              <a:spcAft>
                <a:spcPts val="0"/>
              </a:spcAft>
              <a:buSzPts val="605"/>
              <a:buNone/>
            </a:pPr>
            <a:r>
              <a:rPr lang="en-US" sz="2240"/>
              <a:t> i = -10;</a:t>
            </a:r>
            <a:endParaRPr sz="2240"/>
          </a:p>
          <a:p>
            <a:pPr marL="0" lvl="0" indent="0" algn="l" rtl="0">
              <a:lnSpc>
                <a:spcPct val="70000"/>
              </a:lnSpc>
              <a:spcBef>
                <a:spcPts val="1000"/>
              </a:spcBef>
              <a:spcAft>
                <a:spcPts val="0"/>
              </a:spcAft>
              <a:buSzPts val="605"/>
              <a:buNone/>
            </a:pPr>
            <a:r>
              <a:rPr lang="en-US" sz="2240"/>
              <a:t> k = i &lt; 0 ? -i : i; // get absolute value of i</a:t>
            </a:r>
            <a:endParaRPr sz="2240"/>
          </a:p>
          <a:p>
            <a:pPr marL="0" lvl="0" indent="0" algn="l" rtl="0">
              <a:lnSpc>
                <a:spcPct val="70000"/>
              </a:lnSpc>
              <a:spcBef>
                <a:spcPts val="1000"/>
              </a:spcBef>
              <a:spcAft>
                <a:spcPts val="0"/>
              </a:spcAft>
              <a:buSzPts val="605"/>
              <a:buNone/>
            </a:pPr>
            <a:r>
              <a:rPr lang="en-US" sz="2240"/>
              <a:t> System.out.print("Absolute value of ");</a:t>
            </a:r>
            <a:endParaRPr sz="2240"/>
          </a:p>
          <a:p>
            <a:pPr marL="0" lvl="0" indent="0" algn="l" rtl="0">
              <a:lnSpc>
                <a:spcPct val="70000"/>
              </a:lnSpc>
              <a:spcBef>
                <a:spcPts val="1000"/>
              </a:spcBef>
              <a:spcAft>
                <a:spcPts val="0"/>
              </a:spcAft>
              <a:buSzPts val="605"/>
              <a:buNone/>
            </a:pPr>
            <a:r>
              <a:rPr lang="en-US" sz="2240"/>
              <a:t> System.out.println(i + " is " + k);</a:t>
            </a:r>
            <a:endParaRPr sz="2240"/>
          </a:p>
          <a:p>
            <a:pPr marL="0" lvl="0" indent="0" algn="l" rtl="0">
              <a:lnSpc>
                <a:spcPct val="70000"/>
              </a:lnSpc>
              <a:spcBef>
                <a:spcPts val="1000"/>
              </a:spcBef>
              <a:spcAft>
                <a:spcPts val="0"/>
              </a:spcAft>
              <a:buSzPts val="605"/>
              <a:buNone/>
            </a:pPr>
            <a:r>
              <a:rPr lang="en-US" sz="2240"/>
              <a:t> }</a:t>
            </a:r>
            <a:endParaRPr sz="2240"/>
          </a:p>
          <a:p>
            <a:pPr marL="0" lvl="0" indent="0" algn="l" rtl="0">
              <a:lnSpc>
                <a:spcPct val="70000"/>
              </a:lnSpc>
              <a:spcBef>
                <a:spcPts val="1000"/>
              </a:spcBef>
              <a:spcAft>
                <a:spcPts val="0"/>
              </a:spcAft>
              <a:buSzPts val="605"/>
              <a:buNone/>
            </a:pPr>
            <a:r>
              <a:rPr lang="en-US" sz="2240"/>
              <a:t>}</a:t>
            </a:r>
            <a:endParaRPr sz="2240"/>
          </a:p>
        </p:txBody>
      </p:sp>
      <p:pic>
        <p:nvPicPr>
          <p:cNvPr id="969" name="Google Shape;969;g2a8aac945e6_0_392"/>
          <p:cNvPicPr preferRelativeResize="0"/>
          <p:nvPr/>
        </p:nvPicPr>
        <p:blipFill>
          <a:blip r:embed="rId3">
            <a:alphaModFix/>
          </a:blip>
          <a:stretch>
            <a:fillRect/>
          </a:stretch>
        </p:blipFill>
        <p:spPr>
          <a:xfrm>
            <a:off x="5930975" y="1408850"/>
            <a:ext cx="6261024" cy="16976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a8aac945e6_0_398"/>
          <p:cNvSpPr txBox="1">
            <a:spLocks noGrp="1"/>
          </p:cNvSpPr>
          <p:nvPr>
            <p:ph type="title"/>
          </p:nvPr>
        </p:nvSpPr>
        <p:spPr>
          <a:xfrm>
            <a:off x="838200" y="0"/>
            <a:ext cx="10515600" cy="6846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Operator Precedence</a:t>
            </a:r>
            <a:endParaRPr/>
          </a:p>
        </p:txBody>
      </p:sp>
      <p:sp>
        <p:nvSpPr>
          <p:cNvPr id="975" name="Google Shape;975;g2a8aac945e6_0_398"/>
          <p:cNvSpPr txBox="1">
            <a:spLocks noGrp="1"/>
          </p:cNvSpPr>
          <p:nvPr>
            <p:ph type="body" idx="1"/>
          </p:nvPr>
        </p:nvSpPr>
        <p:spPr>
          <a:xfrm>
            <a:off x="838200" y="798900"/>
            <a:ext cx="10515600" cy="99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Table shows the order of precedence for Java operators, from highest to lowest. Operators in the same row are equal in precedence.</a:t>
            </a:r>
            <a:endParaRPr/>
          </a:p>
        </p:txBody>
      </p:sp>
      <p:pic>
        <p:nvPicPr>
          <p:cNvPr id="976" name="Google Shape;976;g2a8aac945e6_0_398"/>
          <p:cNvPicPr preferRelativeResize="0"/>
          <p:nvPr/>
        </p:nvPicPr>
        <p:blipFill>
          <a:blip r:embed="rId3">
            <a:alphaModFix/>
          </a:blip>
          <a:stretch>
            <a:fillRect/>
          </a:stretch>
        </p:blipFill>
        <p:spPr>
          <a:xfrm>
            <a:off x="1889925" y="1671625"/>
            <a:ext cx="7580829" cy="4383426"/>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a8aac945e6_0_40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Examples</a:t>
            </a:r>
            <a:endParaRPr/>
          </a:p>
        </p:txBody>
      </p:sp>
      <p:sp>
        <p:nvSpPr>
          <p:cNvPr id="982" name="Google Shape;982;g2a8aac945e6_0_40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For example, consider the following expression:</a:t>
            </a:r>
            <a:endParaRPr/>
          </a:p>
          <a:p>
            <a:pPr marL="0" lvl="0" indent="0" algn="l" rtl="0">
              <a:spcBef>
                <a:spcPts val="1000"/>
              </a:spcBef>
              <a:spcAft>
                <a:spcPts val="0"/>
              </a:spcAft>
              <a:buNone/>
            </a:pPr>
            <a:r>
              <a:rPr lang="en-US"/>
              <a:t>a &gt;&gt; b + 3</a:t>
            </a:r>
            <a:endParaRPr/>
          </a:p>
          <a:p>
            <a:pPr marL="0" lvl="0" indent="0" algn="l" rtl="0">
              <a:spcBef>
                <a:spcPts val="1000"/>
              </a:spcBef>
              <a:spcAft>
                <a:spcPts val="0"/>
              </a:spcAft>
              <a:buNone/>
            </a:pPr>
            <a:r>
              <a:rPr lang="en-US"/>
              <a:t>This expression first adds 3 to b and then shifts a right by that result. That is, this expression can be rewritten using redundant parentheses like this:</a:t>
            </a:r>
            <a:endParaRPr/>
          </a:p>
          <a:p>
            <a:pPr marL="0" lvl="0" indent="0" algn="l" rtl="0">
              <a:spcBef>
                <a:spcPts val="1000"/>
              </a:spcBef>
              <a:spcAft>
                <a:spcPts val="0"/>
              </a:spcAft>
              <a:buNone/>
            </a:pPr>
            <a:r>
              <a:rPr lang="en-US"/>
              <a:t>a &gt;&gt; (b + 3)</a:t>
            </a:r>
            <a:endParaRPr/>
          </a:p>
          <a:p>
            <a:pPr marL="0" lvl="0" indent="0" algn="l" rtl="0">
              <a:spcBef>
                <a:spcPts val="1000"/>
              </a:spcBef>
              <a:spcAft>
                <a:spcPts val="0"/>
              </a:spcAft>
              <a:buNone/>
            </a:pPr>
            <a:r>
              <a:rPr lang="en-US"/>
              <a:t>However, if you want to first shift a right by b positions and then add 3 to that result, you will need to parenthesize the expression like this:</a:t>
            </a:r>
            <a:endParaRPr/>
          </a:p>
          <a:p>
            <a:pPr marL="0" lvl="0" indent="0" algn="l" rtl="0">
              <a:spcBef>
                <a:spcPts val="1000"/>
              </a:spcBef>
              <a:spcAft>
                <a:spcPts val="0"/>
              </a:spcAft>
              <a:buNone/>
            </a:pPr>
            <a:r>
              <a:rPr lang="en-US"/>
              <a:t>(a &gt;&gt; b) + 3</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a8aac945e6_0_412"/>
          <p:cNvSpPr txBox="1">
            <a:spLocks noGrp="1"/>
          </p:cNvSpPr>
          <p:nvPr>
            <p:ph type="body" idx="1"/>
          </p:nvPr>
        </p:nvSpPr>
        <p:spPr>
          <a:xfrm>
            <a:off x="838200" y="289600"/>
            <a:ext cx="10515600" cy="5887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In addition to altering the normal precedence of an operator, parentheses can sometimes be used to help clarify the meaning of an expression. </a:t>
            </a:r>
            <a:endParaRPr/>
          </a:p>
          <a:p>
            <a:pPr marL="0" lvl="0" indent="0" algn="l" rtl="0">
              <a:spcBef>
                <a:spcPts val="1000"/>
              </a:spcBef>
              <a:spcAft>
                <a:spcPts val="0"/>
              </a:spcAft>
              <a:buNone/>
            </a:pPr>
            <a:r>
              <a:rPr lang="en-US"/>
              <a:t>For anyone reading your code, a complicated expression can be difficult to understand.</a:t>
            </a:r>
            <a:endParaRPr/>
          </a:p>
          <a:p>
            <a:pPr marL="0" lvl="0" indent="0" algn="l" rtl="0">
              <a:spcBef>
                <a:spcPts val="1000"/>
              </a:spcBef>
              <a:spcAft>
                <a:spcPts val="0"/>
              </a:spcAft>
              <a:buNone/>
            </a:pPr>
            <a:endParaRPr/>
          </a:p>
          <a:p>
            <a:pPr marL="0" lvl="0" indent="0" algn="l" rtl="0">
              <a:spcBef>
                <a:spcPts val="1000"/>
              </a:spcBef>
              <a:spcAft>
                <a:spcPts val="0"/>
              </a:spcAft>
              <a:buNone/>
            </a:pPr>
            <a:r>
              <a:rPr lang="en-US"/>
              <a:t>For example, which of the following expressions is easier to read?</a:t>
            </a:r>
            <a:endParaRPr/>
          </a:p>
          <a:p>
            <a:pPr marL="0" lvl="0" indent="0" algn="l" rtl="0">
              <a:spcBef>
                <a:spcPts val="1000"/>
              </a:spcBef>
              <a:spcAft>
                <a:spcPts val="0"/>
              </a:spcAft>
              <a:buNone/>
            </a:pPr>
            <a:r>
              <a:rPr lang="en-US"/>
              <a:t>a | 4 + c &gt;&gt; b &amp; 7</a:t>
            </a:r>
            <a:endParaRPr/>
          </a:p>
          <a:p>
            <a:pPr marL="0" lvl="0" indent="0" algn="l" rtl="0">
              <a:spcBef>
                <a:spcPts val="1000"/>
              </a:spcBef>
              <a:spcAft>
                <a:spcPts val="0"/>
              </a:spcAft>
              <a:buNone/>
            </a:pPr>
            <a:r>
              <a:rPr lang="en-US"/>
              <a:t>(a | (((4 + c) &gt;&gt; b) &amp; 7))  // This is easier to read and gives clarity</a:t>
            </a:r>
            <a:endParaRPr/>
          </a:p>
          <a:p>
            <a:pPr marL="0" lvl="0" indent="0" algn="l" rtl="0">
              <a:spcBef>
                <a:spcPts val="1000"/>
              </a:spcBef>
              <a:spcAft>
                <a:spcPts val="0"/>
              </a:spcAft>
              <a:buNone/>
            </a:pP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a8aac945e6_0_41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Control Statements</a:t>
            </a:r>
            <a:endParaRPr/>
          </a:p>
        </p:txBody>
      </p:sp>
      <p:sp>
        <p:nvSpPr>
          <p:cNvPr id="993" name="Google Shape;993;g2a8aac945e6_0_41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Outline:</a:t>
            </a:r>
            <a:endParaRPr/>
          </a:p>
          <a:p>
            <a:pPr marL="0" lvl="0" indent="0" algn="l" rtl="0">
              <a:spcBef>
                <a:spcPts val="1000"/>
              </a:spcBef>
              <a:spcAft>
                <a:spcPts val="0"/>
              </a:spcAft>
              <a:buNone/>
            </a:pPr>
            <a:endParaRPr/>
          </a:p>
        </p:txBody>
      </p:sp>
      <p:pic>
        <p:nvPicPr>
          <p:cNvPr id="994" name="Google Shape;994;g2a8aac945e6_0_418"/>
          <p:cNvPicPr preferRelativeResize="0"/>
          <p:nvPr/>
        </p:nvPicPr>
        <p:blipFill>
          <a:blip r:embed="rId3">
            <a:alphaModFix/>
          </a:blip>
          <a:stretch>
            <a:fillRect/>
          </a:stretch>
        </p:blipFill>
        <p:spPr>
          <a:xfrm>
            <a:off x="2744625" y="2086175"/>
            <a:ext cx="5416500" cy="40906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a8aac945e6_0_4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if Statement</a:t>
            </a:r>
            <a:endParaRPr/>
          </a:p>
        </p:txBody>
      </p:sp>
      <p:sp>
        <p:nvSpPr>
          <p:cNvPr id="1000" name="Google Shape;1000;g2a8aac945e6_0_42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It can be used to route program execution through two different paths. Here is the general form of the if statement:</a:t>
            </a:r>
            <a:endParaRPr/>
          </a:p>
          <a:p>
            <a:pPr marL="0" lvl="0" indent="0" algn="l" rtl="0">
              <a:spcBef>
                <a:spcPts val="1000"/>
              </a:spcBef>
              <a:spcAft>
                <a:spcPts val="0"/>
              </a:spcAft>
              <a:buNone/>
            </a:pPr>
            <a:r>
              <a:rPr lang="en-US">
                <a:solidFill>
                  <a:srgbClr val="980000"/>
                </a:solidFill>
              </a:rPr>
              <a:t>if (condition) statement1;</a:t>
            </a:r>
            <a:endParaRPr>
              <a:solidFill>
                <a:srgbClr val="980000"/>
              </a:solidFill>
            </a:endParaRPr>
          </a:p>
          <a:p>
            <a:pPr marL="0" lvl="0" indent="0" algn="l" rtl="0">
              <a:spcBef>
                <a:spcPts val="1000"/>
              </a:spcBef>
              <a:spcAft>
                <a:spcPts val="0"/>
              </a:spcAft>
              <a:buNone/>
            </a:pPr>
            <a:r>
              <a:rPr lang="en-US">
                <a:solidFill>
                  <a:srgbClr val="980000"/>
                </a:solidFill>
              </a:rPr>
              <a:t>else statement2;</a:t>
            </a:r>
            <a:endParaRPr>
              <a:solidFill>
                <a:srgbClr val="980000"/>
              </a:solidFill>
            </a:endParaRPr>
          </a:p>
        </p:txBody>
      </p:sp>
      <p:sp>
        <p:nvSpPr>
          <p:cNvPr id="1001" name="Google Shape;1001;g2a8aac945e6_0_425"/>
          <p:cNvSpPr txBox="1"/>
          <p:nvPr/>
        </p:nvSpPr>
        <p:spPr>
          <a:xfrm>
            <a:off x="6700050" y="3619850"/>
            <a:ext cx="3000000" cy="1847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t>int a, b;</a:t>
            </a:r>
            <a:endParaRPr sz="2700" b="1"/>
          </a:p>
          <a:p>
            <a:pPr marL="0" lvl="0" indent="0" algn="l" rtl="0">
              <a:spcBef>
                <a:spcPts val="0"/>
              </a:spcBef>
              <a:spcAft>
                <a:spcPts val="0"/>
              </a:spcAft>
              <a:buNone/>
            </a:pPr>
            <a:r>
              <a:rPr lang="en-US" sz="2700" b="1"/>
              <a:t>//...</a:t>
            </a:r>
            <a:endParaRPr sz="2700" b="1"/>
          </a:p>
          <a:p>
            <a:pPr marL="0" lvl="0" indent="0" algn="l" rtl="0">
              <a:spcBef>
                <a:spcPts val="0"/>
              </a:spcBef>
              <a:spcAft>
                <a:spcPts val="0"/>
              </a:spcAft>
              <a:buNone/>
            </a:pPr>
            <a:r>
              <a:rPr lang="en-US" sz="2700" b="1"/>
              <a:t>if(a &lt; b) a = 0;</a:t>
            </a:r>
            <a:endParaRPr sz="2700" b="1"/>
          </a:p>
          <a:p>
            <a:pPr marL="0" lvl="0" indent="0" algn="l" rtl="0">
              <a:spcBef>
                <a:spcPts val="0"/>
              </a:spcBef>
              <a:spcAft>
                <a:spcPts val="0"/>
              </a:spcAft>
              <a:buNone/>
            </a:pPr>
            <a:r>
              <a:rPr lang="en-US" sz="2700" b="1"/>
              <a:t>else b = 0;</a:t>
            </a:r>
            <a:endParaRPr sz="2700" b="1"/>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a8aac945e6_0_43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Nested ifs</a:t>
            </a:r>
            <a:endParaRPr/>
          </a:p>
        </p:txBody>
      </p:sp>
      <p:sp>
        <p:nvSpPr>
          <p:cNvPr id="1007" name="Google Shape;1007;g2a8aac945e6_0_43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A nested if is an if statement that is the target of another if or else. Nested ifs are very common in programming.</a:t>
            </a:r>
            <a:endParaRPr/>
          </a:p>
        </p:txBody>
      </p:sp>
      <p:pic>
        <p:nvPicPr>
          <p:cNvPr id="1008" name="Google Shape;1008;g2a8aac945e6_0_433"/>
          <p:cNvPicPr preferRelativeResize="0"/>
          <p:nvPr/>
        </p:nvPicPr>
        <p:blipFill>
          <a:blip r:embed="rId3">
            <a:alphaModFix/>
          </a:blip>
          <a:stretch>
            <a:fillRect/>
          </a:stretch>
        </p:blipFill>
        <p:spPr>
          <a:xfrm>
            <a:off x="1598475" y="3238100"/>
            <a:ext cx="8995050" cy="20140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a8aac945e6_0_440"/>
          <p:cNvSpPr txBox="1">
            <a:spLocks noGrp="1"/>
          </p:cNvSpPr>
          <p:nvPr>
            <p:ph type="title"/>
          </p:nvPr>
        </p:nvSpPr>
        <p:spPr>
          <a:xfrm>
            <a:off x="838200" y="75525"/>
            <a:ext cx="10515600" cy="714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if-else-if Ladder</a:t>
            </a:r>
            <a:endParaRPr/>
          </a:p>
        </p:txBody>
      </p:sp>
      <p:sp>
        <p:nvSpPr>
          <p:cNvPr id="1014" name="Google Shape;1014;g2a8aac945e6_0_440"/>
          <p:cNvSpPr txBox="1">
            <a:spLocks noGrp="1"/>
          </p:cNvSpPr>
          <p:nvPr>
            <p:ph type="body" idx="1"/>
          </p:nvPr>
        </p:nvSpPr>
        <p:spPr>
          <a:xfrm>
            <a:off x="3738325" y="710800"/>
            <a:ext cx="5094300" cy="6054900"/>
          </a:xfrm>
          <a:prstGeom prst="rect">
            <a:avLst/>
          </a:prstGeom>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88"/>
              <a:buNone/>
            </a:pPr>
            <a:r>
              <a:rPr lang="en-US" sz="1850"/>
              <a:t>// Demonstrate if-else-if statements.</a:t>
            </a:r>
            <a:endParaRPr sz="1850"/>
          </a:p>
          <a:p>
            <a:pPr marL="0" lvl="0" indent="0" algn="l" rtl="0">
              <a:lnSpc>
                <a:spcPct val="70000"/>
              </a:lnSpc>
              <a:spcBef>
                <a:spcPts val="1000"/>
              </a:spcBef>
              <a:spcAft>
                <a:spcPts val="0"/>
              </a:spcAft>
              <a:buSzPts val="688"/>
              <a:buNone/>
            </a:pPr>
            <a:r>
              <a:rPr lang="en-US" sz="1850"/>
              <a:t>class IfElse {</a:t>
            </a:r>
            <a:endParaRPr sz="1850"/>
          </a:p>
          <a:p>
            <a:pPr marL="0" lvl="0" indent="0" algn="l" rtl="0">
              <a:lnSpc>
                <a:spcPct val="70000"/>
              </a:lnSpc>
              <a:spcBef>
                <a:spcPts val="1000"/>
              </a:spcBef>
              <a:spcAft>
                <a:spcPts val="0"/>
              </a:spcAft>
              <a:buSzPts val="688"/>
              <a:buNone/>
            </a:pPr>
            <a:r>
              <a:rPr lang="en-US" sz="1850"/>
              <a:t> public static void main(String args[]) {</a:t>
            </a:r>
            <a:endParaRPr sz="1850"/>
          </a:p>
          <a:p>
            <a:pPr marL="0" lvl="0" indent="0" algn="l" rtl="0">
              <a:lnSpc>
                <a:spcPct val="70000"/>
              </a:lnSpc>
              <a:spcBef>
                <a:spcPts val="1000"/>
              </a:spcBef>
              <a:spcAft>
                <a:spcPts val="0"/>
              </a:spcAft>
              <a:buSzPts val="688"/>
              <a:buNone/>
            </a:pPr>
            <a:r>
              <a:rPr lang="en-US" sz="1850"/>
              <a:t> int month = 4; // April</a:t>
            </a:r>
            <a:endParaRPr sz="1850"/>
          </a:p>
          <a:p>
            <a:pPr marL="0" lvl="0" indent="0" algn="l" rtl="0">
              <a:lnSpc>
                <a:spcPct val="70000"/>
              </a:lnSpc>
              <a:spcBef>
                <a:spcPts val="1000"/>
              </a:spcBef>
              <a:spcAft>
                <a:spcPts val="0"/>
              </a:spcAft>
              <a:buSzPts val="688"/>
              <a:buNone/>
            </a:pPr>
            <a:r>
              <a:rPr lang="en-US" sz="1850"/>
              <a:t> String season;</a:t>
            </a:r>
            <a:endParaRPr sz="1850"/>
          </a:p>
          <a:p>
            <a:pPr marL="0" lvl="0" indent="0" algn="l" rtl="0">
              <a:lnSpc>
                <a:spcPct val="70000"/>
              </a:lnSpc>
              <a:spcBef>
                <a:spcPts val="1000"/>
              </a:spcBef>
              <a:spcAft>
                <a:spcPts val="0"/>
              </a:spcAft>
              <a:buSzPts val="688"/>
              <a:buNone/>
            </a:pPr>
            <a:r>
              <a:rPr lang="en-US" sz="1850"/>
              <a:t>if(month == 12 || month == 1 || month == 2)</a:t>
            </a:r>
            <a:endParaRPr sz="1850"/>
          </a:p>
          <a:p>
            <a:pPr marL="0" lvl="0" indent="0" algn="l" rtl="0">
              <a:lnSpc>
                <a:spcPct val="70000"/>
              </a:lnSpc>
              <a:spcBef>
                <a:spcPts val="1000"/>
              </a:spcBef>
              <a:spcAft>
                <a:spcPts val="0"/>
              </a:spcAft>
              <a:buSzPts val="688"/>
              <a:buNone/>
            </a:pPr>
            <a:r>
              <a:rPr lang="en-US" sz="1850"/>
              <a:t> season = "Winter";</a:t>
            </a:r>
            <a:endParaRPr sz="1850"/>
          </a:p>
          <a:p>
            <a:pPr marL="0" lvl="0" indent="0" algn="l" rtl="0">
              <a:lnSpc>
                <a:spcPct val="70000"/>
              </a:lnSpc>
              <a:spcBef>
                <a:spcPts val="1000"/>
              </a:spcBef>
              <a:spcAft>
                <a:spcPts val="0"/>
              </a:spcAft>
              <a:buSzPts val="688"/>
              <a:buNone/>
            </a:pPr>
            <a:r>
              <a:rPr lang="en-US" sz="1850"/>
              <a:t> else if(month == 3 || month == 4 || month == 5)</a:t>
            </a:r>
            <a:endParaRPr sz="1850"/>
          </a:p>
          <a:p>
            <a:pPr marL="0" lvl="0" indent="0" algn="l" rtl="0">
              <a:lnSpc>
                <a:spcPct val="70000"/>
              </a:lnSpc>
              <a:spcBef>
                <a:spcPts val="1000"/>
              </a:spcBef>
              <a:spcAft>
                <a:spcPts val="0"/>
              </a:spcAft>
              <a:buSzPts val="688"/>
              <a:buNone/>
            </a:pPr>
            <a:r>
              <a:rPr lang="en-US" sz="1850"/>
              <a:t> season = "Spring";</a:t>
            </a:r>
            <a:endParaRPr sz="1850"/>
          </a:p>
          <a:p>
            <a:pPr marL="0" lvl="0" indent="0" algn="l" rtl="0">
              <a:lnSpc>
                <a:spcPct val="70000"/>
              </a:lnSpc>
              <a:spcBef>
                <a:spcPts val="1000"/>
              </a:spcBef>
              <a:spcAft>
                <a:spcPts val="0"/>
              </a:spcAft>
              <a:buSzPts val="688"/>
              <a:buNone/>
            </a:pPr>
            <a:r>
              <a:rPr lang="en-US" sz="1850"/>
              <a:t> else if(month == 6 || month == 7 || month == 8)</a:t>
            </a:r>
            <a:endParaRPr sz="1850"/>
          </a:p>
          <a:p>
            <a:pPr marL="0" lvl="0" indent="0" algn="l" rtl="0">
              <a:lnSpc>
                <a:spcPct val="70000"/>
              </a:lnSpc>
              <a:spcBef>
                <a:spcPts val="1000"/>
              </a:spcBef>
              <a:spcAft>
                <a:spcPts val="0"/>
              </a:spcAft>
              <a:buSzPts val="688"/>
              <a:buNone/>
            </a:pPr>
            <a:r>
              <a:rPr lang="en-US" sz="1850"/>
              <a:t> season = "Summer";</a:t>
            </a:r>
            <a:endParaRPr sz="1850"/>
          </a:p>
          <a:p>
            <a:pPr marL="0" lvl="0" indent="0" algn="l" rtl="0">
              <a:lnSpc>
                <a:spcPct val="70000"/>
              </a:lnSpc>
              <a:spcBef>
                <a:spcPts val="1000"/>
              </a:spcBef>
              <a:spcAft>
                <a:spcPts val="0"/>
              </a:spcAft>
              <a:buSzPts val="688"/>
              <a:buNone/>
            </a:pPr>
            <a:r>
              <a:rPr lang="en-US" sz="1850"/>
              <a:t> else if(month == 9 || month == 10 || month == 11)</a:t>
            </a:r>
            <a:endParaRPr sz="1850"/>
          </a:p>
          <a:p>
            <a:pPr marL="0" lvl="0" indent="0" algn="l" rtl="0">
              <a:lnSpc>
                <a:spcPct val="70000"/>
              </a:lnSpc>
              <a:spcBef>
                <a:spcPts val="1000"/>
              </a:spcBef>
              <a:spcAft>
                <a:spcPts val="0"/>
              </a:spcAft>
              <a:buSzPts val="688"/>
              <a:buNone/>
            </a:pPr>
            <a:r>
              <a:rPr lang="en-US" sz="1850"/>
              <a:t> season = "Autumn";</a:t>
            </a:r>
            <a:endParaRPr sz="1850"/>
          </a:p>
          <a:p>
            <a:pPr marL="0" lvl="0" indent="0" algn="l" rtl="0">
              <a:lnSpc>
                <a:spcPct val="70000"/>
              </a:lnSpc>
              <a:spcBef>
                <a:spcPts val="1000"/>
              </a:spcBef>
              <a:spcAft>
                <a:spcPts val="0"/>
              </a:spcAft>
              <a:buSzPts val="688"/>
              <a:buNone/>
            </a:pPr>
            <a:r>
              <a:rPr lang="en-US" sz="1850"/>
              <a:t> else</a:t>
            </a:r>
            <a:endParaRPr sz="1850"/>
          </a:p>
          <a:p>
            <a:pPr marL="0" lvl="0" indent="0" algn="l" rtl="0">
              <a:lnSpc>
                <a:spcPct val="70000"/>
              </a:lnSpc>
              <a:spcBef>
                <a:spcPts val="1000"/>
              </a:spcBef>
              <a:spcAft>
                <a:spcPts val="0"/>
              </a:spcAft>
              <a:buSzPts val="688"/>
              <a:buNone/>
            </a:pPr>
            <a:r>
              <a:rPr lang="en-US" sz="1850"/>
              <a:t> season = "Bogus Month";</a:t>
            </a:r>
            <a:endParaRPr sz="1850"/>
          </a:p>
          <a:p>
            <a:pPr marL="0" lvl="0" indent="0" algn="l" rtl="0">
              <a:lnSpc>
                <a:spcPct val="70000"/>
              </a:lnSpc>
              <a:spcBef>
                <a:spcPts val="1000"/>
              </a:spcBef>
              <a:spcAft>
                <a:spcPts val="0"/>
              </a:spcAft>
              <a:buSzPts val="688"/>
              <a:buNone/>
            </a:pPr>
            <a:r>
              <a:rPr lang="en-US" sz="1850"/>
              <a:t> System.out.println("April is in the " + season + ".");</a:t>
            </a:r>
            <a:endParaRPr sz="1850"/>
          </a:p>
          <a:p>
            <a:pPr marL="0" lvl="0" indent="0" algn="l" rtl="0">
              <a:lnSpc>
                <a:spcPct val="70000"/>
              </a:lnSpc>
              <a:spcBef>
                <a:spcPts val="1000"/>
              </a:spcBef>
              <a:spcAft>
                <a:spcPts val="0"/>
              </a:spcAft>
              <a:buSzPts val="688"/>
              <a:buNone/>
            </a:pPr>
            <a:r>
              <a:rPr lang="en-US" sz="1850"/>
              <a:t> }</a:t>
            </a:r>
            <a:endParaRPr sz="1850"/>
          </a:p>
          <a:p>
            <a:pPr marL="0" lvl="0" indent="0" algn="l" rtl="0">
              <a:lnSpc>
                <a:spcPct val="70000"/>
              </a:lnSpc>
              <a:spcBef>
                <a:spcPts val="1000"/>
              </a:spcBef>
              <a:spcAft>
                <a:spcPts val="0"/>
              </a:spcAft>
              <a:buSzPts val="688"/>
              <a:buNone/>
            </a:pPr>
            <a:r>
              <a:rPr lang="en-US" sz="1850"/>
              <a:t>}</a:t>
            </a:r>
            <a:endParaRPr sz="1850"/>
          </a:p>
        </p:txBody>
      </p:sp>
      <p:pic>
        <p:nvPicPr>
          <p:cNvPr id="1015" name="Google Shape;1015;g2a8aac945e6_0_440"/>
          <p:cNvPicPr preferRelativeResize="0"/>
          <p:nvPr/>
        </p:nvPicPr>
        <p:blipFill>
          <a:blip r:embed="rId3">
            <a:alphaModFix/>
          </a:blip>
          <a:stretch>
            <a:fillRect/>
          </a:stretch>
        </p:blipFill>
        <p:spPr>
          <a:xfrm>
            <a:off x="77629" y="1690825"/>
            <a:ext cx="3376900" cy="3916675"/>
          </a:xfrm>
          <a:prstGeom prst="rect">
            <a:avLst/>
          </a:prstGeom>
          <a:noFill/>
          <a:ln w="9525" cap="flat" cmpd="sng">
            <a:solidFill>
              <a:schemeClr val="dk2"/>
            </a:solidFill>
            <a:prstDash val="solid"/>
            <a:round/>
            <a:headEnd type="none" w="sm" len="sm"/>
            <a:tailEnd type="none" w="sm" len="sm"/>
          </a:ln>
        </p:spPr>
      </p:pic>
      <p:pic>
        <p:nvPicPr>
          <p:cNvPr id="1016" name="Google Shape;1016;g2a8aac945e6_0_440"/>
          <p:cNvPicPr preferRelativeResize="0"/>
          <p:nvPr/>
        </p:nvPicPr>
        <p:blipFill>
          <a:blip r:embed="rId4">
            <a:alphaModFix/>
          </a:blip>
          <a:stretch>
            <a:fillRect/>
          </a:stretch>
        </p:blipFill>
        <p:spPr>
          <a:xfrm>
            <a:off x="8949800" y="1846775"/>
            <a:ext cx="3094475" cy="14966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a8aac945e6_0_44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switch</a:t>
            </a:r>
            <a:endParaRPr/>
          </a:p>
        </p:txBody>
      </p:sp>
      <p:sp>
        <p:nvSpPr>
          <p:cNvPr id="1022" name="Google Shape;1022;g2a8aac945e6_0_449"/>
          <p:cNvSpPr txBox="1">
            <a:spLocks noGrp="1"/>
          </p:cNvSpPr>
          <p:nvPr>
            <p:ph type="body" idx="1"/>
          </p:nvPr>
        </p:nvSpPr>
        <p:spPr>
          <a:xfrm>
            <a:off x="838200" y="1825625"/>
            <a:ext cx="53880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t>The switch statement is Java’s multiway branch statement. It provides an easy way to dispatch execution to different parts of your code based on the value of an expression.</a:t>
            </a:r>
            <a:endParaRPr/>
          </a:p>
          <a:p>
            <a:pPr marL="0" lvl="0" indent="0" algn="just" rtl="0">
              <a:spcBef>
                <a:spcPts val="1000"/>
              </a:spcBef>
              <a:spcAft>
                <a:spcPts val="0"/>
              </a:spcAft>
              <a:buNone/>
            </a:pPr>
            <a:r>
              <a:rPr lang="en-US"/>
              <a:t>A better alternative than a large series of if-else-if statements. Here is the general form of a switch statement:</a:t>
            </a:r>
            <a:endParaRPr/>
          </a:p>
        </p:txBody>
      </p:sp>
      <p:pic>
        <p:nvPicPr>
          <p:cNvPr id="1023" name="Google Shape;1023;g2a8aac945e6_0_449"/>
          <p:cNvPicPr preferRelativeResize="0"/>
          <p:nvPr/>
        </p:nvPicPr>
        <p:blipFill>
          <a:blip r:embed="rId3">
            <a:alphaModFix/>
          </a:blip>
          <a:stretch>
            <a:fillRect/>
          </a:stretch>
        </p:blipFill>
        <p:spPr>
          <a:xfrm>
            <a:off x="6648225" y="698025"/>
            <a:ext cx="4879525" cy="49884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a8aac945e6_0_456"/>
          <p:cNvSpPr txBox="1">
            <a:spLocks noGrp="1"/>
          </p:cNvSpPr>
          <p:nvPr>
            <p:ph type="title"/>
          </p:nvPr>
        </p:nvSpPr>
        <p:spPr>
          <a:xfrm>
            <a:off x="838200" y="0"/>
            <a:ext cx="2255100" cy="5826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Example</a:t>
            </a:r>
            <a:endParaRPr/>
          </a:p>
        </p:txBody>
      </p:sp>
      <p:pic>
        <p:nvPicPr>
          <p:cNvPr id="1029" name="Google Shape;1029;g2a8aac945e6_0_456"/>
          <p:cNvPicPr preferRelativeResize="0"/>
          <p:nvPr/>
        </p:nvPicPr>
        <p:blipFill>
          <a:blip r:embed="rId3">
            <a:alphaModFix/>
          </a:blip>
          <a:stretch>
            <a:fillRect/>
          </a:stretch>
        </p:blipFill>
        <p:spPr>
          <a:xfrm>
            <a:off x="152400" y="735000"/>
            <a:ext cx="6560800" cy="5991375"/>
          </a:xfrm>
          <a:prstGeom prst="rect">
            <a:avLst/>
          </a:prstGeom>
          <a:noFill/>
          <a:ln w="9525" cap="flat" cmpd="sng">
            <a:solidFill>
              <a:schemeClr val="dk2"/>
            </a:solidFill>
            <a:prstDash val="solid"/>
            <a:round/>
            <a:headEnd type="none" w="sm" len="sm"/>
            <a:tailEnd type="none" w="sm" len="sm"/>
          </a:ln>
        </p:spPr>
      </p:pic>
      <p:pic>
        <p:nvPicPr>
          <p:cNvPr id="1030" name="Google Shape;1030;g2a8aac945e6_0_456"/>
          <p:cNvPicPr preferRelativeResize="0"/>
          <p:nvPr/>
        </p:nvPicPr>
        <p:blipFill>
          <a:blip r:embed="rId4">
            <a:alphaModFix/>
          </a:blip>
          <a:stretch>
            <a:fillRect/>
          </a:stretch>
        </p:blipFill>
        <p:spPr>
          <a:xfrm>
            <a:off x="6846625" y="1092550"/>
            <a:ext cx="5113975" cy="26457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a8aac945e6_0_463"/>
          <p:cNvSpPr txBox="1">
            <a:spLocks noGrp="1"/>
          </p:cNvSpPr>
          <p:nvPr>
            <p:ph type="title"/>
          </p:nvPr>
        </p:nvSpPr>
        <p:spPr>
          <a:xfrm>
            <a:off x="78975" y="0"/>
            <a:ext cx="5541600" cy="3984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dirty="0"/>
              <a:t>Example on missing break</a:t>
            </a:r>
            <a:endParaRPr dirty="0"/>
          </a:p>
        </p:txBody>
      </p:sp>
      <p:pic>
        <p:nvPicPr>
          <p:cNvPr id="1036" name="Google Shape;1036;g2a8aac945e6_0_463"/>
          <p:cNvPicPr preferRelativeResize="0"/>
          <p:nvPr/>
        </p:nvPicPr>
        <p:blipFill>
          <a:blip r:embed="rId3">
            <a:alphaModFix/>
          </a:blip>
          <a:stretch>
            <a:fillRect/>
          </a:stretch>
        </p:blipFill>
        <p:spPr>
          <a:xfrm>
            <a:off x="152400" y="550800"/>
            <a:ext cx="6477000" cy="6175575"/>
          </a:xfrm>
          <a:prstGeom prst="rect">
            <a:avLst/>
          </a:prstGeom>
          <a:noFill/>
          <a:ln>
            <a:noFill/>
          </a:ln>
        </p:spPr>
      </p:pic>
      <p:pic>
        <p:nvPicPr>
          <p:cNvPr id="1037" name="Google Shape;1037;g2a8aac945e6_0_463"/>
          <p:cNvPicPr preferRelativeResize="0"/>
          <p:nvPr/>
        </p:nvPicPr>
        <p:blipFill>
          <a:blip r:embed="rId4">
            <a:alphaModFix/>
          </a:blip>
          <a:stretch>
            <a:fillRect/>
          </a:stretch>
        </p:blipFill>
        <p:spPr>
          <a:xfrm>
            <a:off x="6781800" y="152400"/>
            <a:ext cx="4657725" cy="32385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a8aac945e6_0_470"/>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An improved version of the season program using switch.</a:t>
            </a:r>
            <a:endParaRPr/>
          </a:p>
        </p:txBody>
      </p:sp>
      <p:sp>
        <p:nvSpPr>
          <p:cNvPr id="1043" name="Google Shape;1043;g2a8aac945e6_0_470"/>
          <p:cNvSpPr txBox="1">
            <a:spLocks noGrp="1"/>
          </p:cNvSpPr>
          <p:nvPr>
            <p:ph type="body" idx="1"/>
          </p:nvPr>
        </p:nvSpPr>
        <p:spPr>
          <a:xfrm>
            <a:off x="838200" y="1720325"/>
            <a:ext cx="4374300" cy="4351200"/>
          </a:xfrm>
          <a:prstGeom prst="rect">
            <a:avLst/>
          </a:prstGeom>
          <a:ln w="9525" cap="flat" cmpd="sng">
            <a:solidFill>
              <a:srgbClr val="000000"/>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None/>
            </a:pPr>
            <a:r>
              <a:rPr lang="en-US" sz="2100"/>
              <a:t>class Switch {</a:t>
            </a:r>
            <a:endParaRPr sz="2100"/>
          </a:p>
          <a:p>
            <a:pPr marL="0" lvl="0" indent="0" algn="l" rtl="0">
              <a:lnSpc>
                <a:spcPct val="100000"/>
              </a:lnSpc>
              <a:spcBef>
                <a:spcPts val="0"/>
              </a:spcBef>
              <a:spcAft>
                <a:spcPts val="0"/>
              </a:spcAft>
              <a:buNone/>
            </a:pPr>
            <a:r>
              <a:rPr lang="en-US" sz="2100"/>
              <a:t> public static void main(String args[]) {</a:t>
            </a:r>
            <a:endParaRPr sz="2100"/>
          </a:p>
          <a:p>
            <a:pPr marL="0" lvl="0" indent="0" algn="l" rtl="0">
              <a:lnSpc>
                <a:spcPct val="100000"/>
              </a:lnSpc>
              <a:spcBef>
                <a:spcPts val="0"/>
              </a:spcBef>
              <a:spcAft>
                <a:spcPts val="0"/>
              </a:spcAft>
              <a:buNone/>
            </a:pPr>
            <a:r>
              <a:rPr lang="en-US" sz="2100"/>
              <a:t> int month = 4;</a:t>
            </a:r>
            <a:endParaRPr sz="2100"/>
          </a:p>
          <a:p>
            <a:pPr marL="0" lvl="0" indent="0" algn="l" rtl="0">
              <a:lnSpc>
                <a:spcPct val="100000"/>
              </a:lnSpc>
              <a:spcBef>
                <a:spcPts val="0"/>
              </a:spcBef>
              <a:spcAft>
                <a:spcPts val="0"/>
              </a:spcAft>
              <a:buNone/>
            </a:pPr>
            <a:r>
              <a:rPr lang="en-US" sz="2100"/>
              <a:t>String season;</a:t>
            </a:r>
            <a:endParaRPr sz="2100"/>
          </a:p>
          <a:p>
            <a:pPr marL="0" lvl="0" indent="0" algn="l" rtl="0">
              <a:lnSpc>
                <a:spcPct val="100000"/>
              </a:lnSpc>
              <a:spcBef>
                <a:spcPts val="0"/>
              </a:spcBef>
              <a:spcAft>
                <a:spcPts val="0"/>
              </a:spcAft>
              <a:buNone/>
            </a:pPr>
            <a:r>
              <a:rPr lang="en-US" sz="2100"/>
              <a:t> switch (month) {</a:t>
            </a:r>
            <a:endParaRPr sz="2100"/>
          </a:p>
          <a:p>
            <a:pPr marL="0" lvl="0" indent="0" algn="l" rtl="0">
              <a:lnSpc>
                <a:spcPct val="100000"/>
              </a:lnSpc>
              <a:spcBef>
                <a:spcPts val="0"/>
              </a:spcBef>
              <a:spcAft>
                <a:spcPts val="0"/>
              </a:spcAft>
              <a:buNone/>
            </a:pPr>
            <a:r>
              <a:rPr lang="en-US" sz="2100"/>
              <a:t> case 12:</a:t>
            </a:r>
            <a:endParaRPr sz="2100"/>
          </a:p>
          <a:p>
            <a:pPr marL="0" lvl="0" indent="0" algn="l" rtl="0">
              <a:lnSpc>
                <a:spcPct val="100000"/>
              </a:lnSpc>
              <a:spcBef>
                <a:spcPts val="0"/>
              </a:spcBef>
              <a:spcAft>
                <a:spcPts val="0"/>
              </a:spcAft>
              <a:buNone/>
            </a:pPr>
            <a:r>
              <a:rPr lang="en-US" sz="2100"/>
              <a:t> case 1:</a:t>
            </a:r>
            <a:endParaRPr sz="2100"/>
          </a:p>
          <a:p>
            <a:pPr marL="0" lvl="0" indent="0" algn="l" rtl="0">
              <a:lnSpc>
                <a:spcPct val="100000"/>
              </a:lnSpc>
              <a:spcBef>
                <a:spcPts val="0"/>
              </a:spcBef>
              <a:spcAft>
                <a:spcPts val="0"/>
              </a:spcAft>
              <a:buNone/>
            </a:pPr>
            <a:r>
              <a:rPr lang="en-US" sz="2100"/>
              <a:t> case 2:</a:t>
            </a:r>
            <a:endParaRPr sz="2100"/>
          </a:p>
          <a:p>
            <a:pPr marL="0" lvl="0" indent="0" algn="l" rtl="0">
              <a:lnSpc>
                <a:spcPct val="100000"/>
              </a:lnSpc>
              <a:spcBef>
                <a:spcPts val="0"/>
              </a:spcBef>
              <a:spcAft>
                <a:spcPts val="0"/>
              </a:spcAft>
              <a:buNone/>
            </a:pPr>
            <a:r>
              <a:rPr lang="en-US" sz="2100"/>
              <a:t> season = "Winter";</a:t>
            </a:r>
            <a:endParaRPr sz="2100"/>
          </a:p>
          <a:p>
            <a:pPr marL="0" lvl="0" indent="0" algn="l" rtl="0">
              <a:lnSpc>
                <a:spcPct val="100000"/>
              </a:lnSpc>
              <a:spcBef>
                <a:spcPts val="0"/>
              </a:spcBef>
              <a:spcAft>
                <a:spcPts val="0"/>
              </a:spcAft>
              <a:buNone/>
            </a:pPr>
            <a:r>
              <a:rPr lang="en-US" sz="2100"/>
              <a:t> break;</a:t>
            </a:r>
            <a:endParaRPr sz="2100"/>
          </a:p>
          <a:p>
            <a:pPr marL="0" lvl="0" indent="0" algn="l" rtl="0">
              <a:lnSpc>
                <a:spcPct val="100000"/>
              </a:lnSpc>
              <a:spcBef>
                <a:spcPts val="0"/>
              </a:spcBef>
              <a:spcAft>
                <a:spcPts val="0"/>
              </a:spcAft>
              <a:buNone/>
            </a:pPr>
            <a:r>
              <a:rPr lang="en-US" sz="2100"/>
              <a:t> case 3:</a:t>
            </a:r>
            <a:endParaRPr sz="2100"/>
          </a:p>
          <a:p>
            <a:pPr marL="0" lvl="0" indent="0" algn="l" rtl="0">
              <a:lnSpc>
                <a:spcPct val="100000"/>
              </a:lnSpc>
              <a:spcBef>
                <a:spcPts val="0"/>
              </a:spcBef>
              <a:spcAft>
                <a:spcPts val="0"/>
              </a:spcAft>
              <a:buNone/>
            </a:pPr>
            <a:r>
              <a:rPr lang="en-US" sz="2100"/>
              <a:t> case 4:</a:t>
            </a:r>
            <a:endParaRPr sz="2100"/>
          </a:p>
          <a:p>
            <a:pPr marL="0" lvl="0" indent="0" algn="l" rtl="0">
              <a:lnSpc>
                <a:spcPct val="100000"/>
              </a:lnSpc>
              <a:spcBef>
                <a:spcPts val="0"/>
              </a:spcBef>
              <a:spcAft>
                <a:spcPts val="0"/>
              </a:spcAft>
              <a:buNone/>
            </a:pPr>
            <a:r>
              <a:rPr lang="en-US" sz="2100"/>
              <a:t> case 5:</a:t>
            </a:r>
            <a:endParaRPr sz="2100"/>
          </a:p>
          <a:p>
            <a:pPr marL="0" lvl="0" indent="0" algn="l" rtl="0">
              <a:lnSpc>
                <a:spcPct val="100000"/>
              </a:lnSpc>
              <a:spcBef>
                <a:spcPts val="0"/>
              </a:spcBef>
              <a:spcAft>
                <a:spcPts val="0"/>
              </a:spcAft>
              <a:buNone/>
            </a:pPr>
            <a:r>
              <a:rPr lang="en-US" sz="2100"/>
              <a:t> season = "Spring";</a:t>
            </a:r>
            <a:endParaRPr sz="2100"/>
          </a:p>
          <a:p>
            <a:pPr marL="0" lvl="0" indent="0" algn="l" rtl="0">
              <a:lnSpc>
                <a:spcPct val="100000"/>
              </a:lnSpc>
              <a:spcBef>
                <a:spcPts val="0"/>
              </a:spcBef>
              <a:spcAft>
                <a:spcPts val="0"/>
              </a:spcAft>
              <a:buNone/>
            </a:pPr>
            <a:r>
              <a:rPr lang="en-US" sz="2100"/>
              <a:t> break;</a:t>
            </a:r>
            <a:endParaRPr sz="2100"/>
          </a:p>
          <a:p>
            <a:pPr marL="0" lvl="0" indent="0" algn="l" rtl="0">
              <a:lnSpc>
                <a:spcPct val="100000"/>
              </a:lnSpc>
              <a:spcBef>
                <a:spcPts val="0"/>
              </a:spcBef>
              <a:spcAft>
                <a:spcPts val="0"/>
              </a:spcAft>
              <a:buNone/>
            </a:pPr>
            <a:r>
              <a:rPr lang="en-US" sz="2100"/>
              <a:t> </a:t>
            </a:r>
            <a:endParaRPr sz="2100"/>
          </a:p>
        </p:txBody>
      </p:sp>
      <p:sp>
        <p:nvSpPr>
          <p:cNvPr id="1044" name="Google Shape;1044;g2a8aac945e6_0_470"/>
          <p:cNvSpPr txBox="1"/>
          <p:nvPr/>
        </p:nvSpPr>
        <p:spPr>
          <a:xfrm>
            <a:off x="5647000" y="868750"/>
            <a:ext cx="3000000" cy="5679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chemeClr val="dk1"/>
                </a:solidFill>
                <a:latin typeface="Calibri"/>
                <a:ea typeface="Calibri"/>
                <a:cs typeface="Calibri"/>
                <a:sym typeface="Calibri"/>
              </a:rPr>
              <a:t>case 6:</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case 7:</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case 8:</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season = "Summer";</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break;</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case 9:</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case 10:</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case 11:</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season = "Autumn";</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break;</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default:</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season = "Bogus Month";</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System.out.println("April is in the " + season + ".");</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marL="0" lvl="0" indent="0" algn="l" rtl="0">
              <a:spcBef>
                <a:spcPts val="0"/>
              </a:spcBef>
              <a:spcAft>
                <a:spcPts val="0"/>
              </a:spcAft>
              <a:buNone/>
            </a:pPr>
            <a:r>
              <a:rPr lang="en-US"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a8aac945e6_0_478"/>
          <p:cNvSpPr txBox="1">
            <a:spLocks noGrp="1"/>
          </p:cNvSpPr>
          <p:nvPr>
            <p:ph type="title"/>
          </p:nvPr>
        </p:nvSpPr>
        <p:spPr>
          <a:xfrm>
            <a:off x="838200" y="-56100"/>
            <a:ext cx="10515600" cy="622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Using Strings to control Switch</a:t>
            </a:r>
            <a:endParaRPr/>
          </a:p>
        </p:txBody>
      </p:sp>
      <p:sp>
        <p:nvSpPr>
          <p:cNvPr id="1050" name="Google Shape;1050;g2a8aac945e6_0_478"/>
          <p:cNvSpPr txBox="1">
            <a:spLocks noGrp="1"/>
          </p:cNvSpPr>
          <p:nvPr>
            <p:ph type="body" idx="1"/>
          </p:nvPr>
        </p:nvSpPr>
        <p:spPr>
          <a:xfrm>
            <a:off x="917175" y="496150"/>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beginning with JDK 7, you can use a string to control a switch statement.</a:t>
            </a:r>
            <a:endParaRPr/>
          </a:p>
        </p:txBody>
      </p:sp>
      <p:pic>
        <p:nvPicPr>
          <p:cNvPr id="1051" name="Google Shape;1051;g2a8aac945e6_0_478"/>
          <p:cNvPicPr preferRelativeResize="0"/>
          <p:nvPr/>
        </p:nvPicPr>
        <p:blipFill>
          <a:blip r:embed="rId3">
            <a:alphaModFix/>
          </a:blip>
          <a:stretch>
            <a:fillRect/>
          </a:stretch>
        </p:blipFill>
        <p:spPr>
          <a:xfrm>
            <a:off x="2628375" y="1011325"/>
            <a:ext cx="5901350" cy="56950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a8aac945e6_0_48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Nested switch Statements</a:t>
            </a:r>
            <a:endParaRPr/>
          </a:p>
        </p:txBody>
      </p:sp>
      <p:sp>
        <p:nvSpPr>
          <p:cNvPr id="1057" name="Google Shape;1057;g2a8aac945e6_0_48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Switch inside another switch is nested switch statement.</a:t>
            </a:r>
            <a:endParaRPr/>
          </a:p>
          <a:p>
            <a:pPr marL="0" lvl="0" indent="0" algn="l" rtl="0">
              <a:spcBef>
                <a:spcPts val="1000"/>
              </a:spcBef>
              <a:spcAft>
                <a:spcPts val="0"/>
              </a:spcAft>
              <a:buNone/>
            </a:pPr>
            <a:endParaRPr/>
          </a:p>
        </p:txBody>
      </p:sp>
      <p:pic>
        <p:nvPicPr>
          <p:cNvPr id="1058" name="Google Shape;1058;g2a8aac945e6_0_484"/>
          <p:cNvPicPr preferRelativeResize="0"/>
          <p:nvPr/>
        </p:nvPicPr>
        <p:blipFill>
          <a:blip r:embed="rId3">
            <a:alphaModFix/>
          </a:blip>
          <a:stretch>
            <a:fillRect/>
          </a:stretch>
        </p:blipFill>
        <p:spPr>
          <a:xfrm>
            <a:off x="838200" y="2223774"/>
            <a:ext cx="7296550" cy="43512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2a8aac945e6_0_491"/>
          <p:cNvSpPr txBox="1">
            <a:spLocks noGrp="1"/>
          </p:cNvSpPr>
          <p:nvPr>
            <p:ph type="body" idx="1"/>
          </p:nvPr>
        </p:nvSpPr>
        <p:spPr>
          <a:xfrm>
            <a:off x="838200" y="0"/>
            <a:ext cx="10515600" cy="6176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Three important features of the switch statement to note:</a:t>
            </a:r>
            <a:endParaRPr/>
          </a:p>
          <a:p>
            <a:pPr marL="0" lvl="0" indent="0" algn="l" rtl="0">
              <a:spcBef>
                <a:spcPts val="1000"/>
              </a:spcBef>
              <a:spcAft>
                <a:spcPts val="0"/>
              </a:spcAft>
              <a:buNone/>
            </a:pPr>
            <a:endParaRPr/>
          </a:p>
          <a:p>
            <a:pPr marL="0" lvl="0" indent="0" algn="l" rtl="0">
              <a:spcBef>
                <a:spcPts val="1000"/>
              </a:spcBef>
              <a:spcAft>
                <a:spcPts val="0"/>
              </a:spcAft>
              <a:buNone/>
            </a:pPr>
            <a:r>
              <a:rPr lang="en-US"/>
              <a:t>•	 The switch differs from the if stmt, switch can only test for equality, whereas if stmt can evaluate any type of Boolean expression. That is, the switch looks only for a match between the value of the expression and one of its case constants.</a:t>
            </a:r>
            <a:endParaRPr/>
          </a:p>
          <a:p>
            <a:pPr marL="0" lvl="0" indent="0" algn="l" rtl="0">
              <a:spcBef>
                <a:spcPts val="1000"/>
              </a:spcBef>
              <a:spcAft>
                <a:spcPts val="0"/>
              </a:spcAft>
              <a:buNone/>
            </a:pPr>
            <a:r>
              <a:rPr lang="en-US"/>
              <a:t>•	 No two case constants in the same switch can have identical values. Of course, a switch statement and an enclosing outer switch can have case constants in common.</a:t>
            </a:r>
            <a:endParaRPr/>
          </a:p>
          <a:p>
            <a:pPr marL="0" lvl="0" indent="0" algn="l" rtl="0">
              <a:spcBef>
                <a:spcPts val="1000"/>
              </a:spcBef>
              <a:spcAft>
                <a:spcPts val="0"/>
              </a:spcAft>
              <a:buNone/>
            </a:pPr>
            <a:r>
              <a:rPr lang="en-US"/>
              <a:t>•	 A switch statement is usually more efficient than a set of nested if stmts</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a8aac945e6_0_498"/>
          <p:cNvSpPr txBox="1">
            <a:spLocks noGrp="1"/>
          </p:cNvSpPr>
          <p:nvPr>
            <p:ph type="title"/>
          </p:nvPr>
        </p:nvSpPr>
        <p:spPr>
          <a:xfrm>
            <a:off x="0" y="0"/>
            <a:ext cx="4857300" cy="64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Iteration Statements</a:t>
            </a:r>
            <a:endParaRPr/>
          </a:p>
        </p:txBody>
      </p:sp>
      <p:sp>
        <p:nvSpPr>
          <p:cNvPr id="1069" name="Google Shape;1069;g2a8aac945e6_0_498"/>
          <p:cNvSpPr txBox="1">
            <a:spLocks noGrp="1"/>
          </p:cNvSpPr>
          <p:nvPr>
            <p:ph type="body" idx="1"/>
          </p:nvPr>
        </p:nvSpPr>
        <p:spPr>
          <a:xfrm>
            <a:off x="245875" y="645000"/>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while loop: (Entry Controlled)</a:t>
            </a:r>
            <a:endParaRPr/>
          </a:p>
          <a:p>
            <a:pPr marL="0" lvl="0" indent="0" algn="l" rtl="0">
              <a:spcBef>
                <a:spcPts val="1000"/>
              </a:spcBef>
              <a:spcAft>
                <a:spcPts val="0"/>
              </a:spcAft>
              <a:buNone/>
            </a:pPr>
            <a:r>
              <a:rPr lang="en-US">
                <a:solidFill>
                  <a:srgbClr val="980000"/>
                </a:solidFill>
              </a:rPr>
              <a:t>while(condition) {</a:t>
            </a:r>
            <a:endParaRPr>
              <a:solidFill>
                <a:srgbClr val="980000"/>
              </a:solidFill>
            </a:endParaRPr>
          </a:p>
          <a:p>
            <a:pPr marL="0" lvl="0" indent="0" algn="l" rtl="0">
              <a:spcBef>
                <a:spcPts val="1000"/>
              </a:spcBef>
              <a:spcAft>
                <a:spcPts val="0"/>
              </a:spcAft>
              <a:buNone/>
            </a:pPr>
            <a:r>
              <a:rPr lang="en-US">
                <a:solidFill>
                  <a:srgbClr val="980000"/>
                </a:solidFill>
              </a:rPr>
              <a:t> // body of loop</a:t>
            </a:r>
            <a:endParaRPr>
              <a:solidFill>
                <a:srgbClr val="980000"/>
              </a:solidFill>
            </a:endParaRPr>
          </a:p>
          <a:p>
            <a:pPr marL="0" lvl="0" indent="0" algn="l" rtl="0">
              <a:spcBef>
                <a:spcPts val="1000"/>
              </a:spcBef>
              <a:spcAft>
                <a:spcPts val="0"/>
              </a:spcAft>
              <a:buNone/>
            </a:pPr>
            <a:r>
              <a:rPr lang="en-US">
                <a:solidFill>
                  <a:srgbClr val="980000"/>
                </a:solidFill>
              </a:rPr>
              <a:t>}</a:t>
            </a:r>
            <a:endParaRPr>
              <a:solidFill>
                <a:srgbClr val="980000"/>
              </a:solidFill>
            </a:endParaRPr>
          </a:p>
        </p:txBody>
      </p:sp>
      <p:pic>
        <p:nvPicPr>
          <p:cNvPr id="1070" name="Google Shape;1070;g2a8aac945e6_0_498"/>
          <p:cNvPicPr preferRelativeResize="0"/>
          <p:nvPr/>
        </p:nvPicPr>
        <p:blipFill>
          <a:blip r:embed="rId3">
            <a:alphaModFix/>
          </a:blip>
          <a:stretch>
            <a:fillRect/>
          </a:stretch>
        </p:blipFill>
        <p:spPr>
          <a:xfrm>
            <a:off x="245875" y="2752250"/>
            <a:ext cx="6298649" cy="4000450"/>
          </a:xfrm>
          <a:prstGeom prst="rect">
            <a:avLst/>
          </a:prstGeom>
          <a:noFill/>
          <a:ln w="9525" cap="flat" cmpd="sng">
            <a:solidFill>
              <a:schemeClr val="dk2"/>
            </a:solidFill>
            <a:prstDash val="solid"/>
            <a:round/>
            <a:headEnd type="none" w="sm" len="sm"/>
            <a:tailEnd type="none" w="sm" len="sm"/>
          </a:ln>
        </p:spPr>
      </p:pic>
      <p:pic>
        <p:nvPicPr>
          <p:cNvPr id="1071" name="Google Shape;1071;g2a8aac945e6_0_498"/>
          <p:cNvPicPr preferRelativeResize="0"/>
          <p:nvPr/>
        </p:nvPicPr>
        <p:blipFill>
          <a:blip r:embed="rId4">
            <a:alphaModFix/>
          </a:blip>
          <a:stretch>
            <a:fillRect/>
          </a:stretch>
        </p:blipFill>
        <p:spPr>
          <a:xfrm>
            <a:off x="6628576" y="336150"/>
            <a:ext cx="5403350" cy="30994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a8aac945e6_0_50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Body of the while loop can be empty</a:t>
            </a:r>
            <a:endParaRPr/>
          </a:p>
        </p:txBody>
      </p:sp>
      <p:pic>
        <p:nvPicPr>
          <p:cNvPr id="1077" name="Google Shape;1077;g2a8aac945e6_0_507"/>
          <p:cNvPicPr preferRelativeResize="0"/>
          <p:nvPr/>
        </p:nvPicPr>
        <p:blipFill>
          <a:blip r:embed="rId3">
            <a:alphaModFix/>
          </a:blip>
          <a:stretch>
            <a:fillRect/>
          </a:stretch>
        </p:blipFill>
        <p:spPr>
          <a:xfrm>
            <a:off x="977775" y="1537103"/>
            <a:ext cx="10236450" cy="52594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a8aac945e6_0_513"/>
          <p:cNvSpPr txBox="1">
            <a:spLocks noGrp="1"/>
          </p:cNvSpPr>
          <p:nvPr>
            <p:ph type="title"/>
          </p:nvPr>
        </p:nvSpPr>
        <p:spPr>
          <a:xfrm>
            <a:off x="0" y="0"/>
            <a:ext cx="33873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do-while loop</a:t>
            </a:r>
            <a:endParaRPr/>
          </a:p>
        </p:txBody>
      </p:sp>
      <p:sp>
        <p:nvSpPr>
          <p:cNvPr id="1083" name="Google Shape;1083;g2a8aac945e6_0_513"/>
          <p:cNvSpPr txBox="1">
            <a:spLocks noGrp="1"/>
          </p:cNvSpPr>
          <p:nvPr>
            <p:ph type="body" idx="1"/>
          </p:nvPr>
        </p:nvSpPr>
        <p:spPr>
          <a:xfrm>
            <a:off x="101075" y="996325"/>
            <a:ext cx="37425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//Exit Controlled</a:t>
            </a:r>
            <a:endParaRPr/>
          </a:p>
          <a:p>
            <a:pPr marL="0" lvl="0" indent="0" algn="l" rtl="0">
              <a:spcBef>
                <a:spcPts val="1000"/>
              </a:spcBef>
              <a:spcAft>
                <a:spcPts val="0"/>
              </a:spcAft>
              <a:buNone/>
            </a:pPr>
            <a:r>
              <a:rPr lang="en-US"/>
              <a:t>do {</a:t>
            </a:r>
            <a:endParaRPr/>
          </a:p>
          <a:p>
            <a:pPr marL="0" lvl="0" indent="0" algn="l" rtl="0">
              <a:spcBef>
                <a:spcPts val="1000"/>
              </a:spcBef>
              <a:spcAft>
                <a:spcPts val="0"/>
              </a:spcAft>
              <a:buNone/>
            </a:pPr>
            <a:r>
              <a:rPr lang="en-US"/>
              <a:t> // body of loop</a:t>
            </a:r>
            <a:endParaRPr/>
          </a:p>
          <a:p>
            <a:pPr marL="0" lvl="0" indent="0" algn="l" rtl="0">
              <a:spcBef>
                <a:spcPts val="1000"/>
              </a:spcBef>
              <a:spcAft>
                <a:spcPts val="0"/>
              </a:spcAft>
              <a:buNone/>
            </a:pPr>
            <a:r>
              <a:rPr lang="en-US"/>
              <a:t>} while (condition);</a:t>
            </a:r>
            <a:endParaRPr/>
          </a:p>
        </p:txBody>
      </p:sp>
      <p:pic>
        <p:nvPicPr>
          <p:cNvPr id="1084" name="Google Shape;1084;g2a8aac945e6_0_513"/>
          <p:cNvPicPr preferRelativeResize="0"/>
          <p:nvPr/>
        </p:nvPicPr>
        <p:blipFill>
          <a:blip r:embed="rId3">
            <a:alphaModFix/>
          </a:blip>
          <a:stretch>
            <a:fillRect/>
          </a:stretch>
        </p:blipFill>
        <p:spPr>
          <a:xfrm>
            <a:off x="0" y="3153575"/>
            <a:ext cx="7303761" cy="3704425"/>
          </a:xfrm>
          <a:prstGeom prst="rect">
            <a:avLst/>
          </a:prstGeom>
          <a:noFill/>
          <a:ln w="9525" cap="flat" cmpd="sng">
            <a:solidFill>
              <a:schemeClr val="dk2"/>
            </a:solidFill>
            <a:prstDash val="solid"/>
            <a:round/>
            <a:headEnd type="none" w="sm" len="sm"/>
            <a:tailEnd type="none" w="sm" len="sm"/>
          </a:ln>
        </p:spPr>
      </p:pic>
      <p:pic>
        <p:nvPicPr>
          <p:cNvPr id="1085" name="Google Shape;1085;g2a8aac945e6_0_513"/>
          <p:cNvPicPr preferRelativeResize="0"/>
          <p:nvPr/>
        </p:nvPicPr>
        <p:blipFill>
          <a:blip r:embed="rId4">
            <a:alphaModFix/>
          </a:blip>
          <a:stretch>
            <a:fillRect/>
          </a:stretch>
        </p:blipFill>
        <p:spPr>
          <a:xfrm>
            <a:off x="4389093" y="1218625"/>
            <a:ext cx="7384975" cy="1387675"/>
          </a:xfrm>
          <a:prstGeom prst="rect">
            <a:avLst/>
          </a:prstGeom>
          <a:noFill/>
          <a:ln w="9525" cap="flat" cmpd="sng">
            <a:solidFill>
              <a:schemeClr val="dk2"/>
            </a:solidFill>
            <a:prstDash val="solid"/>
            <a:round/>
            <a:headEnd type="none" w="sm" len="sm"/>
            <a:tailEnd type="none" w="sm" len="sm"/>
          </a:ln>
        </p:spPr>
      </p:pic>
      <p:sp>
        <p:nvSpPr>
          <p:cNvPr id="1086" name="Google Shape;1086;g2a8aac945e6_0_513"/>
          <p:cNvSpPr txBox="1"/>
          <p:nvPr/>
        </p:nvSpPr>
        <p:spPr>
          <a:xfrm>
            <a:off x="4389100" y="603025"/>
            <a:ext cx="4646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Equivalent and Efficient Code</a:t>
            </a:r>
            <a:endParaRPr sz="2800">
              <a:solidFill>
                <a:schemeClr val="dk1"/>
              </a:solidFill>
              <a:latin typeface="Calibri"/>
              <a:ea typeface="Calibri"/>
              <a:cs typeface="Calibri"/>
              <a:sym typeface="Calibri"/>
            </a:endParaRPr>
          </a:p>
        </p:txBody>
      </p:sp>
      <p:sp>
        <p:nvSpPr>
          <p:cNvPr id="1087" name="Google Shape;1087;g2a8aac945e6_0_513"/>
          <p:cNvSpPr txBox="1"/>
          <p:nvPr/>
        </p:nvSpPr>
        <p:spPr>
          <a:xfrm>
            <a:off x="8108475" y="2606300"/>
            <a:ext cx="3593700" cy="4079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latin typeface="Calibri"/>
                <a:ea typeface="Calibri"/>
                <a:cs typeface="Calibri"/>
                <a:sym typeface="Calibri"/>
              </a:rPr>
              <a:t>Output:</a:t>
            </a:r>
            <a:br>
              <a:rPr lang="en-US" sz="2300">
                <a:solidFill>
                  <a:schemeClr val="dk1"/>
                </a:solidFill>
                <a:latin typeface="Calibri"/>
                <a:ea typeface="Calibri"/>
                <a:cs typeface="Calibri"/>
                <a:sym typeface="Calibri"/>
              </a:rPr>
            </a:br>
            <a:r>
              <a:rPr lang="en-US" sz="2300">
                <a:solidFill>
                  <a:schemeClr val="dk1"/>
                </a:solidFill>
                <a:latin typeface="Calibri"/>
                <a:ea typeface="Calibri"/>
                <a:cs typeface="Calibri"/>
                <a:sym typeface="Calibri"/>
              </a:rPr>
              <a:t>10</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9</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8</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7</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6</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5</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4</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3</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2</a:t>
            </a:r>
            <a:endParaRPr sz="2300">
              <a:solidFill>
                <a:schemeClr val="dk1"/>
              </a:solidFill>
              <a:latin typeface="Calibri"/>
              <a:ea typeface="Calibri"/>
              <a:cs typeface="Calibri"/>
              <a:sym typeface="Calibri"/>
            </a:endParaRPr>
          </a:p>
          <a:p>
            <a:pPr marL="0" lvl="0" indent="0" algn="l" rtl="0">
              <a:spcBef>
                <a:spcPts val="0"/>
              </a:spcBef>
              <a:spcAft>
                <a:spcPts val="0"/>
              </a:spcAft>
              <a:buNone/>
            </a:pPr>
            <a:r>
              <a:rPr lang="en-US" sz="2300">
                <a:solidFill>
                  <a:schemeClr val="dk1"/>
                </a:solidFill>
                <a:latin typeface="Calibri"/>
                <a:ea typeface="Calibri"/>
                <a:cs typeface="Calibri"/>
                <a:sym typeface="Calibri"/>
              </a:rPr>
              <a:t>1</a:t>
            </a:r>
            <a:endParaRPr sz="2300">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a8aac945e6_0_5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for loop</a:t>
            </a:r>
            <a:endParaRPr/>
          </a:p>
        </p:txBody>
      </p:sp>
      <p:sp>
        <p:nvSpPr>
          <p:cNvPr id="1093" name="Google Shape;1093;g2a8aac945e6_0_52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Before JDK5 there was only one for loop (traditional for loop).</a:t>
            </a:r>
            <a:endParaRPr/>
          </a:p>
          <a:p>
            <a:pPr marL="0" lvl="0" indent="0" algn="l" rtl="0">
              <a:spcBef>
                <a:spcPts val="1000"/>
              </a:spcBef>
              <a:spcAft>
                <a:spcPts val="0"/>
              </a:spcAft>
              <a:buNone/>
            </a:pPr>
            <a:r>
              <a:rPr lang="en-US"/>
              <a:t>Starting from JDK5 there is one more for loop added (for-each version).</a:t>
            </a:r>
            <a:endParaRPr/>
          </a:p>
          <a:p>
            <a:pPr marL="0" lvl="0" indent="0" algn="l" rtl="0">
              <a:spcBef>
                <a:spcPts val="1000"/>
              </a:spcBef>
              <a:spcAft>
                <a:spcPts val="0"/>
              </a:spcAft>
              <a:buNone/>
            </a:pPr>
            <a:endParaRPr/>
          </a:p>
          <a:p>
            <a:pPr marL="0" lvl="0" indent="0" algn="l" rtl="0">
              <a:spcBef>
                <a:spcPts val="1000"/>
              </a:spcBef>
              <a:spcAft>
                <a:spcPts val="0"/>
              </a:spcAft>
              <a:buNone/>
            </a:pPr>
            <a:r>
              <a:rPr lang="en-US"/>
              <a:t>Here is the general form of the traditional for statement:</a:t>
            </a:r>
            <a:endParaRPr/>
          </a:p>
          <a:p>
            <a:pPr marL="0" lvl="0" indent="0" algn="l" rtl="0">
              <a:spcBef>
                <a:spcPts val="1000"/>
              </a:spcBef>
              <a:spcAft>
                <a:spcPts val="0"/>
              </a:spcAft>
              <a:buNone/>
            </a:pPr>
            <a:r>
              <a:rPr lang="en-US"/>
              <a:t>for(initialization; condition; iteration) {</a:t>
            </a:r>
            <a:endParaRPr/>
          </a:p>
          <a:p>
            <a:pPr marL="0" lvl="0" indent="0" algn="l" rtl="0">
              <a:spcBef>
                <a:spcPts val="1000"/>
              </a:spcBef>
              <a:spcAft>
                <a:spcPts val="0"/>
              </a:spcAft>
              <a:buNone/>
            </a:pPr>
            <a:r>
              <a:rPr lang="en-US"/>
              <a:t> // body</a:t>
            </a:r>
            <a:endParaRPr/>
          </a:p>
          <a:p>
            <a:pPr marL="0" lvl="0" indent="0" algn="l" rtl="0">
              <a:spcBef>
                <a:spcPts val="1000"/>
              </a:spcBef>
              <a:spcAft>
                <a:spcPts val="0"/>
              </a:spcAft>
              <a:buNone/>
            </a:pPr>
            <a:r>
              <a:rPr lang="en-US"/>
              <a:t>}</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a8aac945e6_0_52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 on traditional for</a:t>
            </a:r>
            <a:endParaRPr/>
          </a:p>
        </p:txBody>
      </p:sp>
      <p:sp>
        <p:nvSpPr>
          <p:cNvPr id="1099" name="Google Shape;1099;g2a8aac945e6_0_52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 Demonstrate the for loop.</a:t>
            </a:r>
            <a:endParaRPr/>
          </a:p>
          <a:p>
            <a:pPr marL="0" lvl="0" indent="0" algn="l" rtl="0">
              <a:spcBef>
                <a:spcPts val="1000"/>
              </a:spcBef>
              <a:spcAft>
                <a:spcPts val="0"/>
              </a:spcAft>
              <a:buNone/>
            </a:pPr>
            <a:r>
              <a:rPr lang="en-US"/>
              <a:t>class ForTick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 int n;</a:t>
            </a:r>
            <a:endParaRPr/>
          </a:p>
          <a:p>
            <a:pPr marL="0" lvl="0" indent="0" algn="l" rtl="0">
              <a:spcBef>
                <a:spcPts val="1000"/>
              </a:spcBef>
              <a:spcAft>
                <a:spcPts val="0"/>
              </a:spcAft>
              <a:buNone/>
            </a:pPr>
            <a:r>
              <a:rPr lang="en-US"/>
              <a:t> for(n=10; n&gt;0; n--)</a:t>
            </a:r>
            <a:endParaRPr/>
          </a:p>
          <a:p>
            <a:pPr marL="0" lvl="0" indent="0" algn="l" rtl="0">
              <a:spcBef>
                <a:spcPts val="1000"/>
              </a:spcBef>
              <a:spcAft>
                <a:spcPts val="0"/>
              </a:spcAft>
              <a:buNone/>
            </a:pPr>
            <a:r>
              <a:rPr lang="en-US"/>
              <a:t>System.out.println("tick " + n); }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a8aac945e6_0_5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Declaring Loop Control Variables Inside the for Loop</a:t>
            </a:r>
            <a:endParaRPr/>
          </a:p>
        </p:txBody>
      </p:sp>
      <p:pic>
        <p:nvPicPr>
          <p:cNvPr id="1105" name="Google Shape;1105;g2a8aac945e6_0_535"/>
          <p:cNvPicPr preferRelativeResize="0"/>
          <p:nvPr/>
        </p:nvPicPr>
        <p:blipFill>
          <a:blip r:embed="rId3">
            <a:alphaModFix/>
          </a:blip>
          <a:stretch>
            <a:fillRect/>
          </a:stretch>
        </p:blipFill>
        <p:spPr>
          <a:xfrm>
            <a:off x="152400" y="1843225"/>
            <a:ext cx="11666749" cy="43303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a8aac945e6_0_542"/>
          <p:cNvSpPr txBox="1">
            <a:spLocks noGrp="1"/>
          </p:cNvSpPr>
          <p:nvPr>
            <p:ph type="title"/>
          </p:nvPr>
        </p:nvSpPr>
        <p:spPr>
          <a:xfrm>
            <a:off x="838200" y="0"/>
            <a:ext cx="10515600" cy="609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FindPrime example using traditional for</a:t>
            </a:r>
            <a:endParaRPr/>
          </a:p>
        </p:txBody>
      </p:sp>
      <p:pic>
        <p:nvPicPr>
          <p:cNvPr id="1111" name="Google Shape;1111;g2a8aac945e6_0_542"/>
          <p:cNvPicPr preferRelativeResize="0"/>
          <p:nvPr/>
        </p:nvPicPr>
        <p:blipFill>
          <a:blip r:embed="rId3">
            <a:alphaModFix/>
          </a:blip>
          <a:stretch>
            <a:fillRect/>
          </a:stretch>
        </p:blipFill>
        <p:spPr>
          <a:xfrm>
            <a:off x="139250" y="711175"/>
            <a:ext cx="6903025" cy="598112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2a8aac945e6_0_54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Using the Comma in for loop</a:t>
            </a:r>
            <a:endParaRPr/>
          </a:p>
        </p:txBody>
      </p:sp>
      <p:pic>
        <p:nvPicPr>
          <p:cNvPr id="1117" name="Google Shape;1117;g2a8aac945e6_0_549"/>
          <p:cNvPicPr preferRelativeResize="0"/>
          <p:nvPr/>
        </p:nvPicPr>
        <p:blipFill>
          <a:blip r:embed="rId3">
            <a:alphaModFix/>
          </a:blip>
          <a:stretch>
            <a:fillRect/>
          </a:stretch>
        </p:blipFill>
        <p:spPr>
          <a:xfrm>
            <a:off x="838211" y="1540161"/>
            <a:ext cx="9890025" cy="48308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2a8aac945e6_0_55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Some for Loop Variations</a:t>
            </a:r>
            <a:endParaRPr/>
          </a:p>
        </p:txBody>
      </p:sp>
      <p:pic>
        <p:nvPicPr>
          <p:cNvPr id="1123" name="Google Shape;1123;g2a8aac945e6_0_556"/>
          <p:cNvPicPr preferRelativeResize="0"/>
          <p:nvPr/>
        </p:nvPicPr>
        <p:blipFill>
          <a:blip r:embed="rId3">
            <a:alphaModFix/>
          </a:blip>
          <a:stretch>
            <a:fillRect/>
          </a:stretch>
        </p:blipFill>
        <p:spPr>
          <a:xfrm>
            <a:off x="165550" y="1369350"/>
            <a:ext cx="8587950" cy="534462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2a8aac945e6_0_56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For-Each Version of the for Loop</a:t>
            </a:r>
            <a:endParaRPr/>
          </a:p>
        </p:txBody>
      </p:sp>
      <p:sp>
        <p:nvSpPr>
          <p:cNvPr id="1129" name="Google Shape;1129;g2a8aac945e6_0_56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l" rtl="0">
              <a:spcBef>
                <a:spcPts val="1000"/>
              </a:spcBef>
              <a:spcAft>
                <a:spcPts val="0"/>
              </a:spcAft>
              <a:buNone/>
            </a:pPr>
            <a:r>
              <a:rPr lang="en-US"/>
              <a:t>Languages, such as C#, implements a for-each loop by using the keyword </a:t>
            </a:r>
            <a:r>
              <a:rPr lang="en-US">
                <a:solidFill>
                  <a:srgbClr val="980000"/>
                </a:solidFill>
              </a:rPr>
              <a:t>foreach</a:t>
            </a:r>
            <a:endParaRPr>
              <a:solidFill>
                <a:srgbClr val="980000"/>
              </a:solidFill>
            </a:endParaRPr>
          </a:p>
          <a:p>
            <a:pPr marL="0" lvl="0" indent="0" algn="l" rtl="0">
              <a:spcBef>
                <a:spcPts val="1000"/>
              </a:spcBef>
              <a:spcAft>
                <a:spcPts val="0"/>
              </a:spcAft>
              <a:buNone/>
            </a:pPr>
            <a:endParaRPr/>
          </a:p>
          <a:p>
            <a:pPr marL="0" lvl="0" indent="0" algn="l" rtl="0">
              <a:spcBef>
                <a:spcPts val="1000"/>
              </a:spcBef>
              <a:spcAft>
                <a:spcPts val="0"/>
              </a:spcAft>
              <a:buNone/>
            </a:pPr>
            <a:r>
              <a:rPr lang="en-US"/>
              <a:t>Java adds the for-each capability by enhancing the for statement.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The advantage of this approach is that no new keyword is required, and </a:t>
            </a:r>
            <a:endParaRPr/>
          </a:p>
          <a:p>
            <a:pPr marL="0" lvl="0" indent="0" algn="l" rtl="0">
              <a:spcBef>
                <a:spcPts val="1000"/>
              </a:spcBef>
              <a:spcAft>
                <a:spcPts val="0"/>
              </a:spcAft>
              <a:buNone/>
            </a:pPr>
            <a:r>
              <a:rPr lang="en-US"/>
              <a:t>no preexisting code is broken.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The for-each style of for is also referred to as the enhanced for loop.</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2a8aac945e6_0_570"/>
          <p:cNvSpPr txBox="1">
            <a:spLocks noGrp="1"/>
          </p:cNvSpPr>
          <p:nvPr>
            <p:ph type="body" idx="1"/>
          </p:nvPr>
        </p:nvSpPr>
        <p:spPr>
          <a:xfrm>
            <a:off x="838200" y="315925"/>
            <a:ext cx="10515600" cy="5860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The general form of the for-each version of the for is shown here:</a:t>
            </a:r>
            <a:endParaRPr/>
          </a:p>
          <a:p>
            <a:pPr marL="0" lvl="0" indent="0" algn="l" rtl="0">
              <a:spcBef>
                <a:spcPts val="1000"/>
              </a:spcBef>
              <a:spcAft>
                <a:spcPts val="0"/>
              </a:spcAft>
              <a:buNone/>
            </a:pPr>
            <a:endParaRPr/>
          </a:p>
          <a:p>
            <a:pPr marL="0" lvl="0" indent="0" algn="l" rtl="0">
              <a:spcBef>
                <a:spcPts val="1000"/>
              </a:spcBef>
              <a:spcAft>
                <a:spcPts val="0"/>
              </a:spcAft>
              <a:buNone/>
            </a:pPr>
            <a:r>
              <a:rPr lang="en-US">
                <a:solidFill>
                  <a:srgbClr val="980000"/>
                </a:solidFill>
              </a:rPr>
              <a:t>for(type itr-var : collection) statement-block</a:t>
            </a:r>
            <a:endParaRPr>
              <a:solidFill>
                <a:srgbClr val="980000"/>
              </a:solidFill>
            </a:endParaRPr>
          </a:p>
        </p:txBody>
      </p:sp>
      <p:pic>
        <p:nvPicPr>
          <p:cNvPr id="1135" name="Google Shape;1135;g2a8aac945e6_0_570"/>
          <p:cNvPicPr preferRelativeResize="0"/>
          <p:nvPr/>
        </p:nvPicPr>
        <p:blipFill>
          <a:blip r:embed="rId3">
            <a:alphaModFix/>
          </a:blip>
          <a:stretch>
            <a:fillRect/>
          </a:stretch>
        </p:blipFill>
        <p:spPr>
          <a:xfrm>
            <a:off x="1291200" y="2464850"/>
            <a:ext cx="8711350" cy="1694700"/>
          </a:xfrm>
          <a:prstGeom prst="rect">
            <a:avLst/>
          </a:prstGeom>
          <a:noFill/>
          <a:ln w="9525" cap="flat" cmpd="sng">
            <a:solidFill>
              <a:schemeClr val="dk2"/>
            </a:solidFill>
            <a:prstDash val="solid"/>
            <a:round/>
            <a:headEnd type="none" w="sm" len="sm"/>
            <a:tailEnd type="none" w="sm" len="sm"/>
          </a:ln>
        </p:spPr>
      </p:pic>
      <p:sp>
        <p:nvSpPr>
          <p:cNvPr id="1136" name="Google Shape;1136;g2a8aac945e6_0_570"/>
          <p:cNvSpPr txBox="1"/>
          <p:nvPr/>
        </p:nvSpPr>
        <p:spPr>
          <a:xfrm>
            <a:off x="3159150" y="1849250"/>
            <a:ext cx="75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Using tradition for loop</a:t>
            </a:r>
            <a:endParaRPr sz="2800">
              <a:solidFill>
                <a:schemeClr val="dk1"/>
              </a:solidFill>
              <a:latin typeface="Calibri"/>
              <a:ea typeface="Calibri"/>
              <a:cs typeface="Calibri"/>
              <a:sym typeface="Calibri"/>
            </a:endParaRPr>
          </a:p>
        </p:txBody>
      </p:sp>
      <p:sp>
        <p:nvSpPr>
          <p:cNvPr id="1137" name="Google Shape;1137;g2a8aac945e6_0_570"/>
          <p:cNvSpPr txBox="1"/>
          <p:nvPr/>
        </p:nvSpPr>
        <p:spPr>
          <a:xfrm>
            <a:off x="1855925" y="4278875"/>
            <a:ext cx="75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Using for-each version</a:t>
            </a:r>
            <a:endParaRPr sz="2800">
              <a:solidFill>
                <a:schemeClr val="dk1"/>
              </a:solidFill>
              <a:latin typeface="Calibri"/>
              <a:ea typeface="Calibri"/>
              <a:cs typeface="Calibri"/>
              <a:sym typeface="Calibri"/>
            </a:endParaRPr>
          </a:p>
        </p:txBody>
      </p:sp>
      <p:pic>
        <p:nvPicPr>
          <p:cNvPr id="1138" name="Google Shape;1138;g2a8aac945e6_0_570"/>
          <p:cNvPicPr preferRelativeResize="0"/>
          <p:nvPr/>
        </p:nvPicPr>
        <p:blipFill>
          <a:blip r:embed="rId4">
            <a:alphaModFix/>
          </a:blip>
          <a:stretch>
            <a:fillRect/>
          </a:stretch>
        </p:blipFill>
        <p:spPr>
          <a:xfrm>
            <a:off x="1291207" y="4894475"/>
            <a:ext cx="8711350" cy="153816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2a8aac945e6_0_58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a:t>
            </a:r>
            <a:endParaRPr/>
          </a:p>
        </p:txBody>
      </p:sp>
      <p:pic>
        <p:nvPicPr>
          <p:cNvPr id="1144" name="Google Shape;1144;g2a8aac945e6_0_580"/>
          <p:cNvPicPr preferRelativeResize="0"/>
          <p:nvPr/>
        </p:nvPicPr>
        <p:blipFill>
          <a:blip r:embed="rId3">
            <a:alphaModFix/>
          </a:blip>
          <a:stretch>
            <a:fillRect/>
          </a:stretch>
        </p:blipFill>
        <p:spPr>
          <a:xfrm>
            <a:off x="152400" y="1843225"/>
            <a:ext cx="7691425" cy="4830500"/>
          </a:xfrm>
          <a:prstGeom prst="rect">
            <a:avLst/>
          </a:prstGeom>
          <a:noFill/>
          <a:ln w="9525" cap="flat" cmpd="sng">
            <a:solidFill>
              <a:schemeClr val="dk2"/>
            </a:solidFill>
            <a:prstDash val="solid"/>
            <a:round/>
            <a:headEnd type="none" w="sm" len="sm"/>
            <a:tailEnd type="none" w="sm" len="sm"/>
          </a:ln>
        </p:spPr>
      </p:pic>
      <p:pic>
        <p:nvPicPr>
          <p:cNvPr id="1145" name="Google Shape;1145;g2a8aac945e6_0_580"/>
          <p:cNvPicPr preferRelativeResize="0"/>
          <p:nvPr/>
        </p:nvPicPr>
        <p:blipFill>
          <a:blip r:embed="rId4">
            <a:alphaModFix/>
          </a:blip>
          <a:stretch>
            <a:fillRect/>
          </a:stretch>
        </p:blipFill>
        <p:spPr>
          <a:xfrm>
            <a:off x="7996225" y="1843225"/>
            <a:ext cx="4043375" cy="36721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a8aac945e6_0_58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Use break with a for-each style for.</a:t>
            </a:r>
            <a:endParaRPr/>
          </a:p>
        </p:txBody>
      </p:sp>
      <p:sp>
        <p:nvSpPr>
          <p:cNvPr id="1151" name="Google Shape;1151;g2a8aac945e6_0_587"/>
          <p:cNvSpPr txBox="1">
            <a:spLocks noGrp="1"/>
          </p:cNvSpPr>
          <p:nvPr>
            <p:ph type="body" idx="1"/>
          </p:nvPr>
        </p:nvSpPr>
        <p:spPr>
          <a:xfrm>
            <a:off x="838200" y="1825625"/>
            <a:ext cx="7270200" cy="4351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sz="2300"/>
              <a:t>class ForEach2 {</a:t>
            </a:r>
            <a:endParaRPr sz="2300"/>
          </a:p>
          <a:p>
            <a:pPr marL="0" lvl="0" indent="0" algn="l" rtl="0">
              <a:spcBef>
                <a:spcPts val="0"/>
              </a:spcBef>
              <a:spcAft>
                <a:spcPts val="0"/>
              </a:spcAft>
              <a:buNone/>
            </a:pPr>
            <a:r>
              <a:rPr lang="en-US" sz="2300"/>
              <a:t> public static void main(String args[]) {</a:t>
            </a:r>
            <a:endParaRPr sz="2300"/>
          </a:p>
          <a:p>
            <a:pPr marL="0" lvl="0" indent="0" algn="l" rtl="0">
              <a:spcBef>
                <a:spcPts val="0"/>
              </a:spcBef>
              <a:spcAft>
                <a:spcPts val="0"/>
              </a:spcAft>
              <a:buNone/>
            </a:pPr>
            <a:r>
              <a:rPr lang="en-US" sz="2300"/>
              <a:t> int sum = 0;</a:t>
            </a:r>
            <a:endParaRPr sz="2300"/>
          </a:p>
          <a:p>
            <a:pPr marL="0" lvl="0" indent="0" algn="l" rtl="0">
              <a:spcBef>
                <a:spcPts val="0"/>
              </a:spcBef>
              <a:spcAft>
                <a:spcPts val="0"/>
              </a:spcAft>
              <a:buNone/>
            </a:pPr>
            <a:r>
              <a:rPr lang="en-US" sz="2200"/>
              <a:t>int nums[] = { 1, 2, 3, 4, 5, 6, 7, 8, 9, 10 };</a:t>
            </a:r>
            <a:endParaRPr sz="2200"/>
          </a:p>
          <a:p>
            <a:pPr marL="0" lvl="0" indent="0" algn="l" rtl="0">
              <a:spcBef>
                <a:spcPts val="0"/>
              </a:spcBef>
              <a:spcAft>
                <a:spcPts val="0"/>
              </a:spcAft>
              <a:buNone/>
            </a:pPr>
            <a:r>
              <a:rPr lang="en-US" sz="2200"/>
              <a:t> // use for to display and sum the values</a:t>
            </a:r>
            <a:endParaRPr sz="2200"/>
          </a:p>
          <a:p>
            <a:pPr marL="0" lvl="0" indent="0" algn="l" rtl="0">
              <a:spcBef>
                <a:spcPts val="0"/>
              </a:spcBef>
              <a:spcAft>
                <a:spcPts val="0"/>
              </a:spcAft>
              <a:buNone/>
            </a:pPr>
            <a:r>
              <a:rPr lang="en-US" sz="2200"/>
              <a:t> for(int x : nums) {</a:t>
            </a:r>
            <a:endParaRPr sz="2200"/>
          </a:p>
          <a:p>
            <a:pPr marL="0" lvl="0" indent="0" algn="l" rtl="0">
              <a:spcBef>
                <a:spcPts val="0"/>
              </a:spcBef>
              <a:spcAft>
                <a:spcPts val="0"/>
              </a:spcAft>
              <a:buNone/>
            </a:pPr>
            <a:r>
              <a:rPr lang="en-US" sz="2200"/>
              <a:t> System.out.println("Value is: " + x);</a:t>
            </a:r>
            <a:endParaRPr sz="2200"/>
          </a:p>
          <a:p>
            <a:pPr marL="0" lvl="0" indent="0" algn="l" rtl="0">
              <a:spcBef>
                <a:spcPts val="0"/>
              </a:spcBef>
              <a:spcAft>
                <a:spcPts val="0"/>
              </a:spcAft>
              <a:buNone/>
            </a:pPr>
            <a:r>
              <a:rPr lang="en-US" sz="2200"/>
              <a:t> sum += x;</a:t>
            </a:r>
            <a:endParaRPr sz="2200"/>
          </a:p>
          <a:p>
            <a:pPr marL="0" lvl="0" indent="0" algn="l" rtl="0">
              <a:spcBef>
                <a:spcPts val="0"/>
              </a:spcBef>
              <a:spcAft>
                <a:spcPts val="0"/>
              </a:spcAft>
              <a:buNone/>
            </a:pPr>
            <a:r>
              <a:rPr lang="en-US" sz="2200"/>
              <a:t> if(x == 5) break; // stop the loop when 5 is obtained</a:t>
            </a:r>
            <a:endParaRPr sz="2200"/>
          </a:p>
          <a:p>
            <a:pPr marL="0" lvl="0" indent="0" algn="l" rtl="0">
              <a:spcBef>
                <a:spcPts val="0"/>
              </a:spcBef>
              <a:spcAft>
                <a:spcPts val="0"/>
              </a:spcAft>
              <a:buNone/>
            </a:pPr>
            <a:r>
              <a:rPr lang="en-US" sz="2200"/>
              <a:t> }</a:t>
            </a:r>
            <a:endParaRPr sz="2200"/>
          </a:p>
          <a:p>
            <a:pPr marL="0" lvl="0" indent="0" algn="l" rtl="0">
              <a:spcBef>
                <a:spcPts val="0"/>
              </a:spcBef>
              <a:spcAft>
                <a:spcPts val="0"/>
              </a:spcAft>
              <a:buNone/>
            </a:pPr>
            <a:r>
              <a:rPr lang="en-US" sz="2200"/>
              <a:t> System.out.println("Summation of first 5 elements: " + sum);</a:t>
            </a:r>
            <a:endParaRPr sz="2200"/>
          </a:p>
          <a:p>
            <a:pPr marL="0" lvl="0" indent="0" algn="l" rtl="0">
              <a:spcBef>
                <a:spcPts val="0"/>
              </a:spcBef>
              <a:spcAft>
                <a:spcPts val="0"/>
              </a:spcAft>
              <a:buNone/>
            </a:pPr>
            <a:r>
              <a:rPr lang="en-US" sz="2200"/>
              <a:t> }</a:t>
            </a:r>
            <a:endParaRPr sz="2200"/>
          </a:p>
          <a:p>
            <a:pPr marL="0" lvl="0" indent="0" algn="l" rtl="0">
              <a:spcBef>
                <a:spcPts val="0"/>
              </a:spcBef>
              <a:spcAft>
                <a:spcPts val="0"/>
              </a:spcAft>
              <a:buNone/>
            </a:pPr>
            <a:r>
              <a:rPr lang="en-US" sz="2200"/>
              <a:t>}</a:t>
            </a:r>
            <a:endParaRPr sz="2200"/>
          </a:p>
        </p:txBody>
      </p:sp>
      <p:pic>
        <p:nvPicPr>
          <p:cNvPr id="1152" name="Google Shape;1152;g2a8aac945e6_0_587"/>
          <p:cNvPicPr preferRelativeResize="0"/>
          <p:nvPr/>
        </p:nvPicPr>
        <p:blipFill>
          <a:blip r:embed="rId3">
            <a:alphaModFix/>
          </a:blip>
          <a:stretch>
            <a:fillRect/>
          </a:stretch>
        </p:blipFill>
        <p:spPr>
          <a:xfrm>
            <a:off x="7911050" y="1690825"/>
            <a:ext cx="4280950" cy="32848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g2a8aac945e6_0_594"/>
          <p:cNvSpPr txBox="1">
            <a:spLocks noGrp="1"/>
          </p:cNvSpPr>
          <p:nvPr>
            <p:ph type="title"/>
          </p:nvPr>
        </p:nvSpPr>
        <p:spPr>
          <a:xfrm>
            <a:off x="838200" y="0"/>
            <a:ext cx="10515600" cy="766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The for-each loop is essentially read-only</a:t>
            </a:r>
            <a:endParaRPr/>
          </a:p>
        </p:txBody>
      </p:sp>
      <p:pic>
        <p:nvPicPr>
          <p:cNvPr id="1158" name="Google Shape;1158;g2a8aac945e6_0_594"/>
          <p:cNvPicPr preferRelativeResize="0"/>
          <p:nvPr/>
        </p:nvPicPr>
        <p:blipFill>
          <a:blip r:embed="rId3">
            <a:alphaModFix/>
          </a:blip>
          <a:stretch>
            <a:fillRect/>
          </a:stretch>
        </p:blipFill>
        <p:spPr>
          <a:xfrm>
            <a:off x="152400" y="919200"/>
            <a:ext cx="8468499" cy="5741350"/>
          </a:xfrm>
          <a:prstGeom prst="rect">
            <a:avLst/>
          </a:prstGeom>
          <a:noFill/>
          <a:ln w="9525" cap="flat" cmpd="sng">
            <a:solidFill>
              <a:schemeClr val="dk2"/>
            </a:solidFill>
            <a:prstDash val="solid"/>
            <a:round/>
            <a:headEnd type="none" w="sm" len="sm"/>
            <a:tailEnd type="none" w="sm" len="sm"/>
          </a:ln>
        </p:spPr>
      </p:pic>
      <p:pic>
        <p:nvPicPr>
          <p:cNvPr id="1159" name="Google Shape;1159;g2a8aac945e6_0_594"/>
          <p:cNvPicPr preferRelativeResize="0"/>
          <p:nvPr/>
        </p:nvPicPr>
        <p:blipFill>
          <a:blip r:embed="rId4">
            <a:alphaModFix/>
          </a:blip>
          <a:stretch>
            <a:fillRect/>
          </a:stretch>
        </p:blipFill>
        <p:spPr>
          <a:xfrm>
            <a:off x="8819300" y="4230450"/>
            <a:ext cx="3372700" cy="15218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g2a8aac945e6_0_610"/>
          <p:cNvSpPr txBox="1">
            <a:spLocks noGrp="1"/>
          </p:cNvSpPr>
          <p:nvPr>
            <p:ph type="title"/>
          </p:nvPr>
        </p:nvSpPr>
        <p:spPr>
          <a:xfrm>
            <a:off x="838200" y="0"/>
            <a:ext cx="10515600" cy="727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t>Use for-each style for on a two-dimensional array.</a:t>
            </a:r>
            <a:endParaRPr sz="3600"/>
          </a:p>
        </p:txBody>
      </p:sp>
      <p:pic>
        <p:nvPicPr>
          <p:cNvPr id="1165" name="Google Shape;1165;g2a8aac945e6_0_610"/>
          <p:cNvPicPr preferRelativeResize="0"/>
          <p:nvPr/>
        </p:nvPicPr>
        <p:blipFill>
          <a:blip r:embed="rId3">
            <a:alphaModFix/>
          </a:blip>
          <a:stretch>
            <a:fillRect/>
          </a:stretch>
        </p:blipFill>
        <p:spPr>
          <a:xfrm>
            <a:off x="152400" y="879900"/>
            <a:ext cx="7461026" cy="5714824"/>
          </a:xfrm>
          <a:prstGeom prst="rect">
            <a:avLst/>
          </a:prstGeom>
          <a:noFill/>
          <a:ln w="19050" cap="flat" cmpd="sng">
            <a:solidFill>
              <a:schemeClr val="dk2"/>
            </a:solidFill>
            <a:prstDash val="solid"/>
            <a:round/>
            <a:headEnd type="none" w="sm" len="sm"/>
            <a:tailEnd type="none" w="sm" len="sm"/>
          </a:ln>
        </p:spPr>
      </p:pic>
      <p:sp>
        <p:nvSpPr>
          <p:cNvPr id="1166" name="Google Shape;1166;g2a8aac945e6_0_610"/>
          <p:cNvSpPr txBox="1"/>
          <p:nvPr/>
        </p:nvSpPr>
        <p:spPr>
          <a:xfrm>
            <a:off x="8134825" y="879900"/>
            <a:ext cx="3000000" cy="406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The output from this program is shown here:</a:t>
            </a:r>
            <a:endParaRPr/>
          </a:p>
          <a:p>
            <a:pPr marL="0" lvl="0" indent="0" algn="l" rtl="0">
              <a:spcBef>
                <a:spcPts val="0"/>
              </a:spcBef>
              <a:spcAft>
                <a:spcPts val="0"/>
              </a:spcAft>
              <a:buNone/>
            </a:pPr>
            <a:r>
              <a:rPr lang="en-US"/>
              <a:t> Value is: 1</a:t>
            </a:r>
            <a:endParaRPr/>
          </a:p>
          <a:p>
            <a:pPr marL="0" lvl="0" indent="0" algn="l" rtl="0">
              <a:spcBef>
                <a:spcPts val="0"/>
              </a:spcBef>
              <a:spcAft>
                <a:spcPts val="0"/>
              </a:spcAft>
              <a:buNone/>
            </a:pPr>
            <a:r>
              <a:rPr lang="en-US"/>
              <a:t> Value is: 2</a:t>
            </a:r>
            <a:endParaRPr/>
          </a:p>
          <a:p>
            <a:pPr marL="0" lvl="0" indent="0" algn="l" rtl="0">
              <a:spcBef>
                <a:spcPts val="0"/>
              </a:spcBef>
              <a:spcAft>
                <a:spcPts val="0"/>
              </a:spcAft>
              <a:buNone/>
            </a:pPr>
            <a:r>
              <a:rPr lang="en-US"/>
              <a:t> Value is: 3</a:t>
            </a:r>
            <a:endParaRPr/>
          </a:p>
          <a:p>
            <a:pPr marL="0" lvl="0" indent="0" algn="l" rtl="0">
              <a:spcBef>
                <a:spcPts val="0"/>
              </a:spcBef>
              <a:spcAft>
                <a:spcPts val="0"/>
              </a:spcAft>
              <a:buNone/>
            </a:pPr>
            <a:r>
              <a:rPr lang="en-US"/>
              <a:t> Value is: 4</a:t>
            </a:r>
            <a:endParaRPr/>
          </a:p>
          <a:p>
            <a:pPr marL="0" lvl="0" indent="0" algn="l" rtl="0">
              <a:spcBef>
                <a:spcPts val="0"/>
              </a:spcBef>
              <a:spcAft>
                <a:spcPts val="0"/>
              </a:spcAft>
              <a:buNone/>
            </a:pPr>
            <a:r>
              <a:rPr lang="en-US"/>
              <a:t> Value is: 5</a:t>
            </a:r>
            <a:endParaRPr/>
          </a:p>
          <a:p>
            <a:pPr marL="0" lvl="0" indent="0" algn="l" rtl="0">
              <a:spcBef>
                <a:spcPts val="0"/>
              </a:spcBef>
              <a:spcAft>
                <a:spcPts val="0"/>
              </a:spcAft>
              <a:buNone/>
            </a:pPr>
            <a:r>
              <a:rPr lang="en-US"/>
              <a:t> Value is: 2</a:t>
            </a:r>
            <a:endParaRPr/>
          </a:p>
          <a:p>
            <a:pPr marL="0" lvl="0" indent="0" algn="l" rtl="0">
              <a:spcBef>
                <a:spcPts val="0"/>
              </a:spcBef>
              <a:spcAft>
                <a:spcPts val="0"/>
              </a:spcAft>
              <a:buNone/>
            </a:pPr>
            <a:r>
              <a:rPr lang="en-US"/>
              <a:t> Value is: 4</a:t>
            </a:r>
            <a:endParaRPr/>
          </a:p>
          <a:p>
            <a:pPr marL="0" lvl="0" indent="0" algn="l" rtl="0">
              <a:spcBef>
                <a:spcPts val="0"/>
              </a:spcBef>
              <a:spcAft>
                <a:spcPts val="0"/>
              </a:spcAft>
              <a:buNone/>
            </a:pPr>
            <a:r>
              <a:rPr lang="en-US"/>
              <a:t> Value is: 6</a:t>
            </a:r>
            <a:endParaRPr/>
          </a:p>
          <a:p>
            <a:pPr marL="0" lvl="0" indent="0" algn="l" rtl="0">
              <a:spcBef>
                <a:spcPts val="0"/>
              </a:spcBef>
              <a:spcAft>
                <a:spcPts val="0"/>
              </a:spcAft>
              <a:buNone/>
            </a:pPr>
            <a:r>
              <a:rPr lang="en-US"/>
              <a:t> Value is: 8</a:t>
            </a:r>
            <a:endParaRPr/>
          </a:p>
          <a:p>
            <a:pPr marL="0" lvl="0" indent="0" algn="l" rtl="0">
              <a:spcBef>
                <a:spcPts val="0"/>
              </a:spcBef>
              <a:spcAft>
                <a:spcPts val="0"/>
              </a:spcAft>
              <a:buNone/>
            </a:pPr>
            <a:r>
              <a:rPr lang="en-US"/>
              <a:t> Value is: 10</a:t>
            </a:r>
            <a:endParaRPr/>
          </a:p>
          <a:p>
            <a:pPr marL="0" lvl="0" indent="0" algn="l" rtl="0">
              <a:spcBef>
                <a:spcPts val="0"/>
              </a:spcBef>
              <a:spcAft>
                <a:spcPts val="0"/>
              </a:spcAft>
              <a:buNone/>
            </a:pPr>
            <a:r>
              <a:rPr lang="en-US"/>
              <a:t> Value is: 3</a:t>
            </a:r>
            <a:endParaRPr/>
          </a:p>
          <a:p>
            <a:pPr marL="0" lvl="0" indent="0" algn="l" rtl="0">
              <a:spcBef>
                <a:spcPts val="0"/>
              </a:spcBef>
              <a:spcAft>
                <a:spcPts val="0"/>
              </a:spcAft>
              <a:buNone/>
            </a:pPr>
            <a:r>
              <a:rPr lang="en-US"/>
              <a:t> Value is: 6</a:t>
            </a:r>
            <a:endParaRPr/>
          </a:p>
          <a:p>
            <a:pPr marL="0" lvl="0" indent="0" algn="l" rtl="0">
              <a:spcBef>
                <a:spcPts val="0"/>
              </a:spcBef>
              <a:spcAft>
                <a:spcPts val="0"/>
              </a:spcAft>
              <a:buNone/>
            </a:pPr>
            <a:r>
              <a:rPr lang="en-US"/>
              <a:t> Value is: 9</a:t>
            </a:r>
            <a:endParaRPr/>
          </a:p>
          <a:p>
            <a:pPr marL="0" lvl="0" indent="0" algn="l" rtl="0">
              <a:spcBef>
                <a:spcPts val="0"/>
              </a:spcBef>
              <a:spcAft>
                <a:spcPts val="0"/>
              </a:spcAft>
              <a:buNone/>
            </a:pPr>
            <a:r>
              <a:rPr lang="en-US"/>
              <a:t>Value is: 12 </a:t>
            </a:r>
            <a:endParaRPr/>
          </a:p>
          <a:p>
            <a:pPr marL="0" lvl="0" indent="0" algn="l" rtl="0">
              <a:spcBef>
                <a:spcPts val="0"/>
              </a:spcBef>
              <a:spcAft>
                <a:spcPts val="0"/>
              </a:spcAft>
              <a:buNone/>
            </a:pPr>
            <a:r>
              <a:rPr lang="en-US"/>
              <a:t>Value is: 15 </a:t>
            </a:r>
            <a:endParaRPr/>
          </a:p>
          <a:p>
            <a:pPr marL="0" lvl="0" indent="0" algn="l" rtl="0">
              <a:spcBef>
                <a:spcPts val="0"/>
              </a:spcBef>
              <a:spcAft>
                <a:spcPts val="0"/>
              </a:spcAft>
              <a:buNone/>
            </a:pPr>
            <a:r>
              <a:rPr lang="en-US"/>
              <a:t>Summation: 90</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g2a8aac945e6_0_620"/>
          <p:cNvSpPr txBox="1">
            <a:spLocks noGrp="1"/>
          </p:cNvSpPr>
          <p:nvPr>
            <p:ph type="title"/>
          </p:nvPr>
        </p:nvSpPr>
        <p:spPr>
          <a:xfrm>
            <a:off x="838200" y="0"/>
            <a:ext cx="10515600" cy="4773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3600"/>
              <a:t> Search an array using for-each style for.</a:t>
            </a:r>
            <a:endParaRPr sz="3600"/>
          </a:p>
        </p:txBody>
      </p:sp>
      <p:pic>
        <p:nvPicPr>
          <p:cNvPr id="1172" name="Google Shape;1172;g2a8aac945e6_0_620"/>
          <p:cNvPicPr preferRelativeResize="0"/>
          <p:nvPr/>
        </p:nvPicPr>
        <p:blipFill>
          <a:blip r:embed="rId3">
            <a:alphaModFix/>
          </a:blip>
          <a:stretch>
            <a:fillRect/>
          </a:stretch>
        </p:blipFill>
        <p:spPr>
          <a:xfrm>
            <a:off x="152400" y="629700"/>
            <a:ext cx="8416575" cy="5965025"/>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g2a8aac945e6_0_6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Jump Statements</a:t>
            </a:r>
            <a:endParaRPr/>
          </a:p>
        </p:txBody>
      </p:sp>
      <p:sp>
        <p:nvSpPr>
          <p:cNvPr id="1178" name="Google Shape;1178;g2a8aac945e6_0_6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Java supports three jump statements: </a:t>
            </a:r>
            <a:endParaRPr/>
          </a:p>
          <a:p>
            <a:pPr marL="0" lvl="0" indent="0" algn="l" rtl="0">
              <a:spcBef>
                <a:spcPts val="1000"/>
              </a:spcBef>
              <a:spcAft>
                <a:spcPts val="0"/>
              </a:spcAft>
              <a:buNone/>
            </a:pPr>
            <a:r>
              <a:rPr lang="en-US">
                <a:solidFill>
                  <a:srgbClr val="980000"/>
                </a:solidFill>
              </a:rPr>
              <a:t>break, </a:t>
            </a:r>
            <a:endParaRPr>
              <a:solidFill>
                <a:srgbClr val="980000"/>
              </a:solidFill>
            </a:endParaRPr>
          </a:p>
          <a:p>
            <a:pPr marL="0" lvl="0" indent="0" algn="l" rtl="0">
              <a:spcBef>
                <a:spcPts val="1000"/>
              </a:spcBef>
              <a:spcAft>
                <a:spcPts val="0"/>
              </a:spcAft>
              <a:buNone/>
            </a:pPr>
            <a:r>
              <a:rPr lang="en-US">
                <a:solidFill>
                  <a:srgbClr val="980000"/>
                </a:solidFill>
              </a:rPr>
              <a:t>continue, and </a:t>
            </a:r>
            <a:endParaRPr>
              <a:solidFill>
                <a:srgbClr val="980000"/>
              </a:solidFill>
            </a:endParaRPr>
          </a:p>
          <a:p>
            <a:pPr marL="0" lvl="0" indent="0" algn="l" rtl="0">
              <a:spcBef>
                <a:spcPts val="1000"/>
              </a:spcBef>
              <a:spcAft>
                <a:spcPts val="0"/>
              </a:spcAft>
              <a:buNone/>
            </a:pPr>
            <a:r>
              <a:rPr lang="en-US">
                <a:solidFill>
                  <a:srgbClr val="980000"/>
                </a:solidFill>
              </a:rPr>
              <a:t>return. </a:t>
            </a:r>
            <a:endParaRPr>
              <a:solidFill>
                <a:srgbClr val="980000"/>
              </a:solidFill>
            </a:endParaRPr>
          </a:p>
          <a:p>
            <a:pPr marL="0" lvl="0" indent="0" algn="l" rtl="0">
              <a:spcBef>
                <a:spcPts val="1000"/>
              </a:spcBef>
              <a:spcAft>
                <a:spcPts val="0"/>
              </a:spcAft>
              <a:buNone/>
            </a:pPr>
            <a:r>
              <a:rPr lang="en-US"/>
              <a:t>These statements transfer control to another part of your program.</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g2a8aac945e6_0_63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Uses of break in java</a:t>
            </a:r>
            <a:endParaRPr/>
          </a:p>
        </p:txBody>
      </p:sp>
      <p:sp>
        <p:nvSpPr>
          <p:cNvPr id="1184" name="Google Shape;1184;g2a8aac945e6_0_63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The break statement has three uses. </a:t>
            </a:r>
            <a:endParaRPr/>
          </a:p>
          <a:p>
            <a:pPr marL="457200" lvl="0" indent="-342900" algn="l" rtl="0">
              <a:spcBef>
                <a:spcPts val="1000"/>
              </a:spcBef>
              <a:spcAft>
                <a:spcPts val="0"/>
              </a:spcAft>
              <a:buSzPts val="1800"/>
              <a:buChar char="•"/>
            </a:pPr>
            <a:r>
              <a:rPr lang="en-US"/>
              <a:t>First, as you have seen, it terminates a statement sequence in a switch statement. </a:t>
            </a:r>
            <a:endParaRPr/>
          </a:p>
          <a:p>
            <a:pPr marL="457200" lvl="0" indent="-342900" algn="l" rtl="0">
              <a:spcBef>
                <a:spcPts val="0"/>
              </a:spcBef>
              <a:spcAft>
                <a:spcPts val="0"/>
              </a:spcAft>
              <a:buSzPts val="1800"/>
              <a:buChar char="•"/>
            </a:pPr>
            <a:r>
              <a:rPr lang="en-US"/>
              <a:t>Second, it can be used to exit a loop. </a:t>
            </a:r>
            <a:endParaRPr/>
          </a:p>
          <a:p>
            <a:pPr marL="457200" lvl="0" indent="-342900" algn="l" rtl="0">
              <a:spcBef>
                <a:spcPts val="0"/>
              </a:spcBef>
              <a:spcAft>
                <a:spcPts val="0"/>
              </a:spcAft>
              <a:buSzPts val="1800"/>
              <a:buChar char="•"/>
            </a:pPr>
            <a:r>
              <a:rPr lang="en-US"/>
              <a:t>Third, it can be used as a “civilized” form of goto.</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g2a8aac945e6_0_64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Using break to Exit a Loop</a:t>
            </a:r>
            <a:endParaRPr/>
          </a:p>
        </p:txBody>
      </p:sp>
      <p:pic>
        <p:nvPicPr>
          <p:cNvPr id="1190" name="Google Shape;1190;g2a8aac945e6_0_640"/>
          <p:cNvPicPr preferRelativeResize="0"/>
          <p:nvPr/>
        </p:nvPicPr>
        <p:blipFill>
          <a:blip r:embed="rId3">
            <a:alphaModFix/>
          </a:blip>
          <a:stretch>
            <a:fillRect/>
          </a:stretch>
        </p:blipFill>
        <p:spPr>
          <a:xfrm>
            <a:off x="152400" y="1843225"/>
            <a:ext cx="6982025" cy="4527750"/>
          </a:xfrm>
          <a:prstGeom prst="rect">
            <a:avLst/>
          </a:prstGeom>
          <a:noFill/>
          <a:ln w="9525" cap="flat" cmpd="sng">
            <a:solidFill>
              <a:schemeClr val="dk2"/>
            </a:solidFill>
            <a:prstDash val="solid"/>
            <a:round/>
            <a:headEnd type="none" w="sm" len="sm"/>
            <a:tailEnd type="none" w="sm" len="sm"/>
          </a:ln>
        </p:spPr>
      </p:pic>
      <p:pic>
        <p:nvPicPr>
          <p:cNvPr id="1191" name="Google Shape;1191;g2a8aac945e6_0_640"/>
          <p:cNvPicPr preferRelativeResize="0"/>
          <p:nvPr/>
        </p:nvPicPr>
        <p:blipFill>
          <a:blip r:embed="rId4">
            <a:alphaModFix/>
          </a:blip>
          <a:stretch>
            <a:fillRect/>
          </a:stretch>
        </p:blipFill>
        <p:spPr>
          <a:xfrm>
            <a:off x="7356100" y="1843225"/>
            <a:ext cx="4683501" cy="39880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g2a8aac945e6_1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Using break to exit a while loop.</a:t>
            </a:r>
            <a:endParaRPr/>
          </a:p>
        </p:txBody>
      </p:sp>
      <p:pic>
        <p:nvPicPr>
          <p:cNvPr id="1197" name="Google Shape;1197;g2a8aac945e6_1_0"/>
          <p:cNvPicPr preferRelativeResize="0"/>
          <p:nvPr/>
        </p:nvPicPr>
        <p:blipFill>
          <a:blip r:embed="rId3">
            <a:alphaModFix/>
          </a:blip>
          <a:stretch>
            <a:fillRect/>
          </a:stretch>
        </p:blipFill>
        <p:spPr>
          <a:xfrm>
            <a:off x="1080925" y="1778075"/>
            <a:ext cx="10204015" cy="486237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g2a8aac945e6_1_7"/>
          <p:cNvSpPr txBox="1">
            <a:spLocks noGrp="1"/>
          </p:cNvSpPr>
          <p:nvPr>
            <p:ph type="title"/>
          </p:nvPr>
        </p:nvSpPr>
        <p:spPr>
          <a:xfrm>
            <a:off x="838200" y="0"/>
            <a:ext cx="10515600" cy="618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Using break with nested loops.</a:t>
            </a:r>
            <a:endParaRPr/>
          </a:p>
        </p:txBody>
      </p:sp>
      <p:pic>
        <p:nvPicPr>
          <p:cNvPr id="1203" name="Google Shape;1203;g2a8aac945e6_1_7"/>
          <p:cNvPicPr preferRelativeResize="0"/>
          <p:nvPr/>
        </p:nvPicPr>
        <p:blipFill>
          <a:blip r:embed="rId3">
            <a:alphaModFix/>
          </a:blip>
          <a:stretch>
            <a:fillRect/>
          </a:stretch>
        </p:blipFill>
        <p:spPr>
          <a:xfrm>
            <a:off x="152400" y="771300"/>
            <a:ext cx="8204250" cy="5581650"/>
          </a:xfrm>
          <a:prstGeom prst="rect">
            <a:avLst/>
          </a:prstGeom>
          <a:noFill/>
          <a:ln>
            <a:noFill/>
          </a:ln>
        </p:spPr>
      </p:pic>
      <p:pic>
        <p:nvPicPr>
          <p:cNvPr id="1204" name="Google Shape;1204;g2a8aac945e6_1_7"/>
          <p:cNvPicPr preferRelativeResize="0"/>
          <p:nvPr/>
        </p:nvPicPr>
        <p:blipFill>
          <a:blip r:embed="rId4">
            <a:alphaModFix/>
          </a:blip>
          <a:stretch>
            <a:fillRect/>
          </a:stretch>
        </p:blipFill>
        <p:spPr>
          <a:xfrm>
            <a:off x="7118650" y="472275"/>
            <a:ext cx="4793325" cy="25336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g2a8aac945e6_1_1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Using break as a Form of Goto</a:t>
            </a:r>
            <a:endParaRPr/>
          </a:p>
        </p:txBody>
      </p:sp>
      <p:sp>
        <p:nvSpPr>
          <p:cNvPr id="1210" name="Google Shape;1210;g2a8aac945e6_1_1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label general form:</a:t>
            </a:r>
            <a:endParaRPr/>
          </a:p>
          <a:p>
            <a:pPr marL="0" lvl="0" indent="0" algn="l" rtl="0">
              <a:spcBef>
                <a:spcPts val="1000"/>
              </a:spcBef>
              <a:spcAft>
                <a:spcPts val="0"/>
              </a:spcAft>
              <a:buNone/>
            </a:pPr>
            <a:r>
              <a:rPr lang="en-US"/>
              <a:t>label:{</a:t>
            </a:r>
            <a:endParaRPr/>
          </a:p>
          <a:p>
            <a:pPr marL="0" lvl="0" indent="0" algn="l" rtl="0">
              <a:spcBef>
                <a:spcPts val="1000"/>
              </a:spcBef>
              <a:spcAft>
                <a:spcPts val="0"/>
              </a:spcAft>
              <a:buNone/>
            </a:pPr>
            <a:r>
              <a:rPr lang="en-US"/>
              <a:t>}</a:t>
            </a:r>
            <a:endParaRPr/>
          </a:p>
          <a:p>
            <a:pPr marL="0" lvl="0" indent="0" algn="l" rtl="0">
              <a:spcBef>
                <a:spcPts val="1000"/>
              </a:spcBef>
              <a:spcAft>
                <a:spcPts val="0"/>
              </a:spcAft>
              <a:buNone/>
            </a:pPr>
            <a:endParaRPr/>
          </a:p>
          <a:p>
            <a:pPr marL="0" lvl="0" indent="0" algn="l" rtl="0">
              <a:spcBef>
                <a:spcPts val="1000"/>
              </a:spcBef>
              <a:spcAft>
                <a:spcPts val="0"/>
              </a:spcAft>
              <a:buNone/>
            </a:pPr>
            <a:r>
              <a:rPr lang="en-US"/>
              <a:t>using break to jump out of the label general form</a:t>
            </a:r>
            <a:endParaRPr/>
          </a:p>
          <a:p>
            <a:pPr marL="0" lvl="0" indent="0" algn="l" rtl="0">
              <a:spcBef>
                <a:spcPts val="1000"/>
              </a:spcBef>
              <a:spcAft>
                <a:spcPts val="0"/>
              </a:spcAft>
              <a:buNone/>
            </a:pPr>
            <a:r>
              <a:rPr lang="en-US"/>
              <a:t>break label;</a:t>
            </a: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g2a8aac945e6_1_2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Example</a:t>
            </a:r>
            <a:endParaRPr/>
          </a:p>
          <a:p>
            <a:pPr marL="0" lvl="0" indent="0" algn="l" rtl="0">
              <a:spcBef>
                <a:spcPts val="1000"/>
              </a:spcBef>
              <a:spcAft>
                <a:spcPts val="0"/>
              </a:spcAft>
              <a:buClr>
                <a:schemeClr val="dk1"/>
              </a:buClr>
              <a:buSzPct val="39285"/>
              <a:buFont typeface="Arial"/>
              <a:buNone/>
            </a:pPr>
            <a:r>
              <a:rPr lang="en-US" sz="2800"/>
              <a:t>The break statement causes execution to jump forward, past the end of the block labeled second, skipping the two println( ) statements.</a:t>
            </a:r>
            <a:endParaRPr sz="2800"/>
          </a:p>
          <a:p>
            <a:pPr marL="0" lvl="0" indent="0" algn="l" rtl="0">
              <a:spcBef>
                <a:spcPts val="0"/>
              </a:spcBef>
              <a:spcAft>
                <a:spcPts val="0"/>
              </a:spcAft>
              <a:buNone/>
            </a:pPr>
            <a:endParaRPr/>
          </a:p>
        </p:txBody>
      </p:sp>
      <p:pic>
        <p:nvPicPr>
          <p:cNvPr id="1216" name="Google Shape;1216;g2a8aac945e6_1_21"/>
          <p:cNvPicPr preferRelativeResize="0"/>
          <p:nvPr/>
        </p:nvPicPr>
        <p:blipFill>
          <a:blip r:embed="rId3">
            <a:alphaModFix/>
          </a:blip>
          <a:stretch>
            <a:fillRect/>
          </a:stretch>
        </p:blipFill>
        <p:spPr>
          <a:xfrm>
            <a:off x="152400" y="1843225"/>
            <a:ext cx="8244895" cy="4862374"/>
          </a:xfrm>
          <a:prstGeom prst="rect">
            <a:avLst/>
          </a:prstGeom>
          <a:noFill/>
          <a:ln>
            <a:noFill/>
          </a:ln>
        </p:spPr>
      </p:pic>
      <p:pic>
        <p:nvPicPr>
          <p:cNvPr id="1217" name="Google Shape;1217;g2a8aac945e6_1_21"/>
          <p:cNvPicPr preferRelativeResize="0"/>
          <p:nvPr/>
        </p:nvPicPr>
        <p:blipFill>
          <a:blip r:embed="rId4">
            <a:alphaModFix/>
          </a:blip>
          <a:stretch>
            <a:fillRect/>
          </a:stretch>
        </p:blipFill>
        <p:spPr>
          <a:xfrm>
            <a:off x="6825425" y="2271750"/>
            <a:ext cx="5229025" cy="11741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g2a8aac945e6_1_2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breaking out of the nest loops using label and break</a:t>
            </a:r>
            <a:endParaRPr/>
          </a:p>
        </p:txBody>
      </p:sp>
      <p:sp>
        <p:nvSpPr>
          <p:cNvPr id="1223" name="Google Shape;1223;g2a8aac945e6_1_29"/>
          <p:cNvSpPr txBox="1">
            <a:spLocks noGrp="1"/>
          </p:cNvSpPr>
          <p:nvPr>
            <p:ph type="body" idx="1"/>
          </p:nvPr>
        </p:nvSpPr>
        <p:spPr>
          <a:xfrm>
            <a:off x="838200" y="1825625"/>
            <a:ext cx="46353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sz="1900"/>
              <a:t>// Using break to exit from nested loops</a:t>
            </a:r>
            <a:endParaRPr sz="1900"/>
          </a:p>
          <a:p>
            <a:pPr marL="0" lvl="0" indent="0" algn="l" rtl="0">
              <a:spcBef>
                <a:spcPts val="1000"/>
              </a:spcBef>
              <a:spcAft>
                <a:spcPts val="0"/>
              </a:spcAft>
              <a:buNone/>
            </a:pPr>
            <a:r>
              <a:rPr lang="en-US" sz="1900"/>
              <a:t>class BreakLoop4 {</a:t>
            </a:r>
            <a:endParaRPr sz="1900"/>
          </a:p>
          <a:p>
            <a:pPr marL="0" lvl="0" indent="0" algn="l" rtl="0">
              <a:spcBef>
                <a:spcPts val="1000"/>
              </a:spcBef>
              <a:spcAft>
                <a:spcPts val="0"/>
              </a:spcAft>
              <a:buNone/>
            </a:pPr>
            <a:r>
              <a:rPr lang="en-US" sz="1900"/>
              <a:t> public static void main(String args[]) {</a:t>
            </a:r>
            <a:endParaRPr sz="1900"/>
          </a:p>
          <a:p>
            <a:pPr marL="0" lvl="0" indent="0" algn="l" rtl="0">
              <a:spcBef>
                <a:spcPts val="1000"/>
              </a:spcBef>
              <a:spcAft>
                <a:spcPts val="0"/>
              </a:spcAft>
              <a:buNone/>
            </a:pPr>
            <a:r>
              <a:rPr lang="en-US" sz="1900"/>
              <a:t> outer: for(int i=0; i&lt;3; i++) {</a:t>
            </a:r>
            <a:endParaRPr sz="1900"/>
          </a:p>
          <a:p>
            <a:pPr marL="0" lvl="0" indent="0" algn="l" rtl="0">
              <a:spcBef>
                <a:spcPts val="1000"/>
              </a:spcBef>
              <a:spcAft>
                <a:spcPts val="0"/>
              </a:spcAft>
              <a:buNone/>
            </a:pPr>
            <a:r>
              <a:rPr lang="en-US" sz="1900"/>
              <a:t> System.out.print("Pass " + i + ": ");</a:t>
            </a:r>
            <a:endParaRPr sz="1900"/>
          </a:p>
          <a:p>
            <a:pPr marL="0" lvl="0" indent="0" algn="l" rtl="0">
              <a:spcBef>
                <a:spcPts val="1000"/>
              </a:spcBef>
              <a:spcAft>
                <a:spcPts val="0"/>
              </a:spcAft>
              <a:buNone/>
            </a:pPr>
            <a:r>
              <a:rPr lang="en-US" sz="1900"/>
              <a:t> for(int j=0; j&lt;100; j++) {</a:t>
            </a:r>
            <a:endParaRPr sz="1900"/>
          </a:p>
          <a:p>
            <a:pPr marL="0" lvl="0" indent="0" algn="l" rtl="0">
              <a:spcBef>
                <a:spcPts val="1000"/>
              </a:spcBef>
              <a:spcAft>
                <a:spcPts val="0"/>
              </a:spcAft>
              <a:buNone/>
            </a:pPr>
            <a:r>
              <a:rPr lang="en-US" sz="1900"/>
              <a:t> if(j == 10) break outer; // exit both loops</a:t>
            </a:r>
            <a:endParaRPr sz="1900"/>
          </a:p>
          <a:p>
            <a:pPr marL="0" lvl="0" indent="0" algn="l" rtl="0">
              <a:spcBef>
                <a:spcPts val="1000"/>
              </a:spcBef>
              <a:spcAft>
                <a:spcPts val="0"/>
              </a:spcAft>
              <a:buNone/>
            </a:pPr>
            <a:r>
              <a:rPr lang="en-US" sz="1900"/>
              <a:t>System.out.print(j + " ");</a:t>
            </a:r>
            <a:endParaRPr sz="1900"/>
          </a:p>
          <a:p>
            <a:pPr marL="0" lvl="0" indent="0" algn="l" rtl="0">
              <a:spcBef>
                <a:spcPts val="1000"/>
              </a:spcBef>
              <a:spcAft>
                <a:spcPts val="0"/>
              </a:spcAft>
              <a:buNone/>
            </a:pPr>
            <a:r>
              <a:rPr lang="en-US" sz="1900"/>
              <a:t> }</a:t>
            </a:r>
            <a:endParaRPr sz="1900"/>
          </a:p>
          <a:p>
            <a:pPr marL="0" lvl="0" indent="0" algn="l" rtl="0">
              <a:spcBef>
                <a:spcPts val="1000"/>
              </a:spcBef>
              <a:spcAft>
                <a:spcPts val="0"/>
              </a:spcAft>
              <a:buNone/>
            </a:pPr>
            <a:r>
              <a:rPr lang="en-US" sz="1900"/>
              <a:t> System.out.println("This will not print");</a:t>
            </a:r>
            <a:endParaRPr sz="1900"/>
          </a:p>
          <a:p>
            <a:pPr marL="0" lvl="0" indent="0" algn="l" rtl="0">
              <a:spcBef>
                <a:spcPts val="1000"/>
              </a:spcBef>
              <a:spcAft>
                <a:spcPts val="0"/>
              </a:spcAft>
              <a:buNone/>
            </a:pPr>
            <a:r>
              <a:rPr lang="en-US" sz="1900"/>
              <a:t> }</a:t>
            </a:r>
            <a:endParaRPr sz="1900"/>
          </a:p>
          <a:p>
            <a:pPr marL="0" lvl="0" indent="0" algn="l" rtl="0">
              <a:spcBef>
                <a:spcPts val="1000"/>
              </a:spcBef>
              <a:spcAft>
                <a:spcPts val="0"/>
              </a:spcAft>
              <a:buNone/>
            </a:pPr>
            <a:r>
              <a:rPr lang="en-US" sz="1900"/>
              <a:t> System.out.println("Loops complete.");</a:t>
            </a:r>
            <a:endParaRPr sz="1900"/>
          </a:p>
          <a:p>
            <a:pPr marL="0" lvl="0" indent="0" algn="l" rtl="0">
              <a:spcBef>
                <a:spcPts val="1000"/>
              </a:spcBef>
              <a:spcAft>
                <a:spcPts val="0"/>
              </a:spcAft>
              <a:buNone/>
            </a:pPr>
            <a:r>
              <a:rPr lang="en-US" sz="1900"/>
              <a:t> }</a:t>
            </a:r>
            <a:endParaRPr sz="1900"/>
          </a:p>
          <a:p>
            <a:pPr marL="0" lvl="0" indent="0" algn="l" rtl="0">
              <a:spcBef>
                <a:spcPts val="1000"/>
              </a:spcBef>
              <a:spcAft>
                <a:spcPts val="0"/>
              </a:spcAft>
              <a:buNone/>
            </a:pPr>
            <a:r>
              <a:rPr lang="en-US" sz="1900"/>
              <a:t>}</a:t>
            </a:r>
            <a:endParaRPr sz="1900"/>
          </a:p>
        </p:txBody>
      </p:sp>
      <p:pic>
        <p:nvPicPr>
          <p:cNvPr id="1224" name="Google Shape;1224;g2a8aac945e6_1_29"/>
          <p:cNvPicPr preferRelativeResize="0"/>
          <p:nvPr/>
        </p:nvPicPr>
        <p:blipFill>
          <a:blip r:embed="rId3">
            <a:alphaModFix/>
          </a:blip>
          <a:stretch>
            <a:fillRect/>
          </a:stretch>
        </p:blipFill>
        <p:spPr>
          <a:xfrm>
            <a:off x="5799175" y="2686050"/>
            <a:ext cx="5345074" cy="20868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g2a8aac945e6_1_36"/>
          <p:cNvSpPr txBox="1">
            <a:spLocks noGrp="1"/>
          </p:cNvSpPr>
          <p:nvPr>
            <p:ph type="title"/>
          </p:nvPr>
        </p:nvSpPr>
        <p:spPr>
          <a:xfrm>
            <a:off x="838200" y="91500"/>
            <a:ext cx="10515600" cy="625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Example on error</a:t>
            </a:r>
            <a:endParaRPr/>
          </a:p>
        </p:txBody>
      </p:sp>
      <p:sp>
        <p:nvSpPr>
          <p:cNvPr id="1230" name="Google Shape;1230;g2a8aac945e6_1_36"/>
          <p:cNvSpPr txBox="1">
            <a:spLocks noGrp="1"/>
          </p:cNvSpPr>
          <p:nvPr>
            <p:ph type="body" idx="1"/>
          </p:nvPr>
        </p:nvSpPr>
        <p:spPr>
          <a:xfrm>
            <a:off x="838200" y="798200"/>
            <a:ext cx="10515600" cy="4759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 Cannot break to any label which is not defined for an enclosing block.</a:t>
            </a:r>
            <a:endParaRPr/>
          </a:p>
        </p:txBody>
      </p:sp>
      <p:pic>
        <p:nvPicPr>
          <p:cNvPr id="1231" name="Google Shape;1231;g2a8aac945e6_1_36"/>
          <p:cNvPicPr preferRelativeResize="0"/>
          <p:nvPr/>
        </p:nvPicPr>
        <p:blipFill>
          <a:blip r:embed="rId3">
            <a:alphaModFix/>
          </a:blip>
          <a:stretch>
            <a:fillRect/>
          </a:stretch>
        </p:blipFill>
        <p:spPr>
          <a:xfrm>
            <a:off x="838200" y="1545650"/>
            <a:ext cx="6801701" cy="3797400"/>
          </a:xfrm>
          <a:prstGeom prst="rect">
            <a:avLst/>
          </a:prstGeom>
          <a:noFill/>
          <a:ln w="9525" cap="flat" cmpd="sng">
            <a:solidFill>
              <a:schemeClr val="dk2"/>
            </a:solidFill>
            <a:prstDash val="solid"/>
            <a:round/>
            <a:headEnd type="none" w="sm" len="sm"/>
            <a:tailEnd type="none" w="sm" len="sm"/>
          </a:ln>
        </p:spPr>
      </p:pic>
      <p:sp>
        <p:nvSpPr>
          <p:cNvPr id="1232" name="Google Shape;1232;g2a8aac945e6_1_36"/>
          <p:cNvSpPr txBox="1"/>
          <p:nvPr/>
        </p:nvSpPr>
        <p:spPr>
          <a:xfrm>
            <a:off x="1010000" y="5557700"/>
            <a:ext cx="10718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t>Program is invalid and will not compile, Since the loop labeled one does not enclose the break statement, it is not possible to transfer control out of that block.</a:t>
            </a:r>
            <a:endParaRPr sz="21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g2a8aac945e6_1_46"/>
          <p:cNvSpPr txBox="1">
            <a:spLocks noGrp="1"/>
          </p:cNvSpPr>
          <p:nvPr>
            <p:ph type="title"/>
          </p:nvPr>
        </p:nvSpPr>
        <p:spPr>
          <a:xfrm>
            <a:off x="838200" y="0"/>
            <a:ext cx="10515600" cy="8241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Using continue</a:t>
            </a:r>
            <a:endParaRPr/>
          </a:p>
        </p:txBody>
      </p:sp>
      <p:sp>
        <p:nvSpPr>
          <p:cNvPr id="1238" name="Google Shape;1238;g2a8aac945e6_1_46"/>
          <p:cNvSpPr txBox="1">
            <a:spLocks noGrp="1"/>
          </p:cNvSpPr>
          <p:nvPr>
            <p:ph type="body" idx="1"/>
          </p:nvPr>
        </p:nvSpPr>
        <p:spPr>
          <a:xfrm>
            <a:off x="439825" y="824100"/>
            <a:ext cx="11256300" cy="4351200"/>
          </a:xfrm>
          <a:prstGeom prst="rect">
            <a:avLst/>
          </a:prstGeom>
        </p:spPr>
        <p:txBody>
          <a:bodyPr spcFirstLastPara="1" wrap="square" lIns="91425" tIns="45700" rIns="91425" bIns="45700" anchor="t" anchorCtr="0">
            <a:normAutofit fontScale="70000" lnSpcReduction="20000"/>
          </a:bodyPr>
          <a:lstStyle/>
          <a:p>
            <a:pPr marL="0" lvl="0" indent="0" algn="l" rtl="0">
              <a:spcBef>
                <a:spcPts val="1000"/>
              </a:spcBef>
              <a:spcAft>
                <a:spcPts val="0"/>
              </a:spcAft>
              <a:buNone/>
            </a:pPr>
            <a:r>
              <a:rPr lang="en-US"/>
              <a:t>Continue is used to skip the current loop iteration and get into the next loop iteration.</a:t>
            </a:r>
            <a:endParaRPr/>
          </a:p>
          <a:p>
            <a:pPr marL="0" lvl="0" indent="0" algn="l" rtl="0">
              <a:spcBef>
                <a:spcPts val="1000"/>
              </a:spcBef>
              <a:spcAft>
                <a:spcPts val="0"/>
              </a:spcAft>
              <a:buNone/>
            </a:pPr>
            <a:r>
              <a:rPr lang="en-US"/>
              <a:t>Example:</a:t>
            </a:r>
            <a:endParaRPr/>
          </a:p>
          <a:p>
            <a:pPr marL="0" lvl="0" indent="0" algn="l" rtl="0">
              <a:spcBef>
                <a:spcPts val="1000"/>
              </a:spcBef>
              <a:spcAft>
                <a:spcPts val="0"/>
              </a:spcAft>
              <a:buNone/>
            </a:pPr>
            <a:r>
              <a:rPr lang="en-US"/>
              <a:t>// Demonstrate continue.</a:t>
            </a:r>
            <a:endParaRPr/>
          </a:p>
          <a:p>
            <a:pPr marL="0" lvl="0" indent="0" algn="l" rtl="0">
              <a:spcBef>
                <a:spcPts val="1000"/>
              </a:spcBef>
              <a:spcAft>
                <a:spcPts val="0"/>
              </a:spcAft>
              <a:buNone/>
            </a:pPr>
            <a:r>
              <a:rPr lang="en-US"/>
              <a:t>class Continue {</a:t>
            </a:r>
            <a:endParaRPr/>
          </a:p>
          <a:p>
            <a:pPr marL="0" lvl="0" indent="0" algn="l" rtl="0">
              <a:spcBef>
                <a:spcPts val="1000"/>
              </a:spcBef>
              <a:spcAft>
                <a:spcPts val="0"/>
              </a:spcAft>
              <a:buNone/>
            </a:pPr>
            <a:r>
              <a:rPr lang="en-US"/>
              <a:t> public static void main(String args[]) {</a:t>
            </a:r>
            <a:endParaRPr/>
          </a:p>
          <a:p>
            <a:pPr marL="0" lvl="0" indent="0" algn="l" rtl="0">
              <a:spcBef>
                <a:spcPts val="1000"/>
              </a:spcBef>
              <a:spcAft>
                <a:spcPts val="0"/>
              </a:spcAft>
              <a:buNone/>
            </a:pPr>
            <a:r>
              <a:rPr lang="en-US"/>
              <a:t>for(int i=0; i&lt;10; i++) {</a:t>
            </a:r>
            <a:endParaRPr/>
          </a:p>
          <a:p>
            <a:pPr marL="0" lvl="0" indent="0" algn="l" rtl="0">
              <a:spcBef>
                <a:spcPts val="1000"/>
              </a:spcBef>
              <a:spcAft>
                <a:spcPts val="0"/>
              </a:spcAft>
              <a:buNone/>
            </a:pPr>
            <a:r>
              <a:rPr lang="en-US"/>
              <a:t> System.out.print(i + " ");</a:t>
            </a:r>
            <a:endParaRPr/>
          </a:p>
          <a:p>
            <a:pPr marL="0" lvl="0" indent="0" algn="l" rtl="0">
              <a:spcBef>
                <a:spcPts val="1000"/>
              </a:spcBef>
              <a:spcAft>
                <a:spcPts val="0"/>
              </a:spcAft>
              <a:buNone/>
            </a:pPr>
            <a:r>
              <a:rPr lang="en-US"/>
              <a:t> if (i%2 == 0) continue;</a:t>
            </a:r>
            <a:endParaRPr/>
          </a:p>
          <a:p>
            <a:pPr marL="0" lvl="0" indent="0" algn="l" rtl="0">
              <a:spcBef>
                <a:spcPts val="1000"/>
              </a:spcBef>
              <a:spcAft>
                <a:spcPts val="0"/>
              </a:spcAft>
              <a:buNone/>
            </a:pPr>
            <a:r>
              <a:rPr lang="en-US"/>
              <a:t> System.out.println("");</a:t>
            </a:r>
            <a:endParaRPr/>
          </a:p>
          <a:p>
            <a:pPr marL="0" lvl="0" indent="0" algn="l" rtl="0">
              <a:spcBef>
                <a:spcPts val="1000"/>
              </a:spcBef>
              <a:spcAft>
                <a:spcPts val="0"/>
              </a:spcAft>
              <a:buNone/>
            </a:pPr>
            <a:r>
              <a:rPr lang="en-US"/>
              <a:t> }</a:t>
            </a:r>
            <a:endParaRPr/>
          </a:p>
          <a:p>
            <a:pPr marL="0" lvl="0" indent="0" algn="l" rtl="0">
              <a:spcBef>
                <a:spcPts val="1000"/>
              </a:spcBef>
              <a:spcAft>
                <a:spcPts val="0"/>
              </a:spcAft>
              <a:buNone/>
            </a:pPr>
            <a:r>
              <a:rPr lang="en-US"/>
              <a:t> }</a:t>
            </a:r>
            <a:endParaRPr/>
          </a:p>
          <a:p>
            <a:pPr marL="0" lvl="0" indent="0" algn="l" rtl="0">
              <a:spcBef>
                <a:spcPts val="1000"/>
              </a:spcBef>
              <a:spcAft>
                <a:spcPts val="0"/>
              </a:spcAft>
              <a:buNone/>
            </a:pPr>
            <a:r>
              <a:rPr lang="en-US"/>
              <a:t>}</a:t>
            </a:r>
            <a:endParaRPr/>
          </a:p>
        </p:txBody>
      </p:sp>
      <p:pic>
        <p:nvPicPr>
          <p:cNvPr id="1239" name="Google Shape;1239;g2a8aac945e6_1_46"/>
          <p:cNvPicPr preferRelativeResize="0"/>
          <p:nvPr/>
        </p:nvPicPr>
        <p:blipFill>
          <a:blip r:embed="rId3">
            <a:alphaModFix/>
          </a:blip>
          <a:stretch>
            <a:fillRect/>
          </a:stretch>
        </p:blipFill>
        <p:spPr>
          <a:xfrm>
            <a:off x="8340300" y="2271700"/>
            <a:ext cx="1962150" cy="23145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243"/>
        <p:cNvGrpSpPr/>
        <p:nvPr/>
      </p:nvGrpSpPr>
      <p:grpSpPr>
        <a:xfrm>
          <a:off x="0" y="0"/>
          <a:ext cx="0" cy="0"/>
          <a:chOff x="0" y="0"/>
          <a:chExt cx="0" cy="0"/>
        </a:xfrm>
      </p:grpSpPr>
      <p:sp>
        <p:nvSpPr>
          <p:cNvPr id="1244" name="Google Shape;1244;g2a8aac945e6_1_57"/>
          <p:cNvSpPr txBox="1">
            <a:spLocks noGrp="1"/>
          </p:cNvSpPr>
          <p:nvPr>
            <p:ph type="title"/>
          </p:nvPr>
        </p:nvSpPr>
        <p:spPr>
          <a:xfrm>
            <a:off x="838200" y="0"/>
            <a:ext cx="10515600" cy="6285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Continue and label</a:t>
            </a:r>
            <a:endParaRPr/>
          </a:p>
        </p:txBody>
      </p:sp>
      <p:sp>
        <p:nvSpPr>
          <p:cNvPr id="1245" name="Google Shape;1245;g2a8aac945e6_1_57"/>
          <p:cNvSpPr txBox="1">
            <a:spLocks noGrp="1"/>
          </p:cNvSpPr>
          <p:nvPr>
            <p:ph type="body" idx="1"/>
          </p:nvPr>
        </p:nvSpPr>
        <p:spPr>
          <a:xfrm>
            <a:off x="838200" y="628500"/>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continue may specify a label to describe which enclosing loop to continue.</a:t>
            </a:r>
            <a:endParaRPr/>
          </a:p>
          <a:p>
            <a:pPr marL="0" lvl="0" indent="0" algn="l" rtl="0">
              <a:spcBef>
                <a:spcPts val="1000"/>
              </a:spcBef>
              <a:spcAft>
                <a:spcPts val="0"/>
              </a:spcAft>
              <a:buNone/>
            </a:pPr>
            <a:r>
              <a:rPr lang="en-US"/>
              <a:t>Example program that uses continue to print a triangular multiplication table for 0 through 9:</a:t>
            </a:r>
            <a:endParaRPr/>
          </a:p>
          <a:p>
            <a:pPr marL="0" lvl="0" indent="0" algn="l" rtl="0">
              <a:spcBef>
                <a:spcPts val="1000"/>
              </a:spcBef>
              <a:spcAft>
                <a:spcPts val="0"/>
              </a:spcAft>
              <a:buNone/>
            </a:pPr>
            <a:endParaRPr/>
          </a:p>
        </p:txBody>
      </p:sp>
      <p:pic>
        <p:nvPicPr>
          <p:cNvPr id="1246" name="Google Shape;1246;g2a8aac945e6_1_57"/>
          <p:cNvPicPr preferRelativeResize="0"/>
          <p:nvPr/>
        </p:nvPicPr>
        <p:blipFill>
          <a:blip r:embed="rId3">
            <a:alphaModFix/>
          </a:blip>
          <a:stretch>
            <a:fillRect/>
          </a:stretch>
        </p:blipFill>
        <p:spPr>
          <a:xfrm>
            <a:off x="435550" y="2411200"/>
            <a:ext cx="7606826" cy="4351199"/>
          </a:xfrm>
          <a:prstGeom prst="rect">
            <a:avLst/>
          </a:prstGeom>
          <a:noFill/>
          <a:ln>
            <a:noFill/>
          </a:ln>
        </p:spPr>
      </p:pic>
      <p:pic>
        <p:nvPicPr>
          <p:cNvPr id="1247" name="Google Shape;1247;g2a8aac945e6_1_57"/>
          <p:cNvPicPr preferRelativeResize="0"/>
          <p:nvPr/>
        </p:nvPicPr>
        <p:blipFill>
          <a:blip r:embed="rId4">
            <a:alphaModFix/>
          </a:blip>
          <a:stretch>
            <a:fillRect/>
          </a:stretch>
        </p:blipFill>
        <p:spPr>
          <a:xfrm>
            <a:off x="8014825" y="2598850"/>
            <a:ext cx="4177175" cy="267902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g2a8aac945e6_1_6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return stmt</a:t>
            </a:r>
            <a:endParaRPr/>
          </a:p>
        </p:txBody>
      </p:sp>
      <p:sp>
        <p:nvSpPr>
          <p:cNvPr id="1253" name="Google Shape;1253;g2a8aac945e6_1_66"/>
          <p:cNvSpPr txBox="1">
            <a:spLocks noGrp="1"/>
          </p:cNvSpPr>
          <p:nvPr>
            <p:ph type="body" idx="1"/>
          </p:nvPr>
        </p:nvSpPr>
        <p:spPr>
          <a:xfrm>
            <a:off x="838200" y="1450950"/>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The return statement is used to explicitly return from a method. </a:t>
            </a:r>
            <a:endParaRPr/>
          </a:p>
          <a:p>
            <a:pPr marL="0" lvl="0" indent="0" algn="l" rtl="0">
              <a:spcBef>
                <a:spcPts val="1000"/>
              </a:spcBef>
              <a:spcAft>
                <a:spcPts val="0"/>
              </a:spcAft>
              <a:buNone/>
            </a:pPr>
            <a:r>
              <a:rPr lang="en-US"/>
              <a:t>That is, it causes program control to transfer back to the caller of the method.</a:t>
            </a:r>
            <a:endParaRPr/>
          </a:p>
        </p:txBody>
      </p:sp>
      <p:pic>
        <p:nvPicPr>
          <p:cNvPr id="1254" name="Google Shape;1254;g2a8aac945e6_1_66"/>
          <p:cNvPicPr preferRelativeResize="0"/>
          <p:nvPr/>
        </p:nvPicPr>
        <p:blipFill>
          <a:blip r:embed="rId3">
            <a:alphaModFix/>
          </a:blip>
          <a:stretch>
            <a:fillRect/>
          </a:stretch>
        </p:blipFill>
        <p:spPr>
          <a:xfrm>
            <a:off x="4423546" y="2506800"/>
            <a:ext cx="6558793" cy="4351199"/>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g2a8aac945e6_0_60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Nested Loops</a:t>
            </a:r>
            <a:endParaRPr/>
          </a:p>
        </p:txBody>
      </p:sp>
      <p:sp>
        <p:nvSpPr>
          <p:cNvPr id="2" name="Text Placeholder 1"/>
          <p:cNvSpPr>
            <a:spLocks noGrp="1"/>
          </p:cNvSpPr>
          <p:nvPr>
            <p:ph type="body" idx="1"/>
          </p:nvPr>
        </p:nvSpPr>
        <p:spPr/>
        <p:txBody>
          <a:bodyPr/>
          <a:lstStyle/>
          <a:p>
            <a:endParaRPr lang="en-IN"/>
          </a:p>
        </p:txBody>
      </p:sp>
      <p:pic>
        <p:nvPicPr>
          <p:cNvPr id="1260" name="Google Shape;1260;g2a8aac945e6_0_602"/>
          <p:cNvPicPr preferRelativeResize="0"/>
          <p:nvPr/>
        </p:nvPicPr>
        <p:blipFill>
          <a:blip r:embed="rId3">
            <a:alphaModFix/>
          </a:blip>
          <a:stretch>
            <a:fillRect/>
          </a:stretch>
        </p:blipFill>
        <p:spPr>
          <a:xfrm>
            <a:off x="152400" y="1843225"/>
            <a:ext cx="7961500" cy="4540900"/>
          </a:xfrm>
          <a:prstGeom prst="rect">
            <a:avLst/>
          </a:prstGeom>
          <a:noFill/>
          <a:ln w="9525" cap="flat" cmpd="sng">
            <a:solidFill>
              <a:schemeClr val="dk2"/>
            </a:solidFill>
            <a:prstDash val="solid"/>
            <a:round/>
            <a:headEnd type="none" w="sm" len="sm"/>
            <a:tailEnd type="none" w="sm" len="sm"/>
          </a:ln>
        </p:spPr>
      </p:pic>
      <p:pic>
        <p:nvPicPr>
          <p:cNvPr id="1261" name="Google Shape;1261;g2a8aac945e6_0_602"/>
          <p:cNvPicPr preferRelativeResize="0"/>
          <p:nvPr/>
        </p:nvPicPr>
        <p:blipFill>
          <a:blip r:embed="rId4">
            <a:alphaModFix/>
          </a:blip>
          <a:stretch>
            <a:fillRect/>
          </a:stretch>
        </p:blipFill>
        <p:spPr>
          <a:xfrm>
            <a:off x="8266300" y="1843225"/>
            <a:ext cx="3773301" cy="28691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IN" sz="3600" b="1" dirty="0">
                <a:latin typeface="Times New Roman" pitchFamily="18" charset="0"/>
                <a:cs typeface="Times New Roman" pitchFamily="18" charset="0"/>
              </a:rPr>
              <a:t>Introducing Classes</a:t>
            </a:r>
          </a:p>
        </p:txBody>
      </p:sp>
      <p:sp>
        <p:nvSpPr>
          <p:cNvPr id="5" name="Text Placeholder 4"/>
          <p:cNvSpPr>
            <a:spLocks noGrp="1"/>
          </p:cNvSpPr>
          <p:nvPr>
            <p:ph type="body" idx="1"/>
          </p:nvPr>
        </p:nvSpPr>
        <p:spPr/>
        <p:txBody>
          <a:bodyPr>
            <a:noAutofit/>
          </a:bodyPr>
          <a:lstStyle/>
          <a:p>
            <a:pPr algn="just"/>
            <a:r>
              <a:rPr lang="en-GB" sz="2400" dirty="0">
                <a:latin typeface="Times New Roman" pitchFamily="18" charset="0"/>
                <a:cs typeface="Times New Roman" pitchFamily="18" charset="0"/>
              </a:rPr>
              <a:t>The class is at the core of Java. It is the </a:t>
            </a:r>
            <a:r>
              <a:rPr lang="en-GB" sz="2400" dirty="0">
                <a:solidFill>
                  <a:srgbClr val="C00000"/>
                </a:solidFill>
                <a:latin typeface="Times New Roman" pitchFamily="18" charset="0"/>
                <a:cs typeface="Times New Roman" pitchFamily="18" charset="0"/>
              </a:rPr>
              <a:t>logical construct </a:t>
            </a:r>
            <a:r>
              <a:rPr lang="en-GB" sz="2400" dirty="0">
                <a:latin typeface="Times New Roman" pitchFamily="18" charset="0"/>
                <a:cs typeface="Times New Roman" pitchFamily="18" charset="0"/>
              </a:rPr>
              <a:t>upon which the entire Java language is built because it defines </a:t>
            </a:r>
            <a:r>
              <a:rPr lang="en-GB" sz="2400" dirty="0">
                <a:solidFill>
                  <a:srgbClr val="C00000"/>
                </a:solidFill>
                <a:latin typeface="Times New Roman" pitchFamily="18" charset="0"/>
                <a:cs typeface="Times New Roman" pitchFamily="18" charset="0"/>
              </a:rPr>
              <a:t>the shape and nature of an object</a:t>
            </a:r>
            <a:r>
              <a:rPr lang="en-GB" sz="2400" dirty="0">
                <a:latin typeface="Times New Roman" pitchFamily="18" charset="0"/>
                <a:cs typeface="Times New Roman" pitchFamily="18" charset="0"/>
              </a:rPr>
              <a:t>.</a:t>
            </a:r>
          </a:p>
          <a:p>
            <a:pPr algn="just"/>
            <a:r>
              <a:rPr lang="en-GB" sz="2400" dirty="0">
                <a:latin typeface="Times New Roman" pitchFamily="18" charset="0"/>
                <a:cs typeface="Times New Roman" pitchFamily="18" charset="0"/>
              </a:rPr>
              <a:t> As such, the class forms the basis for object-oriented programming in Java</a:t>
            </a:r>
          </a:p>
          <a:p>
            <a:pPr algn="just"/>
            <a:r>
              <a:rPr lang="en-GB" sz="2400" dirty="0">
                <a:latin typeface="Times New Roman" pitchFamily="18" charset="0"/>
                <a:cs typeface="Times New Roman" pitchFamily="18" charset="0"/>
              </a:rPr>
              <a:t>A class is declared by use of the </a:t>
            </a:r>
            <a:r>
              <a:rPr lang="en-GB" sz="2400" b="1" dirty="0">
                <a:latin typeface="Times New Roman" pitchFamily="18" charset="0"/>
                <a:cs typeface="Times New Roman" pitchFamily="18" charset="0"/>
              </a:rPr>
              <a:t>class </a:t>
            </a:r>
            <a:r>
              <a:rPr lang="en-GB" sz="2400" dirty="0">
                <a:latin typeface="Times New Roman" pitchFamily="18" charset="0"/>
                <a:cs typeface="Times New Roman" pitchFamily="18" charset="0"/>
              </a:rPr>
              <a:t>keyword. A class is a </a:t>
            </a:r>
            <a:r>
              <a:rPr lang="en-GB" sz="2400" i="1" dirty="0">
                <a:latin typeface="Times New Roman" pitchFamily="18" charset="0"/>
                <a:cs typeface="Times New Roman" pitchFamily="18" charset="0"/>
              </a:rPr>
              <a:t>template </a:t>
            </a:r>
            <a:r>
              <a:rPr lang="en-GB" sz="2400" dirty="0">
                <a:latin typeface="Times New Roman" pitchFamily="18" charset="0"/>
                <a:cs typeface="Times New Roman" pitchFamily="18" charset="0"/>
              </a:rPr>
              <a:t>for an object, and an object is an </a:t>
            </a:r>
            <a:r>
              <a:rPr lang="en-GB" sz="2400" i="1" dirty="0">
                <a:latin typeface="Times New Roman" pitchFamily="18" charset="0"/>
                <a:cs typeface="Times New Roman" pitchFamily="18" charset="0"/>
              </a:rPr>
              <a:t>instance </a:t>
            </a:r>
            <a:r>
              <a:rPr lang="en-GB" sz="2400" dirty="0">
                <a:latin typeface="Times New Roman" pitchFamily="18" charset="0"/>
                <a:cs typeface="Times New Roman" pitchFamily="18" charset="0"/>
              </a:rPr>
              <a:t>of a class. </a:t>
            </a:r>
          </a:p>
          <a:p>
            <a:pPr algn="just"/>
            <a:r>
              <a:rPr lang="en-GB" sz="2400" dirty="0">
                <a:latin typeface="Times New Roman" pitchFamily="18" charset="0"/>
                <a:cs typeface="Times New Roman" pitchFamily="18" charset="0"/>
              </a:rPr>
              <a:t>The data, or variables, defined within a </a:t>
            </a:r>
            <a:r>
              <a:rPr lang="en-GB" sz="2400" b="1" dirty="0">
                <a:latin typeface="Times New Roman" pitchFamily="18" charset="0"/>
                <a:cs typeface="Times New Roman" pitchFamily="18" charset="0"/>
              </a:rPr>
              <a:t>class </a:t>
            </a:r>
            <a:r>
              <a:rPr lang="en-GB" sz="2400" dirty="0">
                <a:latin typeface="Times New Roman" pitchFamily="18" charset="0"/>
                <a:cs typeface="Times New Roman" pitchFamily="18" charset="0"/>
              </a:rPr>
              <a:t>are called </a:t>
            </a:r>
            <a:r>
              <a:rPr lang="en-GB" sz="2400" i="1" dirty="0">
                <a:latin typeface="Times New Roman" pitchFamily="18" charset="0"/>
                <a:cs typeface="Times New Roman" pitchFamily="18" charset="0"/>
              </a:rPr>
              <a:t>instance variables</a:t>
            </a:r>
            <a:r>
              <a:rPr lang="en-GB" sz="2400" dirty="0">
                <a:latin typeface="Times New Roman" pitchFamily="18" charset="0"/>
                <a:cs typeface="Times New Roman" pitchFamily="18" charset="0"/>
              </a:rPr>
              <a:t>. The code is contained within </a:t>
            </a:r>
            <a:r>
              <a:rPr lang="en-GB" sz="2400" i="1" dirty="0">
                <a:latin typeface="Times New Roman" pitchFamily="18" charset="0"/>
                <a:cs typeface="Times New Roman" pitchFamily="18" charset="0"/>
              </a:rPr>
              <a:t>methods</a:t>
            </a:r>
            <a:r>
              <a:rPr lang="en-GB" sz="2400" dirty="0">
                <a:latin typeface="Times New Roman" pitchFamily="18" charset="0"/>
                <a:cs typeface="Times New Roman" pitchFamily="18" charset="0"/>
              </a:rPr>
              <a:t>. Collectively, the methods and variables defined within a class are called </a:t>
            </a:r>
            <a:r>
              <a:rPr lang="en-GB" sz="2400" i="1" dirty="0">
                <a:latin typeface="Times New Roman" pitchFamily="18" charset="0"/>
                <a:cs typeface="Times New Roman" pitchFamily="18" charset="0"/>
              </a:rPr>
              <a:t>members </a:t>
            </a:r>
            <a:r>
              <a:rPr lang="en-GB" sz="2400" dirty="0">
                <a:latin typeface="Times New Roman" pitchFamily="18" charset="0"/>
                <a:cs typeface="Times New Roman" pitchFamily="18" charset="0"/>
              </a:rPr>
              <a:t>of the class. In most classes, the instance variables are acted upon and accessed by the methods defined for that class. </a:t>
            </a:r>
          </a:p>
        </p:txBody>
      </p:sp>
    </p:spTree>
    <p:extLst>
      <p:ext uri="{BB962C8B-B14F-4D97-AF65-F5344CB8AC3E}">
        <p14:creationId xmlns:p14="http://schemas.microsoft.com/office/powerpoint/2010/main" val="155274165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32656"/>
            <a:ext cx="9144000" cy="5616624"/>
          </a:xfrm>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404664"/>
            <a:ext cx="5223273"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107535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68" y="0"/>
            <a:ext cx="10515600" cy="1325563"/>
          </a:xfrm>
        </p:spPr>
        <p:txBody>
          <a:bodyPr>
            <a:normAutofit/>
          </a:bodyPr>
          <a:lstStyle/>
          <a:p>
            <a:r>
              <a:rPr lang="en-IN" sz="3200" b="1" dirty="0"/>
              <a:t>A Simple Class </a:t>
            </a:r>
            <a:endParaRPr lang="en-IN" sz="3200" dirty="0"/>
          </a:p>
        </p:txBody>
      </p:sp>
      <p:sp>
        <p:nvSpPr>
          <p:cNvPr id="3" name="Text Placeholder 2"/>
          <p:cNvSpPr>
            <a:spLocks noGrp="1"/>
          </p:cNvSpPr>
          <p:nvPr>
            <p:ph type="body" idx="1"/>
          </p:nvPr>
        </p:nvSpPr>
        <p:spPr>
          <a:xfrm>
            <a:off x="263352" y="1124744"/>
            <a:ext cx="11521280" cy="5256584"/>
          </a:xfrm>
        </p:spPr>
        <p:txBody>
          <a:bodyPr/>
          <a:lstStyle/>
          <a:p>
            <a:endParaRPr lang="en-GB" dirty="0"/>
          </a:p>
          <a:p>
            <a:endParaRPr lang="en-GB" dirty="0"/>
          </a:p>
          <a:p>
            <a:endParaRPr lang="en-GB" dirty="0"/>
          </a:p>
          <a:p>
            <a:pPr algn="just"/>
            <a:r>
              <a:rPr lang="en-GB" sz="2400" dirty="0"/>
              <a:t>To actually create a </a:t>
            </a:r>
            <a:r>
              <a:rPr lang="en-GB" sz="2400" b="1" dirty="0"/>
              <a:t>Box </a:t>
            </a:r>
            <a:r>
              <a:rPr lang="en-GB" sz="2400" dirty="0"/>
              <a:t>object, you will use a statement like the following: </a:t>
            </a:r>
          </a:p>
          <a:p>
            <a:pPr marL="114300" indent="0" algn="just">
              <a:buNone/>
            </a:pPr>
            <a:r>
              <a:rPr lang="en-GB" sz="2400" dirty="0"/>
              <a:t>    Box </a:t>
            </a:r>
            <a:r>
              <a:rPr lang="en-GB" sz="2400" dirty="0" err="1"/>
              <a:t>mybox</a:t>
            </a:r>
            <a:r>
              <a:rPr lang="en-GB" sz="2400" dirty="0"/>
              <a:t> = new Box(); // create a Box object called </a:t>
            </a:r>
            <a:r>
              <a:rPr lang="en-GB" sz="2400" dirty="0" err="1"/>
              <a:t>mybox</a:t>
            </a:r>
            <a:r>
              <a:rPr lang="en-GB" sz="2400" dirty="0"/>
              <a:t> </a:t>
            </a:r>
          </a:p>
          <a:p>
            <a:pPr marL="114300" indent="0" algn="just">
              <a:buNone/>
            </a:pPr>
            <a:r>
              <a:rPr lang="en-IN" sz="2400" dirty="0"/>
              <a:t>    </a:t>
            </a:r>
            <a:r>
              <a:rPr lang="en-IN" sz="2400" dirty="0" err="1"/>
              <a:t>mybox.width</a:t>
            </a:r>
            <a:r>
              <a:rPr lang="en-IN" sz="2400" dirty="0"/>
              <a:t> = 100; </a:t>
            </a:r>
          </a:p>
          <a:p>
            <a:pPr algn="just"/>
            <a:r>
              <a:rPr lang="en-GB" sz="2400" dirty="0"/>
              <a:t>This statement tells the compiler to assign the copy of </a:t>
            </a:r>
            <a:r>
              <a:rPr lang="en-GB" sz="2400" b="1" dirty="0"/>
              <a:t>width </a:t>
            </a:r>
            <a:r>
              <a:rPr lang="en-GB" sz="2400" dirty="0"/>
              <a:t>that is contained within the </a:t>
            </a:r>
            <a:r>
              <a:rPr lang="en-GB" sz="2400" b="1" dirty="0" err="1"/>
              <a:t>mybox</a:t>
            </a:r>
            <a:r>
              <a:rPr lang="en-GB" sz="2400" b="1" dirty="0"/>
              <a:t> </a:t>
            </a:r>
            <a:r>
              <a:rPr lang="en-GB" sz="2400" dirty="0"/>
              <a:t>object the value of 100 </a:t>
            </a:r>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755" y="1268760"/>
            <a:ext cx="2395125"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458793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260648"/>
            <a:ext cx="8280920" cy="6480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648580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0004" y="620688"/>
            <a:ext cx="9144000" cy="578445"/>
          </a:xfrm>
        </p:spPr>
        <p:txBody>
          <a:bodyPr>
            <a:normAutofit/>
          </a:bodyPr>
          <a:lstStyle/>
          <a:p>
            <a:r>
              <a:rPr lang="en-IN" sz="3200" b="1" dirty="0">
                <a:latin typeface="Times New Roman" pitchFamily="18" charset="0"/>
                <a:cs typeface="Times New Roman" pitchFamily="18" charset="0"/>
              </a:rPr>
              <a:t>Declaring Objects </a:t>
            </a:r>
            <a:endParaRPr lang="en-IN" sz="3200" dirty="0">
              <a:latin typeface="Times New Roman" pitchFamily="18" charset="0"/>
              <a:cs typeface="Times New Roman" pitchFamily="18" charset="0"/>
            </a:endParaRPr>
          </a:p>
        </p:txBody>
      </p:sp>
      <p:sp>
        <p:nvSpPr>
          <p:cNvPr id="3" name="Subtitle 2"/>
          <p:cNvSpPr>
            <a:spLocks noGrp="1"/>
          </p:cNvSpPr>
          <p:nvPr>
            <p:ph type="subTitle" idx="1"/>
          </p:nvPr>
        </p:nvSpPr>
        <p:spPr>
          <a:xfrm>
            <a:off x="983432" y="1412776"/>
            <a:ext cx="9144000" cy="1655762"/>
          </a:xfrm>
        </p:spPr>
        <p:txBody>
          <a:bodyPr>
            <a:noAutofit/>
          </a:bodyPr>
          <a:lstStyle/>
          <a:p>
            <a:pPr algn="l"/>
            <a:r>
              <a:rPr lang="en-GB" sz="2000" dirty="0">
                <a:latin typeface="Times New Roman" pitchFamily="18" charset="0"/>
                <a:cs typeface="Times New Roman" pitchFamily="18" charset="0"/>
              </a:rPr>
              <a:t>In the preceding sample programs, a line similar to the following is used to declare an object of type </a:t>
            </a:r>
            <a:r>
              <a:rPr lang="en-GB" sz="2000" b="1" dirty="0">
                <a:latin typeface="Times New Roman" pitchFamily="18" charset="0"/>
                <a:cs typeface="Times New Roman" pitchFamily="18" charset="0"/>
              </a:rPr>
              <a:t>Box</a:t>
            </a:r>
            <a:r>
              <a:rPr lang="en-GB" sz="2000" dirty="0">
                <a:latin typeface="Times New Roman" pitchFamily="18" charset="0"/>
                <a:cs typeface="Times New Roman" pitchFamily="18" charset="0"/>
              </a:rPr>
              <a:t>: </a:t>
            </a:r>
          </a:p>
          <a:p>
            <a:pPr algn="l"/>
            <a:r>
              <a:rPr lang="en-IN" sz="2000" dirty="0">
                <a:latin typeface="Times New Roman" pitchFamily="18" charset="0"/>
                <a:cs typeface="Times New Roman" pitchFamily="18" charset="0"/>
              </a:rPr>
              <a:t>Box </a:t>
            </a:r>
            <a:r>
              <a:rPr lang="en-IN" sz="2000" dirty="0" err="1">
                <a:latin typeface="Times New Roman" pitchFamily="18" charset="0"/>
                <a:cs typeface="Times New Roman" pitchFamily="18" charset="0"/>
              </a:rPr>
              <a:t>mybox</a:t>
            </a:r>
            <a:r>
              <a:rPr lang="en-IN" sz="2000" dirty="0">
                <a:latin typeface="Times New Roman" pitchFamily="18" charset="0"/>
                <a:cs typeface="Times New Roman" pitchFamily="18" charset="0"/>
              </a:rPr>
              <a:t> = new Box(); </a:t>
            </a:r>
          </a:p>
          <a:p>
            <a:pPr algn="l"/>
            <a:r>
              <a:rPr lang="en-GB" sz="2000" dirty="0">
                <a:latin typeface="Times New Roman" pitchFamily="18" charset="0"/>
                <a:cs typeface="Times New Roman" pitchFamily="18" charset="0"/>
              </a:rPr>
              <a:t>This statement combines the two steps just described. It can be rewritten like this to show each step more clearly: </a:t>
            </a:r>
          </a:p>
          <a:p>
            <a:pPr algn="l"/>
            <a:r>
              <a:rPr lang="en-GB" sz="2000" dirty="0">
                <a:latin typeface="Times New Roman" pitchFamily="18" charset="0"/>
                <a:cs typeface="Times New Roman" pitchFamily="18" charset="0"/>
              </a:rPr>
              <a:t>Box </a:t>
            </a:r>
            <a:r>
              <a:rPr lang="en-GB" sz="2000" dirty="0" err="1">
                <a:latin typeface="Times New Roman" pitchFamily="18" charset="0"/>
                <a:cs typeface="Times New Roman" pitchFamily="18" charset="0"/>
              </a:rPr>
              <a:t>mybox</a:t>
            </a:r>
            <a:r>
              <a:rPr lang="en-GB" sz="2000" dirty="0">
                <a:latin typeface="Times New Roman" pitchFamily="18" charset="0"/>
                <a:cs typeface="Times New Roman" pitchFamily="18" charset="0"/>
              </a:rPr>
              <a:t>; // declare reference to object </a:t>
            </a:r>
            <a:r>
              <a:rPr lang="en-GB" sz="2000" dirty="0" err="1">
                <a:latin typeface="Times New Roman" pitchFamily="18" charset="0"/>
                <a:cs typeface="Times New Roman" pitchFamily="18" charset="0"/>
              </a:rPr>
              <a:t>mybox</a:t>
            </a:r>
            <a:r>
              <a:rPr lang="en-GB" sz="2000" dirty="0">
                <a:latin typeface="Times New Roman" pitchFamily="18" charset="0"/>
                <a:cs typeface="Times New Roman" pitchFamily="18" charset="0"/>
              </a:rPr>
              <a:t> = new Box(); // allocate a Box object </a:t>
            </a:r>
            <a:endParaRPr lang="en-IN"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4005064"/>
            <a:ext cx="7416824"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8320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3432" y="260648"/>
            <a:ext cx="9144000" cy="595874"/>
          </a:xfrm>
        </p:spPr>
        <p:txBody>
          <a:bodyPr>
            <a:normAutofit/>
          </a:bodyPr>
          <a:lstStyle/>
          <a:p>
            <a:r>
              <a:rPr lang="en-IN" sz="3200" b="1" dirty="0">
                <a:latin typeface="Times New Roman" pitchFamily="18" charset="0"/>
                <a:cs typeface="Times New Roman" pitchFamily="18" charset="0"/>
              </a:rPr>
              <a:t>Assigning Object Reference Variables </a:t>
            </a:r>
            <a:endParaRPr lang="en-IN"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271464" y="1340768"/>
            <a:ext cx="9144000" cy="1655762"/>
          </a:xfrm>
        </p:spPr>
        <p:txBody>
          <a:bodyPr/>
          <a:lstStyle/>
          <a:p>
            <a:r>
              <a:rPr lang="en-GB" sz="2800" dirty="0"/>
              <a:t>Box b1 = new Box(); Box b2 = b1; </a:t>
            </a:r>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648" y="1988840"/>
            <a:ext cx="502920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27648" y="3933056"/>
            <a:ext cx="6096000" cy="1323439"/>
          </a:xfrm>
          <a:prstGeom prst="rect">
            <a:avLst/>
          </a:prstGeom>
        </p:spPr>
        <p:txBody>
          <a:bodyPr>
            <a:spAutoFit/>
          </a:bodyPr>
          <a:lstStyle/>
          <a:p>
            <a:r>
              <a:rPr lang="en-GB" sz="2800" dirty="0">
                <a:latin typeface="Times New Roman" pitchFamily="18" charset="0"/>
                <a:cs typeface="Times New Roman" pitchFamily="18" charset="0"/>
              </a:rPr>
              <a:t>Box b1 = new Box(); Box b2 = b1; </a:t>
            </a:r>
          </a:p>
          <a:p>
            <a:r>
              <a:rPr lang="en-IN" sz="2400" dirty="0">
                <a:latin typeface="Times New Roman" pitchFamily="18" charset="0"/>
                <a:cs typeface="Times New Roman" pitchFamily="18" charset="0"/>
              </a:rPr>
              <a:t>// ... </a:t>
            </a:r>
          </a:p>
          <a:p>
            <a:r>
              <a:rPr lang="en-IN" sz="2800" dirty="0">
                <a:latin typeface="Times New Roman" pitchFamily="18" charset="0"/>
                <a:cs typeface="Times New Roman" pitchFamily="18" charset="0"/>
              </a:rPr>
              <a:t>b1 = null</a:t>
            </a:r>
            <a:r>
              <a:rPr lang="en-IN" sz="2800" dirty="0"/>
              <a:t>; </a:t>
            </a:r>
          </a:p>
        </p:txBody>
      </p:sp>
    </p:spTree>
    <p:extLst>
      <p:ext uri="{BB962C8B-B14F-4D97-AF65-F5344CB8AC3E}">
        <p14:creationId xmlns:p14="http://schemas.microsoft.com/office/powerpoint/2010/main" val="191747033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88640"/>
            <a:ext cx="7632848"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192683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16633"/>
            <a:ext cx="6408712" cy="674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95086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188641"/>
            <a:ext cx="10515600" cy="936104"/>
          </a:xfrm>
        </p:spPr>
        <p:txBody>
          <a:bodyPr>
            <a:normAutofit/>
          </a:bodyPr>
          <a:lstStyle/>
          <a:p>
            <a:pPr algn="ctr"/>
            <a:r>
              <a:rPr lang="en-IN" sz="3600" b="1" dirty="0">
                <a:latin typeface="Times New Roman" pitchFamily="18" charset="0"/>
                <a:cs typeface="Times New Roman" pitchFamily="18" charset="0"/>
              </a:rPr>
              <a:t>Constructors </a:t>
            </a:r>
            <a:endParaRPr lang="en-IN"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551384" y="1340768"/>
            <a:ext cx="11233248" cy="4968552"/>
          </a:xfrm>
        </p:spPr>
        <p:txBody>
          <a:bodyPr>
            <a:normAutofit/>
          </a:bodyPr>
          <a:lstStyle/>
          <a:p>
            <a:pPr algn="just"/>
            <a:r>
              <a:rPr lang="en-GB" dirty="0">
                <a:latin typeface="Times New Roman" pitchFamily="18" charset="0"/>
                <a:cs typeface="Times New Roman" pitchFamily="18" charset="0"/>
              </a:rPr>
              <a:t>A </a:t>
            </a:r>
            <a:r>
              <a:rPr lang="en-GB" i="1" dirty="0">
                <a:latin typeface="Times New Roman" pitchFamily="18" charset="0"/>
                <a:cs typeface="Times New Roman" pitchFamily="18" charset="0"/>
              </a:rPr>
              <a:t>constructor </a:t>
            </a:r>
            <a:r>
              <a:rPr lang="en-GB" dirty="0">
                <a:solidFill>
                  <a:srgbClr val="C00000"/>
                </a:solidFill>
                <a:latin typeface="Times New Roman" pitchFamily="18" charset="0"/>
                <a:cs typeface="Times New Roman" pitchFamily="18" charset="0"/>
              </a:rPr>
              <a:t>initializes an object </a:t>
            </a:r>
            <a:r>
              <a:rPr lang="en-GB" dirty="0">
                <a:latin typeface="Times New Roman" pitchFamily="18" charset="0"/>
                <a:cs typeface="Times New Roman" pitchFamily="18" charset="0"/>
              </a:rPr>
              <a:t>immediately upon creation. It has the same name as the class in which it resides and is syntactically similar to a method. </a:t>
            </a:r>
          </a:p>
          <a:p>
            <a:pPr algn="just"/>
            <a:r>
              <a:rPr lang="en-GB" dirty="0">
                <a:latin typeface="Times New Roman" pitchFamily="18" charset="0"/>
                <a:cs typeface="Times New Roman" pitchFamily="18" charset="0"/>
              </a:rPr>
              <a:t>Once defined, the constructor is automatically called when the object is created, </a:t>
            </a:r>
            <a:r>
              <a:rPr lang="en-GB" dirty="0">
                <a:solidFill>
                  <a:srgbClr val="C00000"/>
                </a:solidFill>
                <a:latin typeface="Times New Roman" pitchFamily="18" charset="0"/>
                <a:cs typeface="Times New Roman" pitchFamily="18" charset="0"/>
              </a:rPr>
              <a:t>before the </a:t>
            </a:r>
            <a:r>
              <a:rPr lang="en-GB" b="1" dirty="0">
                <a:solidFill>
                  <a:srgbClr val="C00000"/>
                </a:solidFill>
                <a:latin typeface="Times New Roman" pitchFamily="18" charset="0"/>
                <a:cs typeface="Times New Roman" pitchFamily="18" charset="0"/>
              </a:rPr>
              <a:t>new </a:t>
            </a:r>
            <a:r>
              <a:rPr lang="en-GB" dirty="0">
                <a:solidFill>
                  <a:srgbClr val="C00000"/>
                </a:solidFill>
                <a:latin typeface="Times New Roman" pitchFamily="18" charset="0"/>
                <a:cs typeface="Times New Roman" pitchFamily="18" charset="0"/>
              </a:rPr>
              <a:t>operator completes</a:t>
            </a:r>
            <a:r>
              <a:rPr lang="en-GB" dirty="0">
                <a:latin typeface="Times New Roman" pitchFamily="18" charset="0"/>
                <a:cs typeface="Times New Roman" pitchFamily="18" charset="0"/>
              </a:rPr>
              <a:t>. </a:t>
            </a:r>
          </a:p>
          <a:p>
            <a:pPr algn="just"/>
            <a:r>
              <a:rPr lang="en-GB" dirty="0">
                <a:latin typeface="Times New Roman" pitchFamily="18" charset="0"/>
                <a:cs typeface="Times New Roman" pitchFamily="18" charset="0"/>
              </a:rPr>
              <a:t>Constructors look a little strange because they have </a:t>
            </a:r>
            <a:r>
              <a:rPr lang="en-GB" dirty="0">
                <a:solidFill>
                  <a:srgbClr val="C00000"/>
                </a:solidFill>
                <a:latin typeface="Times New Roman" pitchFamily="18" charset="0"/>
                <a:cs typeface="Times New Roman" pitchFamily="18" charset="0"/>
              </a:rPr>
              <a:t>no return type, not even </a:t>
            </a:r>
            <a:r>
              <a:rPr lang="en-GB" b="1" dirty="0">
                <a:solidFill>
                  <a:srgbClr val="C00000"/>
                </a:solidFill>
                <a:latin typeface="Times New Roman" pitchFamily="18" charset="0"/>
                <a:cs typeface="Times New Roman" pitchFamily="18" charset="0"/>
              </a:rPr>
              <a:t>void</a:t>
            </a:r>
            <a:r>
              <a:rPr lang="en-GB" dirty="0">
                <a:latin typeface="Times New Roman" pitchFamily="18" charset="0"/>
                <a:cs typeface="Times New Roman" pitchFamily="18" charset="0"/>
              </a:rPr>
              <a:t>. This is because the </a:t>
            </a:r>
            <a:r>
              <a:rPr lang="en-GB" dirty="0">
                <a:solidFill>
                  <a:srgbClr val="C00000"/>
                </a:solidFill>
                <a:latin typeface="Times New Roman" pitchFamily="18" charset="0"/>
                <a:cs typeface="Times New Roman" pitchFamily="18" charset="0"/>
              </a:rPr>
              <a:t>implicit return type of a class</a:t>
            </a:r>
            <a:r>
              <a:rPr lang="en-GB" dirty="0">
                <a:latin typeface="Times New Roman" pitchFamily="18" charset="0"/>
                <a:cs typeface="Times New Roman" pitchFamily="18" charset="0"/>
              </a:rPr>
              <a:t>’ constructor is the class type itself.</a:t>
            </a:r>
          </a:p>
          <a:p>
            <a:pPr algn="just"/>
            <a:r>
              <a:rPr lang="en-GB" dirty="0">
                <a:latin typeface="Times New Roman" pitchFamily="18" charset="0"/>
                <a:cs typeface="Times New Roman" pitchFamily="18" charset="0"/>
              </a:rPr>
              <a:t> It is the constructor’s job to initialize the internal state of an object so that the </a:t>
            </a:r>
            <a:r>
              <a:rPr lang="en-GB" dirty="0">
                <a:solidFill>
                  <a:srgbClr val="C00000"/>
                </a:solidFill>
                <a:latin typeface="Times New Roman" pitchFamily="18" charset="0"/>
                <a:cs typeface="Times New Roman" pitchFamily="18" charset="0"/>
              </a:rPr>
              <a:t>code creating an instance </a:t>
            </a:r>
            <a:r>
              <a:rPr lang="en-GB" dirty="0">
                <a:latin typeface="Times New Roman" pitchFamily="18" charset="0"/>
                <a:cs typeface="Times New Roman" pitchFamily="18" charset="0"/>
              </a:rPr>
              <a:t>will have a </a:t>
            </a:r>
            <a:r>
              <a:rPr lang="en-GB" dirty="0">
                <a:solidFill>
                  <a:srgbClr val="C00000"/>
                </a:solidFill>
                <a:latin typeface="Times New Roman" pitchFamily="18" charset="0"/>
                <a:cs typeface="Times New Roman" pitchFamily="18" charset="0"/>
              </a:rPr>
              <a:t>fully initialized</a:t>
            </a:r>
            <a:r>
              <a:rPr lang="en-GB" dirty="0">
                <a:latin typeface="Times New Roman" pitchFamily="18" charset="0"/>
                <a:cs typeface="Times New Roman" pitchFamily="18" charset="0"/>
              </a:rPr>
              <a:t>, usable object immediately.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10294253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1000" contrast="81000"/>
                    </a14:imgEffect>
                  </a14:imgLayer>
                </a14:imgProps>
              </a:ext>
              <a:ext uri="{28A0092B-C50C-407E-A947-70E740481C1C}">
                <a14:useLocalDpi xmlns:a14="http://schemas.microsoft.com/office/drawing/2010/main" val="0"/>
              </a:ext>
            </a:extLst>
          </a:blip>
          <a:srcRect/>
          <a:stretch>
            <a:fillRect/>
          </a:stretch>
        </p:blipFill>
        <p:spPr bwMode="auto">
          <a:xfrm>
            <a:off x="2207568" y="260648"/>
            <a:ext cx="6840760" cy="659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422924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7368" y="548680"/>
            <a:ext cx="11449272" cy="4824536"/>
          </a:xfrm>
        </p:spPr>
        <p:txBody>
          <a:bodyPr>
            <a:normAutofit/>
          </a:bodyPr>
          <a:lstStyle/>
          <a:p>
            <a:pPr marL="88900" indent="3175" algn="just" defTabSz="901700"/>
            <a:r>
              <a:rPr lang="en-GB" dirty="0"/>
              <a:t>Before moving on, let’s re-examine the </a:t>
            </a:r>
            <a:r>
              <a:rPr lang="en-GB" b="1" dirty="0"/>
              <a:t>new </a:t>
            </a:r>
            <a:r>
              <a:rPr lang="en-GB" dirty="0"/>
              <a:t>operator. As you know, when you allocate an object, you use the following general form: </a:t>
            </a:r>
          </a:p>
          <a:p>
            <a:pPr algn="just" defTabSz="901700"/>
            <a:r>
              <a:rPr lang="en-IN" i="1" dirty="0"/>
              <a:t>class-</a:t>
            </a:r>
            <a:r>
              <a:rPr lang="en-IN" i="1" dirty="0" err="1"/>
              <a:t>var</a:t>
            </a:r>
            <a:r>
              <a:rPr lang="en-IN" i="1" dirty="0"/>
              <a:t> </a:t>
            </a:r>
            <a:r>
              <a:rPr lang="en-IN" dirty="0"/>
              <a:t>= new </a:t>
            </a:r>
            <a:r>
              <a:rPr lang="en-IN" i="1" dirty="0" err="1"/>
              <a:t>classname</a:t>
            </a:r>
            <a:r>
              <a:rPr lang="en-IN" i="1" dirty="0"/>
              <a:t> </a:t>
            </a:r>
            <a:r>
              <a:rPr lang="en-IN" dirty="0"/>
              <a:t>( ); </a:t>
            </a:r>
          </a:p>
          <a:p>
            <a:pPr marL="92075" indent="-41275" algn="just" defTabSz="901700"/>
            <a:r>
              <a:rPr lang="en-GB" dirty="0"/>
              <a:t>Now you can understand why the parentheses are needed after the class name. What is actually happening is that the constructor for the class is being called. Thus, in the line </a:t>
            </a:r>
          </a:p>
          <a:p>
            <a:pPr algn="just" defTabSz="901700"/>
            <a:r>
              <a:rPr lang="en-IN" dirty="0"/>
              <a:t>Box mybox1 = new Box(); </a:t>
            </a:r>
          </a:p>
          <a:p>
            <a:pPr marL="406400" algn="just" defTabSz="901700"/>
            <a:r>
              <a:rPr lang="en-GB" b="1" dirty="0"/>
              <a:t>new Box( ) </a:t>
            </a:r>
            <a:r>
              <a:rPr lang="en-GB" dirty="0"/>
              <a:t>is calling the </a:t>
            </a:r>
            <a:r>
              <a:rPr lang="en-GB" b="1" dirty="0"/>
              <a:t>Box( ) </a:t>
            </a:r>
            <a:r>
              <a:rPr lang="en-GB" dirty="0"/>
              <a:t>constructor. When you do not explicitly define a</a:t>
            </a:r>
          </a:p>
          <a:p>
            <a:pPr marL="406400" algn="just" defTabSz="901700"/>
            <a:r>
              <a:rPr lang="en-GB" dirty="0"/>
              <a:t>constructor for a class, then Java creates a default constructor for the class. </a:t>
            </a:r>
            <a:endParaRPr lang="en-IN" dirty="0"/>
          </a:p>
        </p:txBody>
      </p:sp>
    </p:spTree>
    <p:extLst>
      <p:ext uri="{BB962C8B-B14F-4D97-AF65-F5344CB8AC3E}">
        <p14:creationId xmlns:p14="http://schemas.microsoft.com/office/powerpoint/2010/main" val="241875411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sz="3200" b="1" dirty="0">
                <a:solidFill>
                  <a:srgbClr val="000000"/>
                </a:solidFill>
                <a:latin typeface="Times New Roman"/>
              </a:rPr>
              <a:t>Parameterized Constructors </a:t>
            </a:r>
            <a:endParaRPr lang="en-IN" sz="3200" dirty="0"/>
          </a:p>
        </p:txBody>
      </p:sp>
      <p:sp>
        <p:nvSpPr>
          <p:cNvPr id="5" name="Text Placeholder 4"/>
          <p:cNvSpPr>
            <a:spLocks noGrp="1"/>
          </p:cNvSpPr>
          <p:nvPr>
            <p:ph type="body" idx="1"/>
          </p:nvPr>
        </p:nvSpPr>
        <p:spPr/>
        <p:txBody>
          <a:bodyPr/>
          <a:lstStyle/>
          <a:p>
            <a:pPr marL="92075" indent="22225" algn="just"/>
            <a:r>
              <a:rPr lang="en-GB" dirty="0">
                <a:solidFill>
                  <a:srgbClr val="000000"/>
                </a:solidFill>
                <a:latin typeface="Times New Roman" pitchFamily="18" charset="0"/>
                <a:cs typeface="Times New Roman" pitchFamily="18" charset="0"/>
              </a:rPr>
              <a:t>While the </a:t>
            </a:r>
            <a:r>
              <a:rPr lang="en-GB" b="1" dirty="0">
                <a:solidFill>
                  <a:srgbClr val="000000"/>
                </a:solidFill>
                <a:latin typeface="Times New Roman" pitchFamily="18" charset="0"/>
                <a:cs typeface="Times New Roman" pitchFamily="18" charset="0"/>
              </a:rPr>
              <a:t>Box( ) </a:t>
            </a:r>
            <a:r>
              <a:rPr lang="en-GB" dirty="0">
                <a:solidFill>
                  <a:srgbClr val="000000"/>
                </a:solidFill>
                <a:latin typeface="Times New Roman" pitchFamily="18" charset="0"/>
                <a:cs typeface="Times New Roman" pitchFamily="18" charset="0"/>
              </a:rPr>
              <a:t>constructor in the preceding example does initialize a </a:t>
            </a:r>
            <a:r>
              <a:rPr lang="en-GB" b="1" dirty="0">
                <a:solidFill>
                  <a:srgbClr val="000000"/>
                </a:solidFill>
                <a:latin typeface="Times New Roman" pitchFamily="18" charset="0"/>
                <a:cs typeface="Times New Roman" pitchFamily="18" charset="0"/>
              </a:rPr>
              <a:t>Box </a:t>
            </a:r>
            <a:r>
              <a:rPr lang="en-GB" dirty="0">
                <a:solidFill>
                  <a:srgbClr val="000000"/>
                </a:solidFill>
                <a:latin typeface="Times New Roman" pitchFamily="18" charset="0"/>
                <a:cs typeface="Times New Roman" pitchFamily="18" charset="0"/>
              </a:rPr>
              <a:t>object, it is not very useful—all boxes have the same dimensions. What is needed is a way to construct </a:t>
            </a:r>
            <a:r>
              <a:rPr lang="en-GB" b="1" dirty="0">
                <a:solidFill>
                  <a:srgbClr val="000000"/>
                </a:solidFill>
                <a:latin typeface="Times New Roman" pitchFamily="18" charset="0"/>
                <a:cs typeface="Times New Roman" pitchFamily="18" charset="0"/>
              </a:rPr>
              <a:t>Box </a:t>
            </a:r>
            <a:r>
              <a:rPr lang="en-GB" dirty="0">
                <a:solidFill>
                  <a:srgbClr val="000000"/>
                </a:solidFill>
                <a:latin typeface="Times New Roman" pitchFamily="18" charset="0"/>
                <a:cs typeface="Times New Roman" pitchFamily="18" charset="0"/>
              </a:rPr>
              <a:t>objects of various dimensions. The easy solution is to add parameters to the constructor.</a:t>
            </a:r>
          </a:p>
          <a:p>
            <a:pPr marL="92075" indent="22225" algn="just"/>
            <a:r>
              <a:rPr lang="en-IN" b="1" dirty="0">
                <a:latin typeface="Times New Roman" pitchFamily="18" charset="0"/>
                <a:cs typeface="Times New Roman" pitchFamily="18" charset="0"/>
              </a:rPr>
              <a:t>Box </a:t>
            </a:r>
            <a:r>
              <a:rPr lang="en-IN" dirty="0">
                <a:latin typeface="Times New Roman" pitchFamily="18" charset="0"/>
                <a:cs typeface="Times New Roman" pitchFamily="18" charset="0"/>
              </a:rPr>
              <a:t>defines a </a:t>
            </a:r>
            <a:r>
              <a:rPr lang="en-GB" dirty="0">
                <a:latin typeface="Times New Roman" pitchFamily="18" charset="0"/>
                <a:cs typeface="Times New Roman" pitchFamily="18" charset="0"/>
              </a:rPr>
              <a:t>parameterized constructor that sets the dimensions of a box as specified by those parameters.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4196695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5163" y="0"/>
            <a:ext cx="578167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78550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680"/>
            <a:ext cx="10515600" cy="864096"/>
          </a:xfrm>
        </p:spPr>
        <p:txBody>
          <a:bodyPr>
            <a:normAutofit/>
          </a:bodyPr>
          <a:lstStyle/>
          <a:p>
            <a:r>
              <a:rPr lang="en-IN" sz="3600" b="1" dirty="0">
                <a:latin typeface="Times New Roman" pitchFamily="18" charset="0"/>
                <a:cs typeface="Times New Roman" pitchFamily="18" charset="0"/>
              </a:rPr>
              <a:t>The this Keyword </a:t>
            </a:r>
            <a:endParaRPr lang="en-IN"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767408" y="1484784"/>
            <a:ext cx="10801200" cy="4824536"/>
          </a:xfrm>
        </p:spPr>
        <p:txBody>
          <a:bodyPr/>
          <a:lstStyle/>
          <a:p>
            <a:pPr marL="114300" indent="0" algn="just">
              <a:buNone/>
            </a:pPr>
            <a:r>
              <a:rPr lang="en-GB" dirty="0">
                <a:latin typeface="Times New Roman" pitchFamily="18" charset="0"/>
                <a:cs typeface="Times New Roman" pitchFamily="18" charset="0"/>
              </a:rPr>
              <a:t>To allow this, Java defines the </a:t>
            </a:r>
            <a:r>
              <a:rPr lang="en-GB" b="1" dirty="0">
                <a:latin typeface="Times New Roman" pitchFamily="18" charset="0"/>
                <a:cs typeface="Times New Roman" pitchFamily="18" charset="0"/>
              </a:rPr>
              <a:t>this </a:t>
            </a:r>
            <a:r>
              <a:rPr lang="en-GB" dirty="0">
                <a:latin typeface="Times New Roman" pitchFamily="18" charset="0"/>
                <a:cs typeface="Times New Roman" pitchFamily="18" charset="0"/>
              </a:rPr>
              <a:t>keyword. </a:t>
            </a:r>
            <a:r>
              <a:rPr lang="en-GB" b="1" dirty="0">
                <a:latin typeface="Times New Roman" pitchFamily="18" charset="0"/>
                <a:cs typeface="Times New Roman" pitchFamily="18" charset="0"/>
              </a:rPr>
              <a:t>this </a:t>
            </a:r>
            <a:r>
              <a:rPr lang="en-GB" dirty="0">
                <a:latin typeface="Times New Roman" pitchFamily="18" charset="0"/>
                <a:cs typeface="Times New Roman" pitchFamily="18" charset="0"/>
              </a:rPr>
              <a:t>can be used inside any method to refer to the </a:t>
            </a:r>
            <a:r>
              <a:rPr lang="en-GB" i="1" dirty="0">
                <a:solidFill>
                  <a:srgbClr val="C00000"/>
                </a:solidFill>
                <a:latin typeface="Times New Roman" pitchFamily="18" charset="0"/>
                <a:cs typeface="Times New Roman" pitchFamily="18" charset="0"/>
              </a:rPr>
              <a:t>current </a:t>
            </a:r>
            <a:r>
              <a:rPr lang="en-GB" dirty="0">
                <a:solidFill>
                  <a:srgbClr val="C00000"/>
                </a:solidFill>
                <a:latin typeface="Times New Roman" pitchFamily="18" charset="0"/>
                <a:cs typeface="Times New Roman" pitchFamily="18" charset="0"/>
              </a:rPr>
              <a:t>object</a:t>
            </a:r>
            <a:r>
              <a:rPr lang="en-GB" dirty="0">
                <a:latin typeface="Times New Roman" pitchFamily="18" charset="0"/>
                <a:cs typeface="Times New Roman" pitchFamily="18" charset="0"/>
              </a:rPr>
              <a:t>. That is, </a:t>
            </a:r>
            <a:r>
              <a:rPr lang="en-GB" b="1" dirty="0">
                <a:latin typeface="Times New Roman" pitchFamily="18" charset="0"/>
                <a:cs typeface="Times New Roman" pitchFamily="18" charset="0"/>
              </a:rPr>
              <a:t>this </a:t>
            </a:r>
            <a:r>
              <a:rPr lang="en-GB" dirty="0">
                <a:latin typeface="Times New Roman" pitchFamily="18" charset="0"/>
                <a:cs typeface="Times New Roman" pitchFamily="18" charset="0"/>
              </a:rPr>
              <a:t>is always a reference to the object on which the method was invoked. You can use </a:t>
            </a:r>
            <a:r>
              <a:rPr lang="en-GB" b="1" dirty="0">
                <a:latin typeface="Times New Roman" pitchFamily="18" charset="0"/>
                <a:cs typeface="Times New Roman" pitchFamily="18" charset="0"/>
              </a:rPr>
              <a:t>this </a:t>
            </a:r>
            <a:r>
              <a:rPr lang="en-GB" dirty="0">
                <a:latin typeface="Times New Roman" pitchFamily="18" charset="0"/>
                <a:cs typeface="Times New Roman" pitchFamily="18" charset="0"/>
              </a:rPr>
              <a:t>anywhere a reference to an object of the </a:t>
            </a:r>
            <a:r>
              <a:rPr lang="en-GB" dirty="0">
                <a:solidFill>
                  <a:srgbClr val="C00000"/>
                </a:solidFill>
                <a:latin typeface="Times New Roman" pitchFamily="18" charset="0"/>
                <a:cs typeface="Times New Roman" pitchFamily="18" charset="0"/>
              </a:rPr>
              <a:t>current class’ type is permitted</a:t>
            </a:r>
            <a:r>
              <a:rPr lang="en-GB" dirty="0">
                <a:latin typeface="Times New Roman" pitchFamily="18" charset="0"/>
                <a:cs typeface="Times New Roman" pitchFamily="18" charset="0"/>
              </a:rPr>
              <a:t>. </a:t>
            </a:r>
          </a:p>
          <a:p>
            <a:pPr algn="just"/>
            <a:r>
              <a:rPr lang="en-GB" dirty="0">
                <a:latin typeface="Times New Roman" pitchFamily="18" charset="0"/>
                <a:cs typeface="Times New Roman" pitchFamily="18" charset="0"/>
              </a:rPr>
              <a:t>To better understand what </a:t>
            </a:r>
            <a:r>
              <a:rPr lang="en-GB" b="1" dirty="0">
                <a:latin typeface="Times New Roman" pitchFamily="18" charset="0"/>
                <a:cs typeface="Times New Roman" pitchFamily="18" charset="0"/>
              </a:rPr>
              <a:t>this </a:t>
            </a:r>
            <a:r>
              <a:rPr lang="en-GB" dirty="0">
                <a:latin typeface="Times New Roman" pitchFamily="18" charset="0"/>
                <a:cs typeface="Times New Roman" pitchFamily="18" charset="0"/>
              </a:rPr>
              <a:t>refers to, consider the following version of  </a:t>
            </a:r>
            <a:r>
              <a:rPr lang="en-IN" b="1" dirty="0">
                <a:latin typeface="Times New Roman" pitchFamily="18" charset="0"/>
                <a:cs typeface="Times New Roman" pitchFamily="18" charset="0"/>
              </a:rPr>
              <a:t>Box( )</a:t>
            </a:r>
            <a:r>
              <a:rPr lang="en-IN" dirty="0">
                <a:latin typeface="Times New Roman" pitchFamily="18" charset="0"/>
                <a:cs typeface="Times New Roman" pitchFamily="18" charset="0"/>
              </a:rPr>
              <a:t>:</a:t>
            </a:r>
          </a:p>
          <a:p>
            <a:pPr marL="114300" indent="0">
              <a:buNone/>
            </a:pPr>
            <a:r>
              <a:rPr lang="en-IN" dirty="0">
                <a:latin typeface="Times New Roman" pitchFamily="18" charset="0"/>
                <a:cs typeface="Times New Roman" pitchFamily="18" charset="0"/>
              </a:rPr>
              <a:t> </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3792" y="4005064"/>
            <a:ext cx="5184576"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146419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260648"/>
            <a:ext cx="10515600" cy="1325563"/>
          </a:xfrm>
        </p:spPr>
        <p:txBody>
          <a:bodyPr>
            <a:normAutofit/>
          </a:bodyPr>
          <a:lstStyle/>
          <a:p>
            <a:pPr algn="ctr"/>
            <a:r>
              <a:rPr lang="en-IN" sz="3200" b="1" dirty="0"/>
              <a:t>Garbage Collection </a:t>
            </a:r>
            <a:endParaRPr lang="en-IN" sz="3200" dirty="0"/>
          </a:p>
        </p:txBody>
      </p:sp>
      <p:sp>
        <p:nvSpPr>
          <p:cNvPr id="3" name="Text Placeholder 2"/>
          <p:cNvSpPr>
            <a:spLocks noGrp="1"/>
          </p:cNvSpPr>
          <p:nvPr>
            <p:ph type="body" idx="1"/>
          </p:nvPr>
        </p:nvSpPr>
        <p:spPr>
          <a:xfrm>
            <a:off x="839416" y="1340768"/>
            <a:ext cx="10515600" cy="4351338"/>
          </a:xfrm>
        </p:spPr>
        <p:txBody>
          <a:bodyPr>
            <a:normAutofit/>
          </a:bodyPr>
          <a:lstStyle/>
          <a:p>
            <a:pPr marL="114300" indent="0" algn="just">
              <a:buNone/>
            </a:pPr>
            <a:r>
              <a:rPr lang="en-GB" dirty="0">
                <a:latin typeface="Times New Roman" pitchFamily="18" charset="0"/>
                <a:cs typeface="Times New Roman" pitchFamily="18" charset="0"/>
              </a:rPr>
              <a:t>Since objects are dynamically allocated by using the </a:t>
            </a:r>
            <a:r>
              <a:rPr lang="en-GB" b="1" dirty="0">
                <a:latin typeface="Times New Roman" pitchFamily="18" charset="0"/>
                <a:cs typeface="Times New Roman" pitchFamily="18" charset="0"/>
              </a:rPr>
              <a:t>new </a:t>
            </a:r>
            <a:r>
              <a:rPr lang="en-GB" dirty="0">
                <a:latin typeface="Times New Roman" pitchFamily="18" charset="0"/>
                <a:cs typeface="Times New Roman" pitchFamily="18" charset="0"/>
              </a:rPr>
              <a:t>operator, you might be wondering how such objects are destroyed and their memory released for later reallocation. In some languages, such as traditional C++, dynamically allocated objects must be manually released by use of a </a:t>
            </a:r>
            <a:r>
              <a:rPr lang="en-GB" b="1" dirty="0">
                <a:latin typeface="Times New Roman" pitchFamily="18" charset="0"/>
                <a:cs typeface="Times New Roman" pitchFamily="18" charset="0"/>
              </a:rPr>
              <a:t>delete </a:t>
            </a:r>
            <a:r>
              <a:rPr lang="en-GB" dirty="0">
                <a:latin typeface="Times New Roman" pitchFamily="18" charset="0"/>
                <a:cs typeface="Times New Roman" pitchFamily="18" charset="0"/>
              </a:rPr>
              <a:t>operator. Java takes a different approach; it handles </a:t>
            </a:r>
            <a:r>
              <a:rPr lang="en-GB" dirty="0" err="1">
                <a:latin typeface="Times New Roman" pitchFamily="18" charset="0"/>
                <a:cs typeface="Times New Roman" pitchFamily="18" charset="0"/>
              </a:rPr>
              <a:t>deallocation</a:t>
            </a:r>
            <a:r>
              <a:rPr lang="en-GB" dirty="0">
                <a:latin typeface="Times New Roman" pitchFamily="18" charset="0"/>
                <a:cs typeface="Times New Roman" pitchFamily="18" charset="0"/>
              </a:rPr>
              <a:t> for you automatically. The technique that accomplishes this is called </a:t>
            </a:r>
            <a:r>
              <a:rPr lang="en-GB" i="1" dirty="0">
                <a:latin typeface="Times New Roman" pitchFamily="18" charset="0"/>
                <a:cs typeface="Times New Roman" pitchFamily="18" charset="0"/>
              </a:rPr>
              <a:t>garbage collection</a:t>
            </a:r>
            <a:r>
              <a:rPr lang="en-GB" dirty="0">
                <a:latin typeface="Times New Roman" pitchFamily="18" charset="0"/>
                <a:cs typeface="Times New Roman" pitchFamily="18" charset="0"/>
              </a:rPr>
              <a:t>. It works like this: when no references to an object exist, that object is assumed to be no longer needed, and the memory occupied by the object can be reclaimed. There is no need to explicitly destroy objects.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0356453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IN" sz="3200" b="1" dirty="0"/>
              <a:t>Static vs. Non static Members </a:t>
            </a:r>
            <a:endParaRPr lang="en-IN" sz="3200" dirty="0"/>
          </a:p>
        </p:txBody>
      </p:sp>
      <p:sp>
        <p:nvSpPr>
          <p:cNvPr id="5" name="Text Placeholder 4"/>
          <p:cNvSpPr>
            <a:spLocks noGrp="1"/>
          </p:cNvSpPr>
          <p:nvPr>
            <p:ph type="body" idx="1"/>
          </p:nvPr>
        </p:nvSpPr>
        <p:spPr>
          <a:xfrm>
            <a:off x="911424" y="1484784"/>
            <a:ext cx="10515600" cy="4351338"/>
          </a:xfrm>
        </p:spPr>
        <p:txBody>
          <a:bodyPr/>
          <a:lstStyle/>
          <a:p>
            <a:pPr marL="114300" indent="0">
              <a:buNone/>
            </a:pPr>
            <a:r>
              <a:rPr lang="en-IN" b="1" dirty="0"/>
              <a:t>Static variables </a:t>
            </a:r>
            <a:endParaRPr lang="en-IN" dirty="0"/>
          </a:p>
          <a:p>
            <a:r>
              <a:rPr lang="en-IN" dirty="0"/>
              <a:t>class Student </a:t>
            </a:r>
          </a:p>
          <a:p>
            <a:r>
              <a:rPr lang="en-GB" dirty="0"/>
              <a:t>{ </a:t>
            </a:r>
            <a:r>
              <a:rPr lang="en-GB" dirty="0" err="1"/>
              <a:t>int</a:t>
            </a:r>
            <a:r>
              <a:rPr lang="en-GB" dirty="0"/>
              <a:t> </a:t>
            </a:r>
            <a:r>
              <a:rPr lang="en-GB" dirty="0" err="1"/>
              <a:t>rollno</a:t>
            </a:r>
            <a:r>
              <a:rPr lang="en-GB" dirty="0"/>
              <a:t>; String name; String college="ITS"; } </a:t>
            </a:r>
          </a:p>
          <a:p>
            <a:r>
              <a:rPr lang="en-GB" dirty="0"/>
              <a:t>Suppose there are 500 students in my college, now all instance data members will get memory each time when the object is created. All students have its unique </a:t>
            </a:r>
            <a:r>
              <a:rPr lang="en-GB" dirty="0" err="1"/>
              <a:t>rollno</a:t>
            </a:r>
            <a:r>
              <a:rPr lang="en-GB" dirty="0"/>
              <a:t> and name, so instance data member is good in such case. Here, "college" refers to the common property of all objects. If we make it static, this field will get the memory only once. </a:t>
            </a:r>
            <a:endParaRPr lang="en-IN" dirty="0"/>
          </a:p>
        </p:txBody>
      </p:sp>
    </p:spTree>
    <p:extLst>
      <p:ext uri="{BB962C8B-B14F-4D97-AF65-F5344CB8AC3E}">
        <p14:creationId xmlns:p14="http://schemas.microsoft.com/office/powerpoint/2010/main" val="237167432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35360" y="620688"/>
            <a:ext cx="11018440" cy="5556275"/>
          </a:xfrm>
        </p:spPr>
        <p:txBody>
          <a:bodyPr>
            <a:normAutofit fontScale="77500" lnSpcReduction="20000"/>
          </a:bodyPr>
          <a:lstStyle/>
          <a:p>
            <a:pPr marL="114300" indent="0">
              <a:buNone/>
            </a:pPr>
            <a:r>
              <a:rPr lang="en-IN" dirty="0">
                <a:latin typeface="Times New Roman" pitchFamily="18" charset="0"/>
                <a:cs typeface="Times New Roman" pitchFamily="18" charset="0"/>
              </a:rPr>
              <a:t>class Student{ </a:t>
            </a:r>
          </a:p>
          <a:p>
            <a:pPr marL="114300" indent="0">
              <a:buNone/>
            </a:pPr>
            <a:r>
              <a:rPr lang="en-IN" dirty="0" err="1">
                <a:latin typeface="Times New Roman" pitchFamily="18" charset="0"/>
                <a:cs typeface="Times New Roman" pitchFamily="18" charset="0"/>
              </a:rPr>
              <a:t>int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rollno</a:t>
            </a:r>
            <a:r>
              <a:rPr lang="en-IN" dirty="0">
                <a:latin typeface="Times New Roman" pitchFamily="18" charset="0"/>
                <a:cs typeface="Times New Roman" pitchFamily="18" charset="0"/>
              </a:rPr>
              <a:t>;//instance variable </a:t>
            </a:r>
          </a:p>
          <a:p>
            <a:pPr marL="114300" indent="0">
              <a:buNone/>
            </a:pPr>
            <a:r>
              <a:rPr lang="en-IN" dirty="0">
                <a:latin typeface="Times New Roman" pitchFamily="18" charset="0"/>
                <a:cs typeface="Times New Roman" pitchFamily="18" charset="0"/>
              </a:rPr>
              <a:t>String name; </a:t>
            </a:r>
          </a:p>
          <a:p>
            <a:pPr marL="114300" indent="0">
              <a:buNone/>
            </a:pPr>
            <a:r>
              <a:rPr lang="en-GB" dirty="0">
                <a:latin typeface="Times New Roman" pitchFamily="18" charset="0"/>
                <a:cs typeface="Times New Roman" pitchFamily="18" charset="0"/>
              </a:rPr>
              <a:t>static String college ="ITS";//static variable </a:t>
            </a:r>
          </a:p>
          <a:p>
            <a:pPr marL="114300" indent="0">
              <a:buNone/>
            </a:pPr>
            <a:r>
              <a:rPr lang="en-IN" dirty="0">
                <a:latin typeface="Times New Roman" pitchFamily="18" charset="0"/>
                <a:cs typeface="Times New Roman" pitchFamily="18" charset="0"/>
              </a:rPr>
              <a:t>//constructor </a:t>
            </a:r>
          </a:p>
          <a:p>
            <a:pPr marL="114300" indent="0">
              <a:buNone/>
            </a:pPr>
            <a:r>
              <a:rPr lang="en-IN" dirty="0">
                <a:latin typeface="Times New Roman" pitchFamily="18" charset="0"/>
                <a:cs typeface="Times New Roman" pitchFamily="18" charset="0"/>
              </a:rPr>
              <a:t>Student(</a:t>
            </a:r>
            <a:r>
              <a:rPr lang="en-IN" dirty="0" err="1">
                <a:latin typeface="Times New Roman" pitchFamily="18" charset="0"/>
                <a:cs typeface="Times New Roman" pitchFamily="18" charset="0"/>
              </a:rPr>
              <a:t>int</a:t>
            </a:r>
            <a:r>
              <a:rPr lang="en-IN" dirty="0">
                <a:latin typeface="Times New Roman" pitchFamily="18" charset="0"/>
                <a:cs typeface="Times New Roman" pitchFamily="18" charset="0"/>
              </a:rPr>
              <a:t> r, String n){ </a:t>
            </a:r>
          </a:p>
          <a:p>
            <a:pPr marL="114300" indent="0">
              <a:buNone/>
            </a:pPr>
            <a:r>
              <a:rPr lang="en-IN" dirty="0" err="1">
                <a:latin typeface="Times New Roman" pitchFamily="18" charset="0"/>
                <a:cs typeface="Times New Roman" pitchFamily="18" charset="0"/>
              </a:rPr>
              <a:t>rollno</a:t>
            </a:r>
            <a:r>
              <a:rPr lang="en-IN" dirty="0">
                <a:latin typeface="Times New Roman" pitchFamily="18" charset="0"/>
                <a:cs typeface="Times New Roman" pitchFamily="18" charset="0"/>
              </a:rPr>
              <a:t> = r; </a:t>
            </a:r>
          </a:p>
          <a:p>
            <a:pPr marL="114300" indent="0">
              <a:buNone/>
            </a:pPr>
            <a:r>
              <a:rPr lang="en-IN" dirty="0">
                <a:latin typeface="Times New Roman" pitchFamily="18" charset="0"/>
                <a:cs typeface="Times New Roman" pitchFamily="18" charset="0"/>
              </a:rPr>
              <a:t>name = n; </a:t>
            </a:r>
          </a:p>
          <a:p>
            <a:pPr marL="114300" indent="0">
              <a:buNone/>
            </a:pPr>
            <a:r>
              <a:rPr lang="en-IN" dirty="0">
                <a:latin typeface="Times New Roman" pitchFamily="18" charset="0"/>
                <a:cs typeface="Times New Roman" pitchFamily="18" charset="0"/>
              </a:rPr>
              <a:t>} </a:t>
            </a:r>
          </a:p>
          <a:p>
            <a:pPr marL="114300" indent="0">
              <a:buNone/>
            </a:pPr>
            <a:r>
              <a:rPr lang="en-GB" dirty="0">
                <a:latin typeface="Times New Roman" pitchFamily="18" charset="0"/>
                <a:cs typeface="Times New Roman" pitchFamily="18" charset="0"/>
              </a:rPr>
              <a:t>//method to display the values </a:t>
            </a:r>
          </a:p>
          <a:p>
            <a:pPr marL="114300" indent="0">
              <a:buNone/>
            </a:pPr>
            <a:r>
              <a:rPr lang="en-IN" dirty="0">
                <a:latin typeface="Times New Roman" pitchFamily="18" charset="0"/>
                <a:cs typeface="Times New Roman" pitchFamily="18" charset="0"/>
              </a:rPr>
              <a:t>void display (){</a:t>
            </a:r>
            <a:r>
              <a:rPr lang="en-IN" dirty="0" err="1">
                <a:latin typeface="Times New Roman" pitchFamily="18" charset="0"/>
                <a:cs typeface="Times New Roman" pitchFamily="18" charset="0"/>
              </a:rPr>
              <a:t>System.out.println</a:t>
            </a:r>
            <a:r>
              <a:rPr lang="en-IN" dirty="0">
                <a:latin typeface="Times New Roman" pitchFamily="18" charset="0"/>
                <a:cs typeface="Times New Roman" pitchFamily="18" charset="0"/>
              </a:rPr>
              <a:t>(</a:t>
            </a:r>
            <a:r>
              <a:rPr lang="en-IN" dirty="0" err="1">
                <a:latin typeface="Times New Roman" pitchFamily="18" charset="0"/>
                <a:cs typeface="Times New Roman" pitchFamily="18" charset="0"/>
              </a:rPr>
              <a:t>rollno</a:t>
            </a:r>
            <a:r>
              <a:rPr lang="en-IN" dirty="0">
                <a:latin typeface="Times New Roman" pitchFamily="18" charset="0"/>
                <a:cs typeface="Times New Roman" pitchFamily="18" charset="0"/>
              </a:rPr>
              <a:t>+" "+name+" "+college);} </a:t>
            </a:r>
          </a:p>
          <a:p>
            <a:pPr marL="114300" indent="0">
              <a:buNone/>
            </a:pPr>
            <a:r>
              <a:rPr lang="en-IN" dirty="0">
                <a:latin typeface="Times New Roman" pitchFamily="18" charset="0"/>
                <a:cs typeface="Times New Roman" pitchFamily="18" charset="0"/>
              </a:rPr>
              <a:t>} </a:t>
            </a:r>
          </a:p>
          <a:p>
            <a:pPr marL="114300" indent="0">
              <a:buNone/>
            </a:pPr>
            <a:r>
              <a:rPr lang="en-IN" dirty="0">
                <a:latin typeface="Times New Roman" pitchFamily="18" charset="0"/>
                <a:cs typeface="Times New Roman" pitchFamily="18" charset="0"/>
              </a:rPr>
              <a:t>Output: </a:t>
            </a:r>
          </a:p>
          <a:p>
            <a:pPr marL="114300" indent="0">
              <a:buNone/>
            </a:pPr>
            <a:r>
              <a:rPr lang="en-IN" dirty="0">
                <a:latin typeface="Times New Roman" pitchFamily="18" charset="0"/>
                <a:cs typeface="Times New Roman" pitchFamily="18" charset="0"/>
              </a:rPr>
              <a:t>111 Karan ITS </a:t>
            </a:r>
          </a:p>
          <a:p>
            <a:pPr marL="114300" indent="0">
              <a:buNone/>
            </a:pPr>
            <a:r>
              <a:rPr lang="en-IN" dirty="0">
                <a:latin typeface="Times New Roman" pitchFamily="18" charset="0"/>
                <a:cs typeface="Times New Roman" pitchFamily="18" charset="0"/>
              </a:rPr>
              <a:t>222 Aryan ITS </a:t>
            </a:r>
          </a:p>
        </p:txBody>
      </p:sp>
    </p:spTree>
    <p:extLst>
      <p:ext uri="{BB962C8B-B14F-4D97-AF65-F5344CB8AC3E}">
        <p14:creationId xmlns:p14="http://schemas.microsoft.com/office/powerpoint/2010/main" val="391665066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839416" y="476672"/>
            <a:ext cx="10515600" cy="4351338"/>
          </a:xfrm>
        </p:spPr>
        <p:txBody>
          <a:bodyPr>
            <a:normAutofit lnSpcReduction="10000"/>
          </a:bodyPr>
          <a:lstStyle/>
          <a:p>
            <a:pPr marL="114300" indent="0">
              <a:buNone/>
            </a:pPr>
            <a:r>
              <a:rPr lang="en-IN" dirty="0">
                <a:latin typeface="Times New Roman" pitchFamily="18" charset="0"/>
                <a:cs typeface="Times New Roman" pitchFamily="18" charset="0"/>
              </a:rPr>
              <a:t>Static methods: </a:t>
            </a:r>
          </a:p>
          <a:p>
            <a:r>
              <a:rPr lang="en-GB" dirty="0">
                <a:latin typeface="Times New Roman" pitchFamily="18" charset="0"/>
                <a:cs typeface="Times New Roman" pitchFamily="18" charset="0"/>
              </a:rPr>
              <a:t>If we apply static keyword with any method, it is known as static method. </a:t>
            </a:r>
          </a:p>
          <a:p>
            <a:pPr marL="711200" indent="0">
              <a:buNone/>
            </a:pPr>
            <a:r>
              <a:rPr lang="en-GB" dirty="0">
                <a:latin typeface="Times New Roman" pitchFamily="18" charset="0"/>
                <a:cs typeface="Times New Roman" pitchFamily="18" charset="0"/>
              </a:rPr>
              <a:t>• A static method belongs to the class rather than the object of a class. </a:t>
            </a:r>
          </a:p>
          <a:p>
            <a:pPr marL="711200" indent="0">
              <a:buNone/>
            </a:pPr>
            <a:r>
              <a:rPr lang="en-GB" dirty="0">
                <a:latin typeface="Times New Roman" pitchFamily="18" charset="0"/>
                <a:cs typeface="Times New Roman" pitchFamily="18" charset="0"/>
              </a:rPr>
              <a:t>• A static method can be invoked without the need for creating an instance of a class. </a:t>
            </a:r>
          </a:p>
          <a:p>
            <a:pPr marL="711200" indent="0">
              <a:buNone/>
            </a:pPr>
            <a:r>
              <a:rPr lang="en-GB" dirty="0">
                <a:latin typeface="Times New Roman" pitchFamily="18" charset="0"/>
                <a:cs typeface="Times New Roman" pitchFamily="18" charset="0"/>
              </a:rPr>
              <a:t>• A static method can access static data member and can change the value of it. </a:t>
            </a:r>
          </a:p>
          <a:p>
            <a:r>
              <a:rPr lang="en-GB" dirty="0">
                <a:latin typeface="Times New Roman" pitchFamily="18" charset="0"/>
                <a:cs typeface="Times New Roman" pitchFamily="18" charset="0"/>
              </a:rPr>
              <a:t>Java program to call a static method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487507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1384" y="332656"/>
            <a:ext cx="10947648" cy="5400600"/>
          </a:xfrm>
        </p:spPr>
        <p:txBody>
          <a:bodyPr>
            <a:noAutofit/>
          </a:bodyPr>
          <a:lstStyle/>
          <a:p>
            <a:pPr marL="114300" indent="0">
              <a:buNone/>
            </a:pPr>
            <a:r>
              <a:rPr lang="en-IN" sz="2400" dirty="0">
                <a:latin typeface="Times New Roman" pitchFamily="18" charset="0"/>
                <a:cs typeface="Times New Roman" pitchFamily="18" charset="0"/>
              </a:rPr>
              <a:t>class Test { </a:t>
            </a:r>
          </a:p>
          <a:p>
            <a:pPr marL="114300" indent="0">
              <a:buNone/>
            </a:pPr>
            <a:r>
              <a:rPr lang="en-IN" sz="2400" dirty="0">
                <a:latin typeface="Times New Roman" pitchFamily="18" charset="0"/>
                <a:cs typeface="Times New Roman" pitchFamily="18" charset="0"/>
              </a:rPr>
              <a:t>// static method </a:t>
            </a:r>
          </a:p>
          <a:p>
            <a:pPr marL="114300" indent="0">
              <a:buNone/>
            </a:pPr>
            <a:r>
              <a:rPr lang="en-GB" sz="2400" dirty="0">
                <a:latin typeface="Times New Roman" pitchFamily="18" charset="0"/>
                <a:cs typeface="Times New Roman" pitchFamily="18" charset="0"/>
              </a:rPr>
              <a:t>public static </a:t>
            </a:r>
            <a:r>
              <a:rPr lang="en-GB" sz="2400" dirty="0" err="1">
                <a:latin typeface="Times New Roman" pitchFamily="18" charset="0"/>
                <a:cs typeface="Times New Roman" pitchFamily="18" charset="0"/>
              </a:rPr>
              <a:t>int</a:t>
            </a:r>
            <a:r>
              <a:rPr lang="en-GB" sz="2400" dirty="0">
                <a:latin typeface="Times New Roman" pitchFamily="18" charset="0"/>
                <a:cs typeface="Times New Roman" pitchFamily="18" charset="0"/>
              </a:rPr>
              <a:t> sum(</a:t>
            </a:r>
            <a:r>
              <a:rPr lang="en-GB" sz="2400" dirty="0" err="1">
                <a:latin typeface="Times New Roman" pitchFamily="18" charset="0"/>
                <a:cs typeface="Times New Roman" pitchFamily="18" charset="0"/>
              </a:rPr>
              <a:t>int</a:t>
            </a:r>
            <a:r>
              <a:rPr lang="en-GB" sz="2400" dirty="0">
                <a:latin typeface="Times New Roman" pitchFamily="18" charset="0"/>
                <a:cs typeface="Times New Roman" pitchFamily="18" charset="0"/>
              </a:rPr>
              <a:t> a, </a:t>
            </a:r>
            <a:r>
              <a:rPr lang="en-GB" sz="2400" dirty="0" err="1">
                <a:latin typeface="Times New Roman" pitchFamily="18" charset="0"/>
                <a:cs typeface="Times New Roman" pitchFamily="18" charset="0"/>
              </a:rPr>
              <a:t>int</a:t>
            </a:r>
            <a:r>
              <a:rPr lang="en-GB" sz="2400" dirty="0">
                <a:latin typeface="Times New Roman" pitchFamily="18" charset="0"/>
                <a:cs typeface="Times New Roman" pitchFamily="18" charset="0"/>
              </a:rPr>
              <a:t> b) </a:t>
            </a:r>
          </a:p>
          <a:p>
            <a:pPr marL="114300" indent="0">
              <a:buNone/>
            </a:pP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return a + b; </a:t>
            </a:r>
          </a:p>
          <a:p>
            <a:pPr marL="114300" indent="0">
              <a:buNone/>
            </a:pP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 </a:t>
            </a:r>
          </a:p>
          <a:p>
            <a:pPr marL="114300" indent="0">
              <a:buNone/>
            </a:pPr>
            <a:r>
              <a:rPr lang="en-IN" sz="2400" dirty="0">
                <a:latin typeface="Times New Roman" pitchFamily="18" charset="0"/>
                <a:cs typeface="Times New Roman" pitchFamily="18" charset="0"/>
              </a:rPr>
              <a:t>class Main { </a:t>
            </a:r>
          </a:p>
          <a:p>
            <a:pPr marL="114300" indent="0">
              <a:buNone/>
            </a:pPr>
            <a:r>
              <a:rPr lang="en-GB" sz="2400" dirty="0">
                <a:latin typeface="Times New Roman" pitchFamily="18" charset="0"/>
                <a:cs typeface="Times New Roman" pitchFamily="18" charset="0"/>
              </a:rPr>
              <a:t>public static void main(String[] </a:t>
            </a:r>
            <a:r>
              <a:rPr lang="en-GB" sz="2400" dirty="0" err="1">
                <a:latin typeface="Times New Roman" pitchFamily="18" charset="0"/>
                <a:cs typeface="Times New Roman" pitchFamily="18" charset="0"/>
              </a:rPr>
              <a:t>args</a:t>
            </a:r>
            <a:r>
              <a:rPr lang="en-GB" sz="2400" dirty="0">
                <a:latin typeface="Times New Roman" pitchFamily="18" charset="0"/>
                <a:cs typeface="Times New Roman" pitchFamily="18" charset="0"/>
              </a:rPr>
              <a:t>) </a:t>
            </a:r>
          </a:p>
          <a:p>
            <a:pPr marL="114300" indent="0">
              <a:buNone/>
            </a:pPr>
            <a:r>
              <a:rPr lang="pt-BR" sz="2400" dirty="0">
                <a:latin typeface="Times New Roman" pitchFamily="18" charset="0"/>
                <a:cs typeface="Times New Roman" pitchFamily="18" charset="0"/>
              </a:rPr>
              <a:t>{ int n = 3, m = 6; </a:t>
            </a:r>
          </a:p>
          <a:p>
            <a:pPr marL="114300" indent="0">
              <a:buNone/>
            </a:pPr>
            <a:r>
              <a:rPr lang="en-IN" sz="2400" dirty="0">
                <a:latin typeface="Times New Roman" pitchFamily="18" charset="0"/>
                <a:cs typeface="Times New Roman" pitchFamily="18" charset="0"/>
              </a:rPr>
              <a:t>// call the static method </a:t>
            </a:r>
          </a:p>
          <a:p>
            <a:pPr marL="114300" indent="0">
              <a:buNone/>
            </a:pPr>
            <a:r>
              <a:rPr lang="en-IN" sz="2400" dirty="0" err="1">
                <a:latin typeface="Times New Roman" pitchFamily="18" charset="0"/>
                <a:cs typeface="Times New Roman" pitchFamily="18" charset="0"/>
              </a:rPr>
              <a:t>int</a:t>
            </a:r>
            <a:r>
              <a:rPr lang="en-IN" sz="2400" dirty="0">
                <a:latin typeface="Times New Roman" pitchFamily="18" charset="0"/>
                <a:cs typeface="Times New Roman" pitchFamily="18" charset="0"/>
              </a:rPr>
              <a:t> s = </a:t>
            </a:r>
            <a:r>
              <a:rPr lang="en-IN" sz="2400" dirty="0" err="1">
                <a:latin typeface="Times New Roman" pitchFamily="18" charset="0"/>
                <a:cs typeface="Times New Roman" pitchFamily="18" charset="0"/>
              </a:rPr>
              <a:t>Test.sum</a:t>
            </a:r>
            <a:r>
              <a:rPr lang="en-IN" sz="2400" dirty="0">
                <a:latin typeface="Times New Roman" pitchFamily="18" charset="0"/>
                <a:cs typeface="Times New Roman" pitchFamily="18" charset="0"/>
              </a:rPr>
              <a:t>(n, m); </a:t>
            </a:r>
          </a:p>
          <a:p>
            <a:pPr marL="114300" indent="0">
              <a:buNone/>
            </a:pPr>
            <a:r>
              <a:rPr lang="en-IN" sz="2400" dirty="0" err="1">
                <a:latin typeface="Times New Roman" pitchFamily="18" charset="0"/>
                <a:cs typeface="Times New Roman" pitchFamily="18" charset="0"/>
              </a:rPr>
              <a:t>System.out.print</a:t>
            </a:r>
            <a:r>
              <a:rPr lang="en-IN" sz="2400" dirty="0">
                <a:latin typeface="Times New Roman" pitchFamily="18" charset="0"/>
                <a:cs typeface="Times New Roman" pitchFamily="18" charset="0"/>
              </a:rPr>
              <a:t>("sum is = " + s); </a:t>
            </a:r>
          </a:p>
          <a:p>
            <a:pPr marL="114300" indent="0">
              <a:buNone/>
            </a:pPr>
            <a:r>
              <a:rPr lang="en-IN" sz="2400" dirty="0">
                <a:latin typeface="Times New Roman" pitchFamily="18" charset="0"/>
                <a:cs typeface="Times New Roman" pitchFamily="18" charset="0"/>
              </a:rPr>
              <a:t>}}   Output: sum is = 9 </a:t>
            </a:r>
          </a:p>
        </p:txBody>
      </p:sp>
    </p:spTree>
    <p:extLst>
      <p:ext uri="{BB962C8B-B14F-4D97-AF65-F5344CB8AC3E}">
        <p14:creationId xmlns:p14="http://schemas.microsoft.com/office/powerpoint/2010/main" val="217647497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11456</Words>
  <Application>Microsoft Office PowerPoint</Application>
  <PresentationFormat>Widescreen</PresentationFormat>
  <Paragraphs>1371</Paragraphs>
  <Slides>164</Slides>
  <Notes>128</Notes>
  <HiddenSlides>0</HiddenSlides>
  <MMClips>0</MMClips>
  <ScaleCrop>false</ScaleCrop>
  <HeadingPairs>
    <vt:vector size="4" baseType="variant">
      <vt:variant>
        <vt:lpstr>Theme</vt:lpstr>
      </vt:variant>
      <vt:variant>
        <vt:i4>1</vt:i4>
      </vt:variant>
      <vt:variant>
        <vt:lpstr>Slide Titles</vt:lpstr>
      </vt:variant>
      <vt:variant>
        <vt:i4>164</vt:i4>
      </vt:variant>
    </vt:vector>
  </HeadingPairs>
  <TitlesOfParts>
    <vt:vector size="165" baseType="lpstr">
      <vt:lpstr>Office Theme</vt:lpstr>
      <vt:lpstr>PowerPoint Presentation</vt:lpstr>
      <vt:lpstr>Prerequisite</vt:lpstr>
      <vt:lpstr>Module 1  </vt:lpstr>
      <vt:lpstr>Introduction to Java</vt:lpstr>
      <vt:lpstr>History</vt:lpstr>
      <vt:lpstr>Object-Oriented Programming</vt:lpstr>
      <vt:lpstr>Two Paradigms of Programming</vt:lpstr>
      <vt:lpstr>Process-Oriented Programming (POP)</vt:lpstr>
      <vt:lpstr>Object-Oriented Programming (OOP)</vt:lpstr>
      <vt:lpstr>Abstraction</vt:lpstr>
      <vt:lpstr>The Three OOP Principles</vt:lpstr>
      <vt:lpstr>The Three OOP Principles</vt:lpstr>
      <vt:lpstr>PowerPoint Presentation</vt:lpstr>
      <vt:lpstr>PowerPoint Presentation</vt:lpstr>
      <vt:lpstr>Java Platform &amp; the Creation of Java</vt:lpstr>
      <vt:lpstr>PowerPoint Presentation</vt:lpstr>
      <vt:lpstr>PowerPoint Presentation</vt:lpstr>
      <vt:lpstr>PowerPoint Presentation</vt:lpstr>
      <vt:lpstr>Installation of JAVA</vt:lpstr>
      <vt:lpstr>A First Simple Program</vt:lpstr>
      <vt:lpstr>PowerPoint Presentation</vt:lpstr>
      <vt:lpstr>A Second Short Program  </vt:lpstr>
      <vt:lpstr> Data Types, Variables, and Arrays</vt:lpstr>
      <vt:lpstr>PowerPoint Presentation</vt:lpstr>
      <vt:lpstr>The Primitive Types</vt:lpstr>
      <vt:lpstr>Integers</vt:lpstr>
      <vt:lpstr>byte</vt:lpstr>
      <vt:lpstr>short </vt:lpstr>
      <vt:lpstr>int </vt:lpstr>
      <vt:lpstr>long</vt:lpstr>
      <vt:lpstr>long </vt:lpstr>
      <vt:lpstr>Floating-Point Types </vt:lpstr>
      <vt:lpstr>float</vt:lpstr>
      <vt:lpstr>double</vt:lpstr>
      <vt:lpstr>double-example</vt:lpstr>
      <vt:lpstr>Characters</vt:lpstr>
      <vt:lpstr>CharDemo.java</vt:lpstr>
      <vt:lpstr>CharDemo2.java</vt:lpstr>
      <vt:lpstr>Booleans</vt:lpstr>
      <vt:lpstr>BoolTest.java</vt:lpstr>
      <vt:lpstr>Integer Literals</vt:lpstr>
      <vt:lpstr>Variables </vt:lpstr>
      <vt:lpstr>Variables </vt:lpstr>
      <vt:lpstr>The Scope and Lifetime of Variables </vt:lpstr>
      <vt:lpstr>The Scope and Lifetime of Variables </vt:lpstr>
      <vt:lpstr>The Scope and Lifetime of Variables </vt:lpstr>
      <vt:lpstr>Type Conversion and Casting </vt:lpstr>
      <vt:lpstr>Type Conversion and Casting </vt:lpstr>
      <vt:lpstr>Type Conversion and Casting </vt:lpstr>
      <vt:lpstr>PowerPoint Presentation</vt:lpstr>
      <vt:lpstr>Access Modifiers</vt:lpstr>
      <vt:lpstr>Default-package private access modifier</vt:lpstr>
      <vt:lpstr>public- access modifier</vt:lpstr>
      <vt:lpstr>private-access modifier</vt:lpstr>
      <vt:lpstr>protected-access modifier</vt:lpstr>
      <vt:lpstr>Here's a summary:</vt:lpstr>
      <vt:lpstr>Lexical Issues</vt:lpstr>
      <vt:lpstr>Identifiers</vt:lpstr>
      <vt:lpstr>Literals</vt:lpstr>
      <vt:lpstr>Comments</vt:lpstr>
      <vt:lpstr>Example of a document comment</vt:lpstr>
      <vt:lpstr>Separators</vt:lpstr>
      <vt:lpstr>The Java Keywords</vt:lpstr>
      <vt:lpstr>The Java Class Libraries</vt:lpstr>
      <vt:lpstr>Arrays</vt:lpstr>
      <vt:lpstr>Example on 1D-arrays</vt:lpstr>
      <vt:lpstr>PowerPoint Presentation</vt:lpstr>
      <vt:lpstr> An improved version of the previous program. [No need of new keyword]</vt:lpstr>
      <vt:lpstr>Average example using arrays</vt:lpstr>
      <vt:lpstr>Multidimensional Arrays</vt:lpstr>
      <vt:lpstr>Example on TwoDArray</vt:lpstr>
      <vt:lpstr>PowerPoint Presentation</vt:lpstr>
      <vt:lpstr>Program creates a two-dimensional array in which the sizes of the second dimension are unequal:</vt:lpstr>
      <vt:lpstr>Direct Initialization of 2D-Array</vt:lpstr>
      <vt:lpstr>3D-array Example on creating a 3 X 4 X 5, three-dimensional array. </vt:lpstr>
      <vt:lpstr>Alternative Array Declaration Syntax</vt:lpstr>
      <vt:lpstr> Operators  and  Control statements  </vt:lpstr>
      <vt:lpstr>Outline </vt:lpstr>
      <vt:lpstr>Operators</vt:lpstr>
      <vt:lpstr>The Basic Arithmetic Operators</vt:lpstr>
      <vt:lpstr>The Modulus Operator</vt:lpstr>
      <vt:lpstr>Arithmetic Compound Assignment Operators</vt:lpstr>
      <vt:lpstr>Increment and Decrement</vt:lpstr>
      <vt:lpstr>PowerPoint Presentation</vt:lpstr>
      <vt:lpstr>PowerPoint Presentation</vt:lpstr>
      <vt:lpstr>The Bitwise Operators </vt:lpstr>
      <vt:lpstr>The Bitwise Logical Operators </vt:lpstr>
      <vt:lpstr>PowerPoint Presentation</vt:lpstr>
      <vt:lpstr>The Left Shift</vt:lpstr>
      <vt:lpstr>PowerPoint Presentation</vt:lpstr>
      <vt:lpstr>The Right Shif</vt:lpstr>
      <vt:lpstr>Right Shift Example</vt:lpstr>
      <vt:lpstr>program demonstrates the bitwise operators</vt:lpstr>
      <vt:lpstr>Bitwise Operator Compound Assignments</vt:lpstr>
      <vt:lpstr>PowerPoint Presentation</vt:lpstr>
      <vt:lpstr>THE RELATIONAL OPERATORS</vt:lpstr>
      <vt:lpstr>PowerPoint Presentation</vt:lpstr>
      <vt:lpstr>Boolean Logical Operators</vt:lpstr>
      <vt:lpstr>Example</vt:lpstr>
      <vt:lpstr>The Assignment Operator</vt:lpstr>
      <vt:lpstr>The ? Operator</vt:lpstr>
      <vt:lpstr>Example</vt:lpstr>
      <vt:lpstr>Operator Precedence</vt:lpstr>
      <vt:lpstr>Examples</vt:lpstr>
      <vt:lpstr>PowerPoint Presentation</vt:lpstr>
      <vt:lpstr>Control Statements</vt:lpstr>
      <vt:lpstr>if Statement</vt:lpstr>
      <vt:lpstr>Nested ifs</vt:lpstr>
      <vt:lpstr>The if-else-if Ladder</vt:lpstr>
      <vt:lpstr>switch</vt:lpstr>
      <vt:lpstr>Example</vt:lpstr>
      <vt:lpstr>Example on missing break</vt:lpstr>
      <vt:lpstr>An improved version of the season program using switch.</vt:lpstr>
      <vt:lpstr>Using Strings to control Switch</vt:lpstr>
      <vt:lpstr>Nested switch Statements</vt:lpstr>
      <vt:lpstr>PowerPoint Presentation</vt:lpstr>
      <vt:lpstr>Iteration Statements</vt:lpstr>
      <vt:lpstr>Body of the while loop can be empty</vt:lpstr>
      <vt:lpstr>do-while loop</vt:lpstr>
      <vt:lpstr>for loop</vt:lpstr>
      <vt:lpstr>Example on traditional for</vt:lpstr>
      <vt:lpstr>Declaring Loop Control Variables Inside the for Loop</vt:lpstr>
      <vt:lpstr>FindPrime example using traditional for</vt:lpstr>
      <vt:lpstr>Using the Comma in for loop</vt:lpstr>
      <vt:lpstr>Some for Loop Variations</vt:lpstr>
      <vt:lpstr>The For-Each Version of the for Loop</vt:lpstr>
      <vt:lpstr>PowerPoint Presentation</vt:lpstr>
      <vt:lpstr>Example</vt:lpstr>
      <vt:lpstr>Use break with a for-each style for.</vt:lpstr>
      <vt:lpstr>The for-each loop is essentially read-only</vt:lpstr>
      <vt:lpstr>Use for-each style for on a two-dimensional array.</vt:lpstr>
      <vt:lpstr> Search an array using for-each style for.</vt:lpstr>
      <vt:lpstr>Jump Statements</vt:lpstr>
      <vt:lpstr>Uses of break in java</vt:lpstr>
      <vt:lpstr>Using break to Exit a Loop</vt:lpstr>
      <vt:lpstr>Using break to exit a while loop.</vt:lpstr>
      <vt:lpstr>Using break with nested loops.</vt:lpstr>
      <vt:lpstr>Using break as a Form of Goto</vt:lpstr>
      <vt:lpstr>Example The break statement causes execution to jump forward, past the end of the block labeled second, skipping the two println( ) statements. </vt:lpstr>
      <vt:lpstr>breaking out of the nest loops using label and break</vt:lpstr>
      <vt:lpstr>Example on error</vt:lpstr>
      <vt:lpstr>Using continue</vt:lpstr>
      <vt:lpstr>Continue and label</vt:lpstr>
      <vt:lpstr>return stmt</vt:lpstr>
      <vt:lpstr>Nested Loops</vt:lpstr>
      <vt:lpstr>Introducing Classes</vt:lpstr>
      <vt:lpstr>PowerPoint Presentation</vt:lpstr>
      <vt:lpstr>A Simple Class </vt:lpstr>
      <vt:lpstr>PowerPoint Presentation</vt:lpstr>
      <vt:lpstr>Declaring Objects </vt:lpstr>
      <vt:lpstr>Assigning Object Reference Variables </vt:lpstr>
      <vt:lpstr>PowerPoint Presentation</vt:lpstr>
      <vt:lpstr>PowerPoint Presentation</vt:lpstr>
      <vt:lpstr>Constructors </vt:lpstr>
      <vt:lpstr>PowerPoint Presentation</vt:lpstr>
      <vt:lpstr>PowerPoint Presentation</vt:lpstr>
      <vt:lpstr>Parameterized Constructors </vt:lpstr>
      <vt:lpstr>PowerPoint Presentation</vt:lpstr>
      <vt:lpstr>The this Keyword </vt:lpstr>
      <vt:lpstr>Garbage Collection </vt:lpstr>
      <vt:lpstr>Static vs. Non static Members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Guest User</cp:lastModifiedBy>
  <cp:revision>116</cp:revision>
  <dcterms:created xsi:type="dcterms:W3CDTF">2023-11-15T04:18:13Z</dcterms:created>
  <dcterms:modified xsi:type="dcterms:W3CDTF">2025-08-21T04:18:06Z</dcterms:modified>
</cp:coreProperties>
</file>