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notesMasterIdLst>
    <p:notesMasterId r:id="rId52"/>
  </p:notesMasterIdLst>
  <p:sldIdLst>
    <p:sldId id="256" r:id="rId2"/>
    <p:sldId id="257" r:id="rId3"/>
    <p:sldId id="310" r:id="rId4"/>
    <p:sldId id="295" r:id="rId5"/>
    <p:sldId id="296" r:id="rId6"/>
    <p:sldId id="297" r:id="rId7"/>
    <p:sldId id="298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80" r:id="rId29"/>
    <p:sldId id="281" r:id="rId30"/>
    <p:sldId id="283" r:id="rId31"/>
    <p:sldId id="284" r:id="rId32"/>
    <p:sldId id="286" r:id="rId33"/>
    <p:sldId id="309" r:id="rId34"/>
    <p:sldId id="288" r:id="rId35"/>
    <p:sldId id="289" r:id="rId36"/>
    <p:sldId id="290" r:id="rId37"/>
    <p:sldId id="291" r:id="rId38"/>
    <p:sldId id="293" r:id="rId39"/>
    <p:sldId id="292" r:id="rId40"/>
    <p:sldId id="294" r:id="rId41"/>
    <p:sldId id="299" r:id="rId42"/>
    <p:sldId id="301" r:id="rId43"/>
    <p:sldId id="302" r:id="rId44"/>
    <p:sldId id="278" r:id="rId45"/>
    <p:sldId id="305" r:id="rId46"/>
    <p:sldId id="304" r:id="rId47"/>
    <p:sldId id="306" r:id="rId48"/>
    <p:sldId id="279" r:id="rId49"/>
    <p:sldId id="307" r:id="rId50"/>
    <p:sldId id="308" r:id="rId5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204" autoAdjust="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-1458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096F9F-A48C-4DC1-9449-BF040808D1BE}" type="datetimeFigureOut">
              <a:rPr lang="en-IN" smtClean="0"/>
              <a:pPr/>
              <a:t>27-08-2025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B3392-E8E6-4460-A555-94C2B412918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1395365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29B3392-E8E6-4460-A555-94C2B412918B}" type="slidenum">
              <a:rPr lang="en-IN" smtClean="0"/>
              <a:pPr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2995339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46FCF-BE02-4325-AA14-B1E1E267CE62}" type="datetime1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Department of CSE                                                                                                                    Sapthagiri NPS University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539352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16851-5D8B-4CFC-8881-00A976AA2BB9}" type="datetime1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Department of CSE                                                                                                                    Sapthagiri NPS University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319965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29200-065B-4701-A090-60C5483B80FD}" type="datetime1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Department of CSE                                                                                                                    Sapthagiri NPS University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99745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AC8C6-51F8-4027-85A1-4DF4CB61193D}" type="datetime1">
              <a:rPr lang="en-US" smtClean="0"/>
              <a:pPr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Department of CSE                                                                                                                    Sapthagiri NPS University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01005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178B4-62B1-4599-BBDA-F3193319A970}" type="datetime1">
              <a:rPr lang="en-US" smtClean="0"/>
              <a:pPr/>
              <a:t>8/27/2025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Department of CSE                                                                                                                    Sapthagiri NPS University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81739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04891-E255-4AF2-8057-2A8009D799E0}" type="datetime1">
              <a:rPr lang="en-US" smtClean="0"/>
              <a:pPr/>
              <a:t>8/27/2025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Department of CSE                                                                                                                    Sapthagiri NPS University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70090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5C0B6-AD95-48B4-BA29-C3354AF97EEA}" type="datetime1">
              <a:rPr lang="en-US" smtClean="0"/>
              <a:pPr/>
              <a:t>8/27/2025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Department of CSE                                                                                                                    Sapthagiri NPS University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216831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63697-50C1-456D-B234-ED9641CED210}" type="datetime1">
              <a:rPr lang="en-US" smtClean="0"/>
              <a:pPr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Department of CSE                                                                                                                    Sapthagiri NPS University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835492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DB663-2A3A-4B1B-8E06-951439EE4023}" type="datetime1">
              <a:rPr lang="en-US" smtClean="0"/>
              <a:pPr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Department of CSE                                                                                                                    Sapthagiri NPS University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840157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3CAA6-078C-42C0-8785-6BDA38153CF7}" type="datetime1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Department of CSE                                                                                                                    Sapthagiri NPS University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627460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A1BF37-04D7-4A56-BEEA-41712DC1315E}" type="datetime1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Department of CSE                                                                                                                    Sapthagiri NPS University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778510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54859-28A0-41D0-8810-76A5F60CEF12}" type="datetime1">
              <a:rPr lang="en-US" smtClean="0"/>
              <a:pPr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Department of CSE                                                                                                                    Sapthagiri NPS University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491247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hf sldNum="0"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698625"/>
            <a:ext cx="7772400" cy="1470025"/>
          </a:xfrm>
        </p:spPr>
        <p:txBody>
          <a:bodyPr>
            <a:normAutofit/>
          </a:bodyPr>
          <a:lstStyle/>
          <a:p>
            <a:r>
              <a:rPr sz="4000" dirty="0">
                <a:latin typeface="Arial Black" panose="020B0A04020102020204" pitchFamily="34" charset="0"/>
              </a:rPr>
              <a:t>Software Engineering - Module 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406367"/>
            <a:ext cx="6400800" cy="1752600"/>
          </a:xfrm>
        </p:spPr>
        <p:txBody>
          <a:bodyPr/>
          <a:lstStyle/>
          <a:p>
            <a:r>
              <a:rPr b="1" dirty="0">
                <a:latin typeface="Bell MT" panose="02020503060305020303" pitchFamily="18" charset="0"/>
              </a:rPr>
              <a:t>Introduction to Software Engineering and Software Process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53085" y="6356350"/>
            <a:ext cx="8510257" cy="365125"/>
          </a:xfrm>
        </p:spPr>
        <p:txBody>
          <a:bodyPr/>
          <a:lstStyle/>
          <a:p>
            <a:r>
              <a:rPr lang="en-US" sz="1000" b="1" i="1" dirty="0" smtClean="0">
                <a:latin typeface="Verdana" panose="020B0604030504040204" pitchFamily="34" charset="0"/>
                <a:ea typeface="Verdana" panose="020B0604030504040204" pitchFamily="34" charset="0"/>
              </a:rPr>
              <a:t>Department of CSE                                                                                                                    </a:t>
            </a:r>
            <a:r>
              <a:rPr lang="en-US" sz="1000" b="1" i="1" dirty="0" err="1" smtClean="0">
                <a:latin typeface="Verdana" panose="020B0604030504040204" pitchFamily="34" charset="0"/>
                <a:ea typeface="Verdana" panose="020B0604030504040204" pitchFamily="34" charset="0"/>
              </a:rPr>
              <a:t>Sapthagiri</a:t>
            </a:r>
            <a:r>
              <a:rPr lang="en-US" sz="1000" b="1" i="1" dirty="0" smtClean="0">
                <a:latin typeface="Verdana" panose="020B0604030504040204" pitchFamily="34" charset="0"/>
                <a:ea typeface="Verdana" panose="020B0604030504040204" pitchFamily="34" charset="0"/>
              </a:rPr>
              <a:t> NPS University</a:t>
            </a:r>
            <a:endParaRPr lang="en-US" sz="1000" b="1" i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22583"/>
            <a:ext cx="7765321" cy="1326321"/>
          </a:xfrm>
        </p:spPr>
        <p:txBody>
          <a:bodyPr>
            <a:noAutofit/>
          </a:bodyPr>
          <a:lstStyle/>
          <a:p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AND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3331" y="1412341"/>
            <a:ext cx="7767874" cy="4906978"/>
          </a:xfrm>
        </p:spPr>
        <p:txBody>
          <a:bodyPr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sz="1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</a:t>
            </a:r>
            <a:r>
              <a:rPr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SOFTWARE ENGINEERING AND SOFTWARE </a:t>
            </a:r>
            <a:r>
              <a:rPr sz="1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PROCESS</a:t>
            </a:r>
            <a:endParaRPr lang="en-US" sz="18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endParaRPr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changing Nature of </a:t>
            </a:r>
            <a:r>
              <a:rPr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delivers the most important product of our time—information. Some of the functions of Software are:-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transforms personal data so that the data can be more useful in a local context;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manages business information to enhance competitiveness;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a gateway to worldwide information networks and provides the means for acquiring information in all of its forms.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53085" y="6356350"/>
            <a:ext cx="8609845" cy="365125"/>
          </a:xfrm>
        </p:spPr>
        <p:txBody>
          <a:bodyPr/>
          <a:lstStyle/>
          <a:p>
            <a:r>
              <a:rPr lang="en-US" i="1" dirty="0" smtClean="0"/>
              <a:t>Department of CSE                                                                                                                                                                                  </a:t>
            </a:r>
            <a:r>
              <a:rPr lang="en-US" i="1" dirty="0" err="1" smtClean="0"/>
              <a:t>Sapthagiri</a:t>
            </a:r>
            <a:r>
              <a:rPr lang="en-US" i="1" dirty="0" smtClean="0"/>
              <a:t> NPS University</a:t>
            </a:r>
            <a:endParaRPr lang="en-US" i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Key Characteristics of Software:</a:t>
            </a:r>
            <a:br>
              <a:rPr lang="en-US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3200" dirty="0" smtClean="0"/>
              <a:t>Intangibility</a:t>
            </a:r>
          </a:p>
          <a:p>
            <a:pPr>
              <a:lnSpc>
                <a:spcPct val="150000"/>
              </a:lnSpc>
            </a:pPr>
            <a:r>
              <a:rPr lang="en-US" sz="3200" dirty="0" smtClean="0"/>
              <a:t>Software doesn’t wear out</a:t>
            </a:r>
          </a:p>
          <a:p>
            <a:pPr>
              <a:lnSpc>
                <a:spcPct val="150000"/>
              </a:lnSpc>
            </a:pPr>
            <a:r>
              <a:rPr lang="en-US" sz="3200" dirty="0" smtClean="0"/>
              <a:t>Software is engineered not manufactured</a:t>
            </a:r>
          </a:p>
          <a:p>
            <a:pPr>
              <a:lnSpc>
                <a:spcPct val="150000"/>
              </a:lnSpc>
            </a:pPr>
            <a:r>
              <a:rPr lang="en-US" sz="3200" dirty="0" smtClean="0"/>
              <a:t>Maintenance</a:t>
            </a:r>
          </a:p>
          <a:p>
            <a:pPr>
              <a:lnSpc>
                <a:spcPct val="150000"/>
              </a:lnSpc>
            </a:pPr>
            <a:r>
              <a:rPr lang="en-US" sz="3200" dirty="0" smtClean="0"/>
              <a:t>complexity</a:t>
            </a:r>
            <a:endParaRPr lang="en-US" sz="32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Department of CSE                                                                                                                    Sapthagiri NPS University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22583"/>
            <a:ext cx="7765321" cy="1326321"/>
          </a:xfrm>
        </p:spPr>
        <p:txBody>
          <a:bodyPr>
            <a:noAutofit/>
          </a:bodyPr>
          <a:lstStyle/>
          <a:p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AND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3331" y="1412341"/>
            <a:ext cx="7767874" cy="4906978"/>
          </a:xfrm>
        </p:spPr>
        <p:txBody>
          <a:bodyPr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Types of Software</a:t>
            </a:r>
          </a:p>
          <a:p>
            <a:pPr marL="0" indent="0" algn="ctr">
              <a:lnSpc>
                <a:spcPct val="150000"/>
              </a:lnSpc>
              <a:buNone/>
            </a:pPr>
            <a:endParaRPr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53085" y="6356350"/>
            <a:ext cx="8609845" cy="365125"/>
          </a:xfrm>
        </p:spPr>
        <p:txBody>
          <a:bodyPr/>
          <a:lstStyle/>
          <a:p>
            <a:r>
              <a:rPr lang="en-US" i="1" dirty="0" smtClean="0"/>
              <a:t>Department of CSE                                                                                                                                                                                  </a:t>
            </a:r>
            <a:r>
              <a:rPr lang="en-US" i="1" dirty="0" err="1" smtClean="0"/>
              <a:t>Sapthagiri</a:t>
            </a:r>
            <a:r>
              <a:rPr lang="en-US" i="1" dirty="0" smtClean="0"/>
              <a:t> NPS University</a:t>
            </a:r>
            <a:endParaRPr lang="en-US" i="1" dirty="0"/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 bwMode="auto">
          <a:xfrm>
            <a:off x="2190939" y="2255519"/>
            <a:ext cx="4843604" cy="332141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xmlns="" val="840158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4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 Software</a:t>
            </a:r>
            <a:endParaRPr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7" y="1855960"/>
            <a:ext cx="7765322" cy="402731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is designed to operate, manage, and support the computer hardware and system resources.</a:t>
            </a:r>
          </a:p>
          <a:p>
            <a:pPr>
              <a:lnSpc>
                <a:spcPct val="15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runs in the background and manages system-level functions.</a:t>
            </a:r>
          </a:p>
          <a:p>
            <a:pPr>
              <a:lnSpc>
                <a:spcPct val="15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Essential for the basic functioning of a computer.</a:t>
            </a:r>
          </a:p>
          <a:p>
            <a:pPr>
              <a:lnSpc>
                <a:spcPct val="15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Directly interacts with hardware</a:t>
            </a:r>
          </a:p>
          <a:p>
            <a:pPr>
              <a:lnSpc>
                <a:spcPct val="15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Examples: OS, Device Drivers, Utilities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88474" y="6255978"/>
            <a:ext cx="8359066" cy="365125"/>
          </a:xfrm>
        </p:spPr>
        <p:txBody>
          <a:bodyPr/>
          <a:lstStyle/>
          <a:p>
            <a:r>
              <a:rPr lang="en-US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</a:t>
            </a:r>
            <a:r>
              <a:rPr lang="en-US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239826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4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Software</a:t>
            </a:r>
            <a:endParaRPr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7" y="1855960"/>
            <a:ext cx="7765322" cy="402731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is designed to help users perform specific tasks or solve particular problems.</a:t>
            </a:r>
          </a:p>
          <a:p>
            <a:pPr>
              <a:lnSpc>
                <a:spcPct val="15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runs on top of system software.</a:t>
            </a:r>
          </a:p>
          <a:p>
            <a:pPr>
              <a:lnSpc>
                <a:spcPct val="15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Created for end-users to carry out productivity tasks.</a:t>
            </a:r>
          </a:p>
          <a:p>
            <a:pPr>
              <a:lnSpc>
                <a:spcPct val="15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Examples: MS Word, Media Players, Browsers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88474" y="6255978"/>
            <a:ext cx="8359066" cy="365125"/>
          </a:xfrm>
        </p:spPr>
        <p:txBody>
          <a:bodyPr/>
          <a:lstStyle/>
          <a:p>
            <a:r>
              <a:rPr lang="en-US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</a:t>
            </a:r>
            <a:r>
              <a:rPr lang="en-US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77612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4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Embedded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 Software</a:t>
            </a:r>
            <a:endParaRPr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7" y="1855960"/>
            <a:ext cx="7765322" cy="402731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is specialized software designed to run on embedded systems </a:t>
            </a:r>
          </a:p>
          <a:p>
            <a:pPr>
              <a:lnSpc>
                <a:spcPct val="15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Runs on non-general-purpose computers.</a:t>
            </a:r>
          </a:p>
          <a:p>
            <a:pPr>
              <a:lnSpc>
                <a:spcPct val="15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Controls hardware-specific functions.</a:t>
            </a:r>
          </a:p>
          <a:p>
            <a:pPr>
              <a:lnSpc>
                <a:spcPct val="15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Stored in firmware or ROM.</a:t>
            </a:r>
          </a:p>
          <a:p>
            <a:pPr>
              <a:lnSpc>
                <a:spcPct val="15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Examples: ECU, Smart watches, Smart TVS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88474" y="6255978"/>
            <a:ext cx="8359066" cy="365125"/>
          </a:xfrm>
        </p:spPr>
        <p:txBody>
          <a:bodyPr/>
          <a:lstStyle/>
          <a:p>
            <a:r>
              <a:rPr lang="en-US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</a:t>
            </a:r>
            <a:r>
              <a:rPr lang="en-US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678168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sz="2400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Web-Based </a:t>
            </a:r>
            <a:r>
              <a:rPr sz="2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  <a:endParaRPr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7" y="1855960"/>
            <a:ext cx="7765322" cy="402731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is hosted on web servers and accessed via web browsers over the internet.</a:t>
            </a:r>
          </a:p>
          <a:p>
            <a:pPr>
              <a:lnSpc>
                <a:spcPct val="150000"/>
              </a:lnSpc>
            </a:pP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it is classified as Web-Based Software: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Operates online without local installation.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Depends on client-server architecture.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Examples: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Docs: Online document editing.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88474" y="6255978"/>
            <a:ext cx="8359066" cy="365125"/>
          </a:xfrm>
        </p:spPr>
        <p:txBody>
          <a:bodyPr/>
          <a:lstStyle/>
          <a:p>
            <a:r>
              <a:rPr lang="en-US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</a:t>
            </a:r>
            <a:r>
              <a:rPr lang="en-US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519710"/>
            <a:ext cx="7886700" cy="4351338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exhibits intelligent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behavior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mimics human cognitive functions like learning, problem-solving, and decision-making.</a:t>
            </a:r>
          </a:p>
          <a:p>
            <a:pPr>
              <a:lnSpc>
                <a:spcPct val="150000"/>
              </a:lnSpc>
            </a:pP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it is classified as AI Software: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Implements algorithms that allow machines to learn and adapt.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Based on artificial intelligence technologies like machine learning, NLP, and computer vision.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Examples:</a:t>
            </a:r>
          </a:p>
          <a:p>
            <a:pPr>
              <a:lnSpc>
                <a:spcPct val="150000"/>
              </a:lnSpc>
            </a:pP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Chatbots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(e.g.,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ChatGPT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Natural language interaction.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5883276"/>
            <a:ext cx="815083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1.1. What is Software Engineering?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 can be defined as:</a:t>
            </a:r>
          </a:p>
          <a:p>
            <a:pPr marL="0" indent="0">
              <a:lnSpc>
                <a:spcPct val="150000"/>
              </a:lnSpc>
              <a:buNone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“The application of a systematic, disciplined, quantifiable approach to the development, operation, and maintenance of software”. - IEEE Standard Glossary of Software Engineering Terminology</a:t>
            </a:r>
          </a:p>
          <a:p>
            <a:pPr marL="0" indent="0">
              <a:lnSpc>
                <a:spcPct val="150000"/>
              </a:lnSpc>
              <a:buNone/>
            </a:pP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Objectives of Software Engineering: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Deliver software that meets user needs and expectations.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Maintainability: Ability to modify software easily when requirements change.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Efficiency and performance.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28650" y="6065838"/>
            <a:ext cx="8042195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7439"/>
            <a:ext cx="7886700" cy="1325563"/>
          </a:xfrm>
        </p:spPr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1.2. The Software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7" y="953807"/>
            <a:ext cx="7765322" cy="4758930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</a:t>
            </a:r>
            <a:r>
              <a:rPr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framework that includes the structured set of activities required to build software systems. </a:t>
            </a:r>
            <a:endPara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r>
              <a:rPr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consists of:</a:t>
            </a:r>
          </a:p>
          <a:p>
            <a:pPr algn="just">
              <a:lnSpc>
                <a:spcPct val="150000"/>
              </a:lnSpc>
            </a:pPr>
            <a:r>
              <a:rPr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Communication: </a:t>
            </a:r>
            <a:r>
              <a:rPr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gathering 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and understanding the needs of the stakeholders through interaction and feedback.</a:t>
            </a:r>
          </a:p>
          <a:p>
            <a:pPr algn="just">
              <a:lnSpc>
                <a:spcPct val="150000"/>
              </a:lnSpc>
            </a:pPr>
            <a:r>
              <a:rPr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Planning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Estimation of costs, resources, timelines, and scheduling tasks for development. </a:t>
            </a:r>
            <a:endPara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Modeling: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Creating 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</a:t>
            </a:r>
            <a:r>
              <a:rPr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representations 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the </a:t>
            </a:r>
            <a:r>
              <a:rPr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Construction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Coding the software based on design </a:t>
            </a:r>
            <a:r>
              <a:rPr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Deployment: 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Delivery of the software to the user and subsequent maintenance based on feedback and error reports.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7" y="6145827"/>
            <a:ext cx="7765322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Software Engineering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517807"/>
            <a:ext cx="8080784" cy="4351338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Modern software engineering practice includes a combination of methodologies, tools, and workflows to deliver effective software solutions.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1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 Practices Include: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 Analysis: Understanding customer needs through techniques like interviews, use cases, and prototyping.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Design: Architectural and detailed design to address system requirements.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Coding Standards: Writing consistent, readable, and reusable code following established standards.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Testing: Systematic testing at various stages – unit, integration, system, and acceptance testing.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065838"/>
            <a:ext cx="7765322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8" y="169742"/>
            <a:ext cx="7765321" cy="1326321"/>
          </a:xfrm>
        </p:spPr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Myths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7" y="986828"/>
            <a:ext cx="7765322" cy="4825497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60000"/>
              </a:lnSpc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6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many myths surrounding software development, often leading to miscommunication and project failures.</a:t>
            </a:r>
          </a:p>
          <a:p>
            <a:pPr marL="0" indent="0">
              <a:lnSpc>
                <a:spcPct val="160000"/>
              </a:lnSpc>
              <a:buNone/>
            </a:pP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 Myths:</a:t>
            </a:r>
          </a:p>
          <a:p>
            <a:pPr>
              <a:lnSpc>
                <a:spcPct val="16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‘We have the best tools, so we don’t need a defined process.'</a:t>
            </a:r>
          </a:p>
          <a:p>
            <a:pPr>
              <a:lnSpc>
                <a:spcPct val="16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'Adding more developers will solve our deadline issues’.</a:t>
            </a:r>
          </a:p>
          <a:p>
            <a:pPr marL="0" indent="0">
              <a:lnSpc>
                <a:spcPct val="160000"/>
              </a:lnSpc>
              <a:buNone/>
            </a:pPr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Myths:</a:t>
            </a:r>
          </a:p>
          <a:p>
            <a:pPr>
              <a:lnSpc>
                <a:spcPct val="16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‘Changing requirements is easy and inexpensive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.'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60000"/>
              </a:lnSpc>
              <a:buNone/>
            </a:pPr>
            <a:r>
              <a:rPr lang="en-US" b="1" dirty="0"/>
              <a:t>Practitioner Myths:</a:t>
            </a:r>
            <a:endParaRPr lang="en-IN" dirty="0"/>
          </a:p>
          <a:p>
            <a:pPr lvl="0">
              <a:lnSpc>
                <a:spcPct val="160000"/>
              </a:lnSpc>
            </a:pPr>
            <a:r>
              <a:rPr lang="en-US" dirty="0"/>
              <a:t>Once a program works, the job is done.</a:t>
            </a:r>
            <a:endParaRPr lang="en-IN" dirty="0"/>
          </a:p>
          <a:p>
            <a:pPr lvl="0">
              <a:lnSpc>
                <a:spcPct val="160000"/>
              </a:lnSpc>
            </a:pPr>
            <a:r>
              <a:rPr lang="en-US" dirty="0"/>
              <a:t>'Documentation is unnecessary because the code explains itself.</a:t>
            </a:r>
            <a:endParaRPr lang="en-IN" dirty="0"/>
          </a:p>
          <a:p>
            <a:pPr>
              <a:lnSpc>
                <a:spcPct val="160000"/>
              </a:lnSpc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7" y="5966250"/>
            <a:ext cx="8078407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PROCESS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6" y="1348966"/>
            <a:ext cx="7765322" cy="471687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1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 </a:t>
            </a:r>
            <a:r>
              <a:rPr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Software Process Framework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Increased </a:t>
            </a: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Productivity</a:t>
            </a:r>
            <a:endParaRPr lang="en-US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Consistent Quality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Development </a:t>
            </a: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endParaRPr lang="en-US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Better Maintainability</a:t>
            </a:r>
            <a:endParaRPr lang="en-US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Enhanced Security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065838"/>
            <a:ext cx="7996927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2.1. Generic Software Process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five framework activities are: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065838"/>
            <a:ext cx="815083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2273273" y="2648160"/>
            <a:ext cx="4974982" cy="31430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1. 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Purpose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Understand what the customer needs.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Typical activities: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 elicitation through interviews, questionnaires, or observation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Identifying stakeholders and their expectations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Documenting and validating requirements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Creating Software Requirement Specification (SRS)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5883276"/>
            <a:ext cx="7879232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2. 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Planning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means thinking before doing.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 Create a roadmap for software development.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Typical activities: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Estimating effort, time, and cost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Resource allocation (team members, hardware, software tools)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analysis and mitigation strategies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7" y="5940812"/>
            <a:ext cx="7987874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3.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Purpose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Convert requirements into a blueprint for development.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Typical activities: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Creating data models (ER diagrams)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Designing architectural models (high-level structure)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Designing user interface (UI) layouts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Defining algorithms and workflows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5883276"/>
            <a:ext cx="8051248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4. 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Purpose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Build and verify the actual software.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  <a:b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sz="1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is coded based on the design documents and then tested to ensure it meets </a:t>
            </a:r>
            <a:r>
              <a:rPr sz="1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</a:t>
            </a:r>
            <a:r>
              <a:rPr lang="en-US" sz="1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sz="1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sz="1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Typical activities: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Writing source code in the chosen programming language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 testing (checking individual components)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Integration testing (verifying module interaction)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7" y="6136773"/>
            <a:ext cx="8042195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Deployment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353402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Purpose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Deliver the software to the end-users and provide ongoing support.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Typical activities: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 to production servers or app stores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training and documentation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Post-deployment support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Corrective, adaptive, and perfective maintenance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7" y="6136774"/>
            <a:ext cx="8196103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64672"/>
            <a:ext cx="7886700" cy="1325563"/>
          </a:xfrm>
        </p:spPr>
        <p:txBody>
          <a:bodyPr>
            <a:normAutofit/>
          </a:bodyPr>
          <a:lstStyle/>
          <a:p>
            <a:r>
              <a:rPr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</a:t>
            </a:r>
            <a:r>
              <a:rPr lang="en-US" sz="2800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</a:t>
            </a:r>
            <a:r>
              <a:rPr lang="en-US" sz="2800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2800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Improvement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590235"/>
            <a:ext cx="78867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IN" sz="2000" b="1" dirty="0" smtClean="0"/>
              <a:t>Process Assessment</a:t>
            </a:r>
            <a:endParaRPr lang="en-US" sz="20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Definition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structured evaluation of an organization’s software development processes to determine their current state of maturity, capability, and </a:t>
            </a: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effectiveness</a:t>
            </a: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strengths and weaknesses in current processes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processes against industry standards and best practices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 baseline for improvement efforts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Steps in Process Assessment: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7" y="6163933"/>
            <a:ext cx="7861125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2. Process Improvement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339" y="1739150"/>
            <a:ext cx="7765322" cy="4127496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Definition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systematic effort to enhance the effectiveness, efficiency, and adaptability of software processes, based on assessment results.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Goals: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defects and rework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productivity and predictability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Increase customer satisfaction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Lower development costs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145827"/>
            <a:ext cx="8159890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3. Common Process Improvement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CMMI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Focuses on five maturity levels, from Initial (ad-hoc) to Optimizing (continuous improvement).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ISO/IEC 15504 (SPICE): Rates processes on a capability scale (Level 0 to Level 5).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Six Sigma: Reduces process variation and defects using statistical methods.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Lean Software Development: Eliminates waste and improves efficiency.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Agile Process Improvement: Uses iterative feedback loops and retrospectives.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5883276"/>
            <a:ext cx="7765322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Process Improvement Cycle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Often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follows the PDCA (Plan-Do-Check-Act) or DMAIC (Define-Measure-Analyze-Improve-Control) cycle.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 – Identify areas for improvement and set goals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– Implement changes in a controlled environment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– Measure results against goals</a:t>
            </a:r>
          </a:p>
          <a:p>
            <a:pPr>
              <a:lnSpc>
                <a:spcPct val="150000"/>
              </a:lnSpc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 – Standardize successful changes and repeat the cycle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5883276"/>
            <a:ext cx="8024088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5. Benefits of Process Assessment &amp; Improvement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Higher 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quality software</a:t>
            </a:r>
          </a:p>
          <a:p>
            <a:pPr>
              <a:lnSpc>
                <a:spcPct val="150000"/>
              </a:lnSpc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Predictable delivery times</a:t>
            </a:r>
          </a:p>
          <a:p>
            <a:pPr>
              <a:lnSpc>
                <a:spcPct val="150000"/>
              </a:lnSpc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Lower development costs</a:t>
            </a:r>
          </a:p>
          <a:p>
            <a:pPr>
              <a:lnSpc>
                <a:spcPct val="150000"/>
              </a:lnSpc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team coordination</a:t>
            </a:r>
          </a:p>
          <a:p>
            <a:pPr>
              <a:lnSpc>
                <a:spcPct val="150000"/>
              </a:lnSpc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Continuous learning and adaptation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5883276"/>
            <a:ext cx="8087462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6.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608139"/>
            <a:ext cx="788670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company performs a CMMI-based assessment and finds: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formal requirement management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Inconsistent testing practices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Improvements Implemented: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Introduced a formal SRS (Software Requirement Specification) process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Standardized test case documentation and review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5883276"/>
            <a:ext cx="7870179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Models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745458" y="2158260"/>
            <a:ext cx="5795222" cy="3223033"/>
          </a:xfrm>
        </p:spPr>
      </p:pic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065838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60079" y="1511929"/>
            <a:ext cx="732425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A process model for software engineering is chosen based on the nature of the project and application</a:t>
            </a:r>
            <a:endParaRPr lang="en-IN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6" y="1935922"/>
            <a:ext cx="7765322" cy="41299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Prescriptive Process Models defines a distinct set of activities, actions, tasks, milestones, and work products that are required to engineer high-quality software.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065838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938075" y="3074691"/>
            <a:ext cx="6706536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0324938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6" y="1935922"/>
            <a:ext cx="7765322" cy="369513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Process elements are:</a:t>
            </a:r>
          </a:p>
          <a:p>
            <a:pPr>
              <a:lnSpc>
                <a:spcPct val="150000"/>
              </a:lnSpc>
            </a:pP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activities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engineering actions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Tasks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Products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Quality Assurance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065838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2852316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6" y="1935922"/>
            <a:ext cx="7765322" cy="3695136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	Waterfall 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065838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b="2718"/>
          <a:stretch/>
        </p:blipFill>
        <p:spPr>
          <a:xfrm>
            <a:off x="1629040" y="2461123"/>
            <a:ext cx="5821961" cy="3354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633091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22990"/>
            <a:ext cx="7886700" cy="1325563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6" y="1077363"/>
            <a:ext cx="7765322" cy="5097100"/>
          </a:xfrm>
        </p:spPr>
        <p:txBody>
          <a:bodyPr>
            <a:normAutofit fontScale="62500" lnSpcReduction="20000"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I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 Waterfall Model</a:t>
            </a:r>
          </a:p>
          <a:p>
            <a:pPr marL="0" indent="0">
              <a:lnSpc>
                <a:spcPct val="160000"/>
              </a:lnSpc>
              <a:buNone/>
            </a:pPr>
            <a:r>
              <a:rPr lang="en-US" b="1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  <a:endParaRPr lang="en-IN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6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Sequential Approach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6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Document-Driven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6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Quality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</a:t>
            </a:r>
          </a:p>
          <a:p>
            <a:pPr>
              <a:lnSpc>
                <a:spcPct val="16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Rigorous Planning</a:t>
            </a:r>
          </a:p>
          <a:p>
            <a:pPr marL="0" indent="0">
              <a:lnSpc>
                <a:spcPct val="160000"/>
              </a:lnSpc>
              <a:buNone/>
            </a:pPr>
            <a:r>
              <a:rPr lang="en-US" b="1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Importance of Waterfall Model</a:t>
            </a:r>
          </a:p>
          <a:p>
            <a:pPr>
              <a:lnSpc>
                <a:spcPct val="16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Clarity and Simplicity</a:t>
            </a:r>
          </a:p>
          <a:p>
            <a:pPr>
              <a:lnSpc>
                <a:spcPct val="16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Clearly Defined Phases</a:t>
            </a:r>
          </a:p>
          <a:p>
            <a:pPr>
              <a:lnSpc>
                <a:spcPct val="16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Documentation</a:t>
            </a:r>
          </a:p>
          <a:p>
            <a:pPr>
              <a:lnSpc>
                <a:spcPct val="16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Stability in Requirements</a:t>
            </a:r>
          </a:p>
          <a:p>
            <a:pPr>
              <a:lnSpc>
                <a:spcPct val="16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Resource Optimization</a:t>
            </a:r>
          </a:p>
          <a:p>
            <a:pPr>
              <a:lnSpc>
                <a:spcPct val="160000"/>
              </a:lnSpc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Relevance for Small Projects</a:t>
            </a:r>
          </a:p>
          <a:p>
            <a:pPr>
              <a:lnSpc>
                <a:spcPct val="160000"/>
              </a:lnSpc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60000"/>
              </a:lnSpc>
            </a:pP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60000"/>
              </a:lnSpc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28650" y="6248400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461225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75003"/>
            <a:ext cx="7886700" cy="1325563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0028" y="1276539"/>
            <a:ext cx="7765322" cy="4789299"/>
          </a:xfrm>
        </p:spPr>
        <p:txBody>
          <a:bodyPr>
            <a:noAutofit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US" sz="2000" b="1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Advantages </a:t>
            </a:r>
            <a:r>
              <a:rPr lang="en-US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of Waterfall </a:t>
            </a:r>
            <a:r>
              <a:rPr lang="en-US" sz="2000" b="1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</a:p>
          <a:p>
            <a:pPr>
              <a:lnSpc>
                <a:spcPct val="160000"/>
              </a:lnSpc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Easy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</a:t>
            </a:r>
          </a:p>
          <a:p>
            <a:pPr>
              <a:lnSpc>
                <a:spcPct val="160000"/>
              </a:lnSpc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Individual Processing</a:t>
            </a:r>
          </a:p>
          <a:p>
            <a:pPr>
              <a:lnSpc>
                <a:spcPct val="160000"/>
              </a:lnSpc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Properly Defined</a:t>
            </a:r>
          </a:p>
          <a:p>
            <a:pPr>
              <a:lnSpc>
                <a:spcPct val="160000"/>
              </a:lnSpc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Clear Milestones</a:t>
            </a:r>
          </a:p>
          <a:p>
            <a:pPr>
              <a:lnSpc>
                <a:spcPct val="160000"/>
              </a:lnSpc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Properly Documented</a:t>
            </a:r>
          </a:p>
          <a:p>
            <a:pPr>
              <a:lnSpc>
                <a:spcPct val="160000"/>
              </a:lnSpc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Reinforces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Good </a:t>
            </a: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Habits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60000"/>
              </a:lnSpc>
              <a:buNone/>
            </a:pPr>
            <a:endParaRPr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065838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8603264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75003"/>
            <a:ext cx="7886700" cy="1325563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0028" y="1276539"/>
            <a:ext cx="7765322" cy="4789299"/>
          </a:xfrm>
        </p:spPr>
        <p:txBody>
          <a:bodyPr>
            <a:noAutofit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US" sz="2000" b="1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Disadvantages of Waterfall Model</a:t>
            </a:r>
          </a:p>
          <a:p>
            <a:pPr>
              <a:lnSpc>
                <a:spcPct val="160000"/>
              </a:lnSpc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 Feedback Path</a:t>
            </a:r>
          </a:p>
          <a:p>
            <a:pPr>
              <a:lnSpc>
                <a:spcPct val="160000"/>
              </a:lnSpc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accommodate Change Requests</a:t>
            </a:r>
          </a:p>
          <a:p>
            <a:pPr>
              <a:lnSpc>
                <a:spcPct val="160000"/>
              </a:lnSpc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 Overlapping of Phases</a:t>
            </a:r>
          </a:p>
          <a:p>
            <a:pPr>
              <a:lnSpc>
                <a:spcPct val="160000"/>
              </a:lnSpc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Limited Flexibility</a:t>
            </a:r>
          </a:p>
          <a:p>
            <a:pPr>
              <a:lnSpc>
                <a:spcPct val="160000"/>
              </a:lnSpc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Limited Stakeholder Involvement</a:t>
            </a:r>
          </a:p>
          <a:p>
            <a:pPr>
              <a:lnSpc>
                <a:spcPct val="160000"/>
              </a:lnSpc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Late Defect Detection</a:t>
            </a:r>
          </a:p>
          <a:p>
            <a:pPr>
              <a:lnSpc>
                <a:spcPct val="160000"/>
              </a:lnSpc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Lengthy Development Cycle</a:t>
            </a:r>
          </a:p>
          <a:p>
            <a:pPr>
              <a:lnSpc>
                <a:spcPct val="160000"/>
              </a:lnSpc>
            </a:pPr>
            <a:endParaRPr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065838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0479195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139466"/>
            <a:ext cx="7765321" cy="1326321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6" y="1293127"/>
            <a:ext cx="7765322" cy="369513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Incremental Process Model</a:t>
            </a:r>
            <a:endParaRPr lang="en-IN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Incremental Process Model combines elements of the waterfall model applied in an iterative </a:t>
            </a:r>
            <a:r>
              <a:rPr lang="en-US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fashion.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Each </a:t>
            </a: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linear sequence produces deliverable “increments” of the software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065838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2502293" y="3640213"/>
            <a:ext cx="4131427" cy="242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5885325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365158"/>
            <a:ext cx="7765321" cy="1326321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6" y="1691479"/>
            <a:ext cx="7765322" cy="36951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Prototyping Model</a:t>
            </a:r>
            <a:endParaRPr lang="en-IN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lang="en-US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used when Customer defines a set of general objectives but does not identify detailed requirements for functions and </a:t>
            </a:r>
            <a:r>
              <a:rPr lang="en-US" sz="180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248400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2559278" y="3402610"/>
            <a:ext cx="3714332" cy="2663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3133800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365158"/>
            <a:ext cx="7765321" cy="1326321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6" y="1376128"/>
            <a:ext cx="7765322" cy="46263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Prototyping </a:t>
            </a:r>
            <a:r>
              <a:rPr lang="en-I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</a:p>
          <a:p>
            <a:pPr marL="0" indent="0">
              <a:buNone/>
            </a:pPr>
            <a:endParaRPr lang="en-US" sz="19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9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Prototyping </a:t>
            </a:r>
            <a:r>
              <a:rPr lang="en-US" sz="19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150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5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customers get to see the partial product early in the life cycle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New requirements can be easily accommodated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Missing functionalities can be easily figured out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Errors can be detected much earlier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Flexibility in design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Early feedback from customers and </a:t>
            </a:r>
            <a:r>
              <a:rPr lang="en-US" sz="150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stakeholders</a:t>
            </a:r>
            <a:endParaRPr lang="en-US" sz="15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248400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075431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89040"/>
            <a:ext cx="7765321" cy="1326321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6" y="1376128"/>
            <a:ext cx="7765322" cy="46263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Prototyping </a:t>
            </a:r>
            <a:r>
              <a:rPr lang="en-IN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</a:p>
          <a:p>
            <a:pPr marL="0" indent="0">
              <a:buNone/>
            </a:pPr>
            <a:endParaRPr lang="en-US" sz="20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Disadvantages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Prototyping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Costly </a:t>
            </a:r>
            <a:r>
              <a:rPr lang="en-US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concerning time as well as money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There may be too much variation in requirements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Poor Documentation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Developers in a hurry to build prototypes may end up with sub-optimal solutions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065838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7339476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365158"/>
            <a:ext cx="7765321" cy="1326321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6" y="1376128"/>
            <a:ext cx="7765322" cy="46263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I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Spiral Model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 is </a:t>
            </a:r>
            <a:r>
              <a:rPr lang="en-US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well-known and widely used software development model</a:t>
            </a:r>
            <a:endParaRPr lang="en-IN" sz="1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Spiral </a:t>
            </a:r>
            <a:r>
              <a:rPr lang="en-US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 referred </a:t>
            </a:r>
            <a:r>
              <a:rPr lang="en-US" sz="180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as a "meta model." </a:t>
            </a:r>
            <a:endParaRPr lang="en-IN" sz="1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248400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2543" y="3158576"/>
            <a:ext cx="4464820" cy="284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8869571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365158"/>
            <a:ext cx="7765321" cy="1326321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6" y="1376128"/>
            <a:ext cx="7765322" cy="46263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I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Spiral Model</a:t>
            </a:r>
          </a:p>
          <a:p>
            <a:pPr marL="0" indent="0">
              <a:buNone/>
            </a:pPr>
            <a:endParaRPr lang="en-IN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Benefits of using Spiral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1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spiral model is a realistic approach to the development of large-scale systems and software. 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1900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Spiral </a:t>
            </a:r>
            <a:r>
              <a:rPr lang="en-US" sz="1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 uses prototyping as a risk reduction mechanism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1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 maintains the systematic stepwise approach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19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Direct consideration of technical risks at all stages of the project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065838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032417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365158"/>
            <a:ext cx="7765321" cy="1326321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6" y="1376128"/>
            <a:ext cx="7765322" cy="462632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IN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I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Spiral Model</a:t>
            </a:r>
          </a:p>
          <a:p>
            <a:pPr marL="0" indent="0">
              <a:buNone/>
            </a:pPr>
            <a:endParaRPr lang="en-IN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Applications of Spiral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Spiral Model is well-suited for large, complex, and high-risk </a:t>
            </a: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projects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marL="715963" indent="-354013">
              <a:lnSpc>
                <a:spcPct val="150000"/>
              </a:lnSpc>
              <a:buFont typeface="+mj-lt"/>
              <a:buAutoNum type="alphaLcParenR"/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Developing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 like Microsoft </a:t>
            </a: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Windows</a:t>
            </a:r>
          </a:p>
          <a:p>
            <a:pPr marL="715963" indent="-354013">
              <a:lnSpc>
                <a:spcPct val="150000"/>
              </a:lnSpc>
              <a:buFont typeface="+mj-lt"/>
              <a:buAutoNum type="alphaLcParenR"/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Game development</a:t>
            </a:r>
          </a:p>
          <a:p>
            <a:pPr marL="715963" indent="-354013">
              <a:lnSpc>
                <a:spcPct val="150000"/>
              </a:lnSpc>
              <a:buFont typeface="+mj-lt"/>
              <a:buAutoNum type="alphaLcParenR"/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Creating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systems like Intelligent Transportation Systems. </a:t>
            </a:r>
            <a:endParaRPr lang="en-US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15963" indent="-354013">
              <a:lnSpc>
                <a:spcPct val="150000"/>
              </a:lnSpc>
              <a:buFont typeface="+mj-lt"/>
              <a:buAutoNum type="alphaLcParenR"/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E-commerce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platforms, electronic health record systems, and mobile application development.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248400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2232421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365158"/>
            <a:ext cx="7765321" cy="1326321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6" y="1376128"/>
            <a:ext cx="7765322" cy="46263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5. </a:t>
            </a:r>
            <a:r>
              <a:rPr lang="en-US" b="1" i="1" u="sng" dirty="0"/>
              <a:t>Concurrent </a:t>
            </a:r>
            <a:r>
              <a:rPr lang="en-IN" b="1" u="sng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</a:p>
          <a:p>
            <a:pPr>
              <a:lnSpc>
                <a:spcPct val="150000"/>
              </a:lnSpc>
            </a:pP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/>
              <a:t>All activities exist concurrently but reside in different states. </a:t>
            </a:r>
            <a:endParaRPr lang="en-US" sz="1800" dirty="0" smtClean="0"/>
          </a:p>
          <a:p>
            <a:pPr>
              <a:lnSpc>
                <a:spcPct val="150000"/>
              </a:lnSpc>
            </a:pPr>
            <a:r>
              <a:rPr lang="en-US" sz="1800" dirty="0"/>
              <a:t> </a:t>
            </a:r>
            <a:r>
              <a:rPr lang="en-US" sz="1800" dirty="0" smtClean="0"/>
              <a:t>It </a:t>
            </a:r>
            <a:r>
              <a:rPr lang="en-US" sz="1800" dirty="0"/>
              <a:t>defines a series of events that will trigger transitions from state to states. </a:t>
            </a:r>
            <a:endParaRPr lang="en-US" sz="1800" dirty="0" smtClean="0"/>
          </a:p>
          <a:p>
            <a:pPr>
              <a:lnSpc>
                <a:spcPct val="150000"/>
              </a:lnSpc>
            </a:pPr>
            <a:r>
              <a:rPr lang="en-US" sz="1800" dirty="0" smtClean="0"/>
              <a:t>This </a:t>
            </a:r>
            <a:r>
              <a:rPr lang="en-US" sz="1800" dirty="0"/>
              <a:t>one is applicable to all types of s/w development. It defines a network of activities.</a:t>
            </a:r>
            <a:endParaRPr lang="en-IN" sz="1800" dirty="0"/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248400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321" y="3494638"/>
            <a:ext cx="4246981" cy="2697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6846543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191561"/>
            <a:ext cx="7765321" cy="1326321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7940" y="1149790"/>
            <a:ext cx="8322852" cy="49944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6. </a:t>
            </a:r>
            <a:r>
              <a:rPr lang="en-I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Agile Model</a:t>
            </a:r>
          </a:p>
          <a:p>
            <a:pPr marL="361950" indent="-180975">
              <a:lnSpc>
                <a:spcPct val="150000"/>
              </a:lnSpc>
            </a:pPr>
            <a:r>
              <a:rPr lang="en-US" sz="1800" dirty="0" smtClean="0"/>
              <a:t>Agile </a:t>
            </a:r>
            <a:r>
              <a:rPr lang="en-US" sz="1800" dirty="0"/>
              <a:t>Development Model is a combination of iterative and incremental </a:t>
            </a:r>
            <a:r>
              <a:rPr lang="en-US" sz="1800" dirty="0" smtClean="0"/>
              <a:t>models</a:t>
            </a:r>
          </a:p>
          <a:p>
            <a:pPr marL="361950" indent="-180975">
              <a:lnSpc>
                <a:spcPct val="150000"/>
              </a:lnSpc>
            </a:pPr>
            <a:r>
              <a:rPr lang="en-US" sz="1800" dirty="0" smtClean="0"/>
              <a:t>Focus on </a:t>
            </a:r>
            <a:r>
              <a:rPr lang="en-US" sz="1800" dirty="0"/>
              <a:t>process adaptability and customer satisfaction</a:t>
            </a:r>
            <a:r>
              <a:rPr lang="en-US" sz="1800" dirty="0" smtClean="0"/>
              <a:t>.</a:t>
            </a:r>
          </a:p>
          <a:p>
            <a:pPr marL="361950" indent="-180975">
              <a:lnSpc>
                <a:spcPct val="150000"/>
              </a:lnSpc>
            </a:pPr>
            <a:r>
              <a:rPr lang="en-US" sz="1800" dirty="0" smtClean="0"/>
              <a:t>This </a:t>
            </a:r>
            <a:r>
              <a:rPr lang="en-US" sz="1800" dirty="0"/>
              <a:t>was created mainly to make changes in the middle of software development so that the software project can be completed quickly.</a:t>
            </a:r>
            <a:endParaRPr lang="en-IN" sz="1800" dirty="0"/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176398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650" y="3646996"/>
            <a:ext cx="4163678" cy="2493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744887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365158"/>
            <a:ext cx="7765321" cy="1326321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PERSCRIPTIVE PROCESS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7940" y="1517882"/>
            <a:ext cx="7765322" cy="4626320"/>
          </a:xfrm>
        </p:spPr>
        <p:txBody>
          <a:bodyPr>
            <a:normAutofit/>
          </a:bodyPr>
          <a:lstStyle/>
          <a:p>
            <a:pPr marL="0" lvl="1" indent="0">
              <a:spcBef>
                <a:spcPts val="750"/>
              </a:spcBef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IN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b="1" i="1" u="sng" dirty="0"/>
              <a:t>Specialized Process</a:t>
            </a:r>
            <a:r>
              <a:rPr lang="en-US" sz="1600" dirty="0"/>
              <a:t> </a:t>
            </a:r>
            <a:r>
              <a:rPr lang="en-US" b="1" i="1" u="sng" dirty="0" smtClean="0"/>
              <a:t>Models</a:t>
            </a:r>
          </a:p>
          <a:p>
            <a:pPr marL="0" lvl="1" indent="0">
              <a:spcBef>
                <a:spcPts val="750"/>
              </a:spcBef>
              <a:buNone/>
            </a:pPr>
            <a:endParaRPr lang="en-US" b="1" i="1" u="sng" dirty="0" smtClean="0"/>
          </a:p>
          <a:p>
            <a:r>
              <a:rPr lang="en-US" sz="1600" dirty="0"/>
              <a:t>There are three kinds of Specialized Process Models are used</a:t>
            </a:r>
            <a:r>
              <a:rPr lang="en-US" sz="1600" dirty="0" smtClean="0"/>
              <a:t>:-</a:t>
            </a:r>
          </a:p>
          <a:p>
            <a:endParaRPr lang="en-IN" sz="1600" dirty="0"/>
          </a:p>
          <a:p>
            <a:pPr lvl="2"/>
            <a:r>
              <a:rPr lang="en-US" sz="1600" dirty="0"/>
              <a:t>Component-Based </a:t>
            </a:r>
            <a:r>
              <a:rPr lang="en-US" sz="1600" dirty="0" smtClean="0"/>
              <a:t>Development</a:t>
            </a:r>
          </a:p>
          <a:p>
            <a:pPr marL="685800" lvl="2" indent="0">
              <a:buNone/>
            </a:pPr>
            <a:endParaRPr lang="en-IN" sz="1400" dirty="0"/>
          </a:p>
          <a:p>
            <a:pPr lvl="2"/>
            <a:r>
              <a:rPr lang="en-US" sz="1600" dirty="0"/>
              <a:t>The Formal Methods </a:t>
            </a:r>
            <a:r>
              <a:rPr lang="en-US" sz="1600" dirty="0" smtClean="0"/>
              <a:t>Model</a:t>
            </a:r>
          </a:p>
          <a:p>
            <a:pPr lvl="2"/>
            <a:endParaRPr lang="en-IN" sz="1400" dirty="0"/>
          </a:p>
          <a:p>
            <a:pPr lvl="2"/>
            <a:r>
              <a:rPr lang="en-US" sz="1600" dirty="0"/>
              <a:t>Aspect-Oriented Software Development</a:t>
            </a:r>
            <a:endParaRPr lang="en-IN" sz="1400" dirty="0"/>
          </a:p>
          <a:p>
            <a:pPr marL="0" lvl="1" indent="0">
              <a:spcBef>
                <a:spcPts val="750"/>
              </a:spcBef>
              <a:buNone/>
            </a:pPr>
            <a:endParaRPr lang="en-IN" sz="1400" dirty="0"/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346" y="6144202"/>
            <a:ext cx="791544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4778274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3" algn="l" defTabSz="685800" rtl="0">
              <a:lnSpc>
                <a:spcPct val="90000"/>
              </a:lnSpc>
              <a:spcBef>
                <a:spcPct val="0"/>
              </a:spcBef>
            </a:pPr>
            <a:r>
              <a:rPr lang="en-US" sz="2000" b="1" dirty="0" smtClean="0"/>
              <a:t>Component-Based Development</a:t>
            </a:r>
            <a:r>
              <a:rPr lang="en-IN" sz="1200" dirty="0" smtClean="0"/>
              <a:t/>
            </a:r>
            <a:br>
              <a:rPr lang="en-IN" sz="1200" dirty="0" smtClean="0"/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lnSpc>
                <a:spcPct val="150000"/>
              </a:lnSpc>
            </a:pPr>
            <a:r>
              <a:rPr lang="en-US" sz="1800" dirty="0" smtClean="0"/>
              <a:t>Commercial </a:t>
            </a:r>
            <a:r>
              <a:rPr lang="en-US" sz="1800" dirty="0"/>
              <a:t>off-the-shelf (COTS) software components can be used.</a:t>
            </a:r>
            <a:endParaRPr lang="en-IN" sz="1800" dirty="0"/>
          </a:p>
          <a:p>
            <a:pPr lvl="0">
              <a:lnSpc>
                <a:spcPct val="150000"/>
              </a:lnSpc>
            </a:pPr>
            <a:r>
              <a:rPr lang="en-US" sz="1800" dirty="0"/>
              <a:t>Components should have well-defined interfaces.</a:t>
            </a:r>
            <a:endParaRPr lang="en-IN" sz="1800" dirty="0"/>
          </a:p>
          <a:p>
            <a:pPr lvl="0">
              <a:lnSpc>
                <a:spcPct val="150000"/>
              </a:lnSpc>
            </a:pPr>
            <a:r>
              <a:rPr lang="en-US" sz="1800" dirty="0"/>
              <a:t>Incorporates many of the characteristics of the spiral model.</a:t>
            </a:r>
            <a:endParaRPr lang="en-IN" sz="1800" dirty="0"/>
          </a:p>
          <a:p>
            <a:pPr lvl="0">
              <a:lnSpc>
                <a:spcPct val="150000"/>
              </a:lnSpc>
            </a:pPr>
            <a:r>
              <a:rPr lang="en-US" sz="1800" dirty="0"/>
              <a:t>Evolutionary in nature.</a:t>
            </a:r>
            <a:endParaRPr lang="en-IN" sz="1800" dirty="0"/>
          </a:p>
          <a:p>
            <a:pPr lvl="0">
              <a:lnSpc>
                <a:spcPct val="150000"/>
              </a:lnSpc>
            </a:pPr>
            <a:r>
              <a:rPr lang="en-US" sz="1800" dirty="0"/>
              <a:t>Candidate components should be identified first.</a:t>
            </a:r>
            <a:endParaRPr lang="en-IN" sz="1800" dirty="0"/>
          </a:p>
          <a:p>
            <a:pPr lvl="0">
              <a:lnSpc>
                <a:spcPct val="150000"/>
              </a:lnSpc>
            </a:pPr>
            <a:r>
              <a:rPr lang="en-US" sz="1800" dirty="0"/>
              <a:t>Components can be designed as either conventional software modules or object-oriented classes or packages of classes</a:t>
            </a:r>
            <a:endParaRPr lang="en-IN" sz="1800" dirty="0"/>
          </a:p>
          <a:p>
            <a:endParaRPr lang="en-IN" sz="18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28650" y="6356351"/>
            <a:ext cx="7886700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3" algn="l" defTabSz="685800" rtl="0">
              <a:lnSpc>
                <a:spcPct val="90000"/>
              </a:lnSpc>
              <a:spcBef>
                <a:spcPct val="0"/>
              </a:spcBef>
            </a:pPr>
            <a:r>
              <a:rPr lang="en-US" sz="2000" b="1" dirty="0" smtClean="0"/>
              <a:t>The Formal Methods Model</a:t>
            </a:r>
            <a:r>
              <a:rPr lang="en-IN" sz="1200" dirty="0" smtClean="0"/>
              <a:t/>
            </a:r>
            <a:br>
              <a:rPr lang="en-IN" sz="1200" dirty="0" smtClean="0"/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1448554"/>
            <a:ext cx="7886700" cy="4728409"/>
          </a:xfrm>
        </p:spPr>
        <p:txBody>
          <a:bodyPr>
            <a:normAutofit fontScale="92500" lnSpcReduction="10000"/>
          </a:bodyPr>
          <a:lstStyle/>
          <a:p>
            <a:pPr lvl="0">
              <a:lnSpc>
                <a:spcPct val="150000"/>
              </a:lnSpc>
            </a:pPr>
            <a:r>
              <a:rPr lang="en-US" sz="2000" dirty="0" smtClean="0"/>
              <a:t>Encompasses </a:t>
            </a:r>
            <a:r>
              <a:rPr lang="en-US" sz="2000" dirty="0"/>
              <a:t>a set of activities that leads to formal mathematical specification of computer software</a:t>
            </a:r>
            <a:endParaRPr lang="en-IN" sz="1800" dirty="0"/>
          </a:p>
          <a:p>
            <a:pPr lvl="0">
              <a:lnSpc>
                <a:spcPct val="150000"/>
              </a:lnSpc>
            </a:pPr>
            <a:r>
              <a:rPr lang="en-US" sz="2000" dirty="0" smtClean="0"/>
              <a:t>Ambiguity</a:t>
            </a:r>
            <a:r>
              <a:rPr lang="en-US" sz="2000" dirty="0"/>
              <a:t>, incompleteness, and inconsistency can be discovered and corrected more </a:t>
            </a:r>
            <a:r>
              <a:rPr lang="en-US" sz="2000" dirty="0" smtClean="0"/>
              <a:t>easily</a:t>
            </a:r>
            <a:endParaRPr lang="en-IN" sz="1800" dirty="0"/>
          </a:p>
          <a:p>
            <a:pPr lvl="0">
              <a:lnSpc>
                <a:spcPct val="150000"/>
              </a:lnSpc>
            </a:pPr>
            <a:r>
              <a:rPr lang="en-US" sz="2000" dirty="0" smtClean="0"/>
              <a:t>Cleanroom </a:t>
            </a:r>
            <a:r>
              <a:rPr lang="en-US" sz="2000" dirty="0"/>
              <a:t>Software Engineering is a variation of the Formal Methods Model.</a:t>
            </a:r>
            <a:endParaRPr lang="en-IN" sz="1800" dirty="0"/>
          </a:p>
          <a:p>
            <a:pPr lvl="0">
              <a:lnSpc>
                <a:spcPct val="150000"/>
              </a:lnSpc>
            </a:pPr>
            <a:r>
              <a:rPr lang="en-US" sz="2000" b="1" dirty="0"/>
              <a:t>Drawbacks of Formal Methods Model:-</a:t>
            </a:r>
            <a:endParaRPr lang="en-IN" sz="1800" dirty="0"/>
          </a:p>
          <a:p>
            <a:pPr>
              <a:lnSpc>
                <a:spcPct val="150000"/>
              </a:lnSpc>
            </a:pPr>
            <a:r>
              <a:rPr lang="en-US" sz="2000" dirty="0" smtClean="0"/>
              <a:t>The </a:t>
            </a:r>
            <a:r>
              <a:rPr lang="en-US" sz="2000" dirty="0"/>
              <a:t>development of formal models is currently quite time-consuming and expensive.</a:t>
            </a:r>
            <a:endParaRPr lang="en-IN" sz="1800" dirty="0"/>
          </a:p>
          <a:p>
            <a:pPr>
              <a:lnSpc>
                <a:spcPct val="150000"/>
              </a:lnSpc>
            </a:pPr>
            <a:r>
              <a:rPr lang="en-US" sz="2000" dirty="0" smtClean="0"/>
              <a:t>Extensive </a:t>
            </a:r>
            <a:r>
              <a:rPr lang="en-US" sz="2000" dirty="0"/>
              <a:t>training is required</a:t>
            </a:r>
            <a:r>
              <a:rPr lang="en-US" sz="2000" dirty="0" smtClean="0"/>
              <a:t>.</a:t>
            </a:r>
            <a:endParaRPr lang="en-IN" sz="18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51024" y="6356351"/>
            <a:ext cx="7664325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2762076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3"/>
            <a:r>
              <a:rPr lang="en-US" sz="2400" b="1" dirty="0" smtClean="0"/>
              <a:t>Aspect</a:t>
            </a:r>
            <a:r>
              <a:rPr lang="en-US" sz="2400" dirty="0" smtClean="0"/>
              <a:t>-</a:t>
            </a:r>
            <a:r>
              <a:rPr lang="en-US" sz="2400" b="1" dirty="0" smtClean="0"/>
              <a:t>Oriented Software Development</a:t>
            </a:r>
            <a:endParaRPr lang="en-IN" sz="2400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50000"/>
              </a:lnSpc>
            </a:pPr>
            <a:r>
              <a:rPr lang="en-US" sz="1800" dirty="0" smtClean="0"/>
              <a:t>Aspect </a:t>
            </a:r>
            <a:r>
              <a:rPr lang="en-US" sz="1800" dirty="0"/>
              <a:t>Oriented software development (AOSD)—provides a process and methodological approach for defining, specifying, designing, and constructing aspects.</a:t>
            </a:r>
            <a:endParaRPr lang="en-IN" sz="1600" dirty="0"/>
          </a:p>
          <a:p>
            <a:pPr lvl="0">
              <a:lnSpc>
                <a:spcPct val="150000"/>
              </a:lnSpc>
            </a:pPr>
            <a:r>
              <a:rPr lang="en-US" sz="1800" dirty="0"/>
              <a:t>It is likely that AOSD will adopt characteristics of both the spiral and concurrent process models.</a:t>
            </a:r>
            <a:endParaRPr lang="en-IN" sz="1600" dirty="0"/>
          </a:p>
          <a:p>
            <a:pPr marL="0" indent="0">
              <a:buNone/>
            </a:pPr>
            <a:endParaRPr lang="en-IN" sz="20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28650" y="6356351"/>
            <a:ext cx="8116998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0714243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8.  Unified Process Model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34154" y="6356351"/>
            <a:ext cx="8229600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937442" y="3250194"/>
            <a:ext cx="5530476" cy="2897927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348558" y="1583397"/>
            <a:ext cx="8415196" cy="12890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ea typeface="MS Mincho"/>
              </a:rPr>
              <a:t>Unified Process Model is a “use-case driven, architecture-centric, iterative and incremental” software process </a:t>
            </a:r>
            <a:endParaRPr lang="en-US" dirty="0" smtClean="0">
              <a:latin typeface="Times New Roman" panose="02020603050405020304" pitchFamily="18" charset="0"/>
              <a:ea typeface="MS Minch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UP is a framework for object-oriented software engineering using UML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38914952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8.  Unified Process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(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) shows different Phases of Unified Process:-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Inception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Elaboration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Construction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</a:t>
            </a:r>
          </a:p>
          <a:p>
            <a:pPr>
              <a:lnSpc>
                <a:spcPct val="150000"/>
              </a:lnSpc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28650" y="6356351"/>
            <a:ext cx="8008356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331638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59205"/>
            <a:ext cx="7886700" cy="1325563"/>
          </a:xfrm>
        </p:spPr>
        <p:txBody>
          <a:bodyPr>
            <a:normAutofit/>
          </a:bodyPr>
          <a:lstStyle/>
          <a:p>
            <a:r>
              <a:rPr lang="en-US" sz="2800" b="1" dirty="0" smtClean="0">
                <a:latin typeface="+mn-lt"/>
              </a:rPr>
              <a:t>Unified Process Work Products </a:t>
            </a:r>
            <a:endParaRPr lang="en-IN" sz="2800" dirty="0">
              <a:latin typeface="+mn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84768"/>
            <a:ext cx="7886700" cy="4692195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2500" b="1" dirty="0" smtClean="0"/>
              <a:t>Inception</a:t>
            </a:r>
            <a:endParaRPr lang="en-IN" sz="2500" dirty="0"/>
          </a:p>
          <a:p>
            <a:pPr lvl="0"/>
            <a:r>
              <a:rPr lang="en-US" sz="2500" dirty="0"/>
              <a:t>Vision document</a:t>
            </a:r>
            <a:endParaRPr lang="en-IN" sz="2500" dirty="0"/>
          </a:p>
          <a:p>
            <a:pPr lvl="0"/>
            <a:r>
              <a:rPr lang="en-US" sz="2500" dirty="0"/>
              <a:t>Initial use-case </a:t>
            </a:r>
            <a:r>
              <a:rPr lang="en-US" sz="2500" dirty="0" smtClean="0"/>
              <a:t>model</a:t>
            </a:r>
          </a:p>
          <a:p>
            <a:pPr marL="0" lvl="0" indent="0">
              <a:buNone/>
            </a:pPr>
            <a:endParaRPr lang="en-IN" sz="2500" dirty="0"/>
          </a:p>
          <a:p>
            <a:pPr marL="0" indent="0">
              <a:buNone/>
            </a:pPr>
            <a:r>
              <a:rPr lang="en-US" sz="2500" b="1" dirty="0"/>
              <a:t>Elaboration</a:t>
            </a:r>
            <a:endParaRPr lang="en-IN" sz="2500" dirty="0"/>
          </a:p>
          <a:p>
            <a:pPr lvl="0"/>
            <a:r>
              <a:rPr lang="en-US" sz="2500" dirty="0"/>
              <a:t>Analysis model</a:t>
            </a:r>
            <a:endParaRPr lang="en-IN" sz="2500" dirty="0"/>
          </a:p>
          <a:p>
            <a:pPr lvl="0"/>
            <a:r>
              <a:rPr lang="en-US" sz="2500" dirty="0"/>
              <a:t>design </a:t>
            </a:r>
            <a:r>
              <a:rPr lang="en-US" sz="2500" dirty="0" smtClean="0"/>
              <a:t>model</a:t>
            </a:r>
          </a:p>
          <a:p>
            <a:pPr marL="0" lvl="0" indent="0">
              <a:buNone/>
            </a:pPr>
            <a:endParaRPr lang="en-IN" sz="2500" dirty="0"/>
          </a:p>
          <a:p>
            <a:pPr marL="0" indent="0">
              <a:buNone/>
            </a:pPr>
            <a:r>
              <a:rPr lang="en-US" sz="2500" b="1" dirty="0"/>
              <a:t>Construction</a:t>
            </a:r>
            <a:endParaRPr lang="en-IN" sz="2500" dirty="0"/>
          </a:p>
          <a:p>
            <a:pPr lvl="0"/>
            <a:r>
              <a:rPr lang="en-US" sz="2500" dirty="0"/>
              <a:t>Implementation model, </a:t>
            </a:r>
            <a:endParaRPr lang="en-IN" sz="2500" dirty="0"/>
          </a:p>
          <a:p>
            <a:pPr lvl="0"/>
            <a:r>
              <a:rPr lang="en-US" sz="2500" dirty="0"/>
              <a:t>Deployment model</a:t>
            </a:r>
            <a:endParaRPr lang="en-IN" sz="2500" dirty="0"/>
          </a:p>
          <a:p>
            <a:pPr lvl="0"/>
            <a:r>
              <a:rPr lang="en-US" sz="2500" dirty="0"/>
              <a:t>Test </a:t>
            </a:r>
            <a:r>
              <a:rPr lang="en-US" sz="2500" dirty="0" smtClean="0"/>
              <a:t>model</a:t>
            </a:r>
          </a:p>
          <a:p>
            <a:pPr marL="0" lvl="0" indent="0">
              <a:buNone/>
            </a:pPr>
            <a:endParaRPr lang="en-IN" sz="2500" dirty="0"/>
          </a:p>
          <a:p>
            <a:pPr marL="0" indent="0">
              <a:buNone/>
            </a:pPr>
            <a:r>
              <a:rPr lang="en-US" sz="2500" b="1" dirty="0"/>
              <a:t>Transition</a:t>
            </a:r>
            <a:endParaRPr lang="en-IN" sz="2500" dirty="0"/>
          </a:p>
          <a:p>
            <a:pPr lvl="0"/>
            <a:r>
              <a:rPr lang="en-US" sz="2500" dirty="0"/>
              <a:t>Delivered software</a:t>
            </a:r>
            <a:endParaRPr lang="en-IN" sz="2500" dirty="0"/>
          </a:p>
          <a:p>
            <a:pPr lvl="0"/>
            <a:r>
              <a:rPr lang="en-US" sz="2500" dirty="0"/>
              <a:t>Beta test reports</a:t>
            </a:r>
            <a:endParaRPr lang="en-IN" sz="2500" dirty="0"/>
          </a:p>
          <a:p>
            <a:pPr lvl="0"/>
            <a:r>
              <a:rPr lang="en-US" sz="2500" dirty="0"/>
              <a:t>General user feedback</a:t>
            </a:r>
            <a:endParaRPr lang="en-IN" sz="2500" dirty="0"/>
          </a:p>
          <a:p>
            <a:pPr marL="0" indent="0">
              <a:buNone/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28650" y="6356351"/>
            <a:ext cx="7886700" cy="365125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           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Sapthagiri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NPS University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9306814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400" b="1" dirty="0" smtClean="0"/>
              <a:t>Any Questions ?!!</a:t>
            </a:r>
            <a:endParaRPr lang="en-IN" sz="2400" b="1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61315" y="6356351"/>
            <a:ext cx="8175279" cy="365125"/>
          </a:xfrm>
        </p:spPr>
        <p:txBody>
          <a:bodyPr/>
          <a:lstStyle/>
          <a:p>
            <a:r>
              <a:rPr lang="en-US" dirty="0" smtClean="0"/>
              <a:t>Department of CSE                                                                                                                                                                                                       </a:t>
            </a:r>
            <a:r>
              <a:rPr lang="en-US" dirty="0" err="1" smtClean="0"/>
              <a:t>Sapthagiri</a:t>
            </a:r>
            <a:r>
              <a:rPr lang="en-US" dirty="0" smtClean="0"/>
              <a:t> NPS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040603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-Times New Roman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Times New Roman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139</TotalTime>
  <Words>2249</Words>
  <Application>Microsoft Office PowerPoint</Application>
  <PresentationFormat>On-screen Show (4:3)</PresentationFormat>
  <Paragraphs>380</Paragraphs>
  <Slides>50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1" baseType="lpstr">
      <vt:lpstr>Office Theme</vt:lpstr>
      <vt:lpstr>Software Engineering - Module I</vt:lpstr>
      <vt:lpstr>SOFTWARE AND SOFTWARE ENGINEERING</vt:lpstr>
      <vt:lpstr>Key Characteristics of Software: </vt:lpstr>
      <vt:lpstr>SOFTWARE AND SOFTWARE ENGINEERING</vt:lpstr>
      <vt:lpstr>a. System Software</vt:lpstr>
      <vt:lpstr>b. Application Software</vt:lpstr>
      <vt:lpstr>c. Embedded System Software</vt:lpstr>
      <vt:lpstr> d. Web-Based Software</vt:lpstr>
      <vt:lpstr>e. AI Software</vt:lpstr>
      <vt:lpstr>1.1. What is Software Engineering?</vt:lpstr>
      <vt:lpstr>1.2. The Software Process</vt:lpstr>
      <vt:lpstr>Software Engineering Practices</vt:lpstr>
      <vt:lpstr>Software Myths</vt:lpstr>
      <vt:lpstr>PROCESS MODELS</vt:lpstr>
      <vt:lpstr>2.1. Generic Software Process Model</vt:lpstr>
      <vt:lpstr>1. Communication</vt:lpstr>
      <vt:lpstr>2. Planning</vt:lpstr>
      <vt:lpstr>3. Modeling</vt:lpstr>
      <vt:lpstr>4. Construction</vt:lpstr>
      <vt:lpstr>5. Deployment</vt:lpstr>
      <vt:lpstr> Process Assessment and Improvement</vt:lpstr>
      <vt:lpstr>2. Process Improvement</vt:lpstr>
      <vt:lpstr>3. Common Process Improvement Models</vt:lpstr>
      <vt:lpstr>4. Process Improvement Cycle</vt:lpstr>
      <vt:lpstr>5. Benefits of Process Assessment &amp; Improvement</vt:lpstr>
      <vt:lpstr>6. Example</vt:lpstr>
      <vt:lpstr>Process Models</vt:lpstr>
      <vt:lpstr>PERSCRIPTIVE PROCESS MODELS</vt:lpstr>
      <vt:lpstr>PERSCRIPTIVE PROCESS MODELS</vt:lpstr>
      <vt:lpstr>PERSCRIPTIVE PROCESS MODELS</vt:lpstr>
      <vt:lpstr>PERSCRIPTIVE PROCESS MODELS</vt:lpstr>
      <vt:lpstr>PERSCRIPTIVE PROCESS MODELS</vt:lpstr>
      <vt:lpstr>PERSCRIPTIVE PROCESS MODELS</vt:lpstr>
      <vt:lpstr>PERSCRIPTIVE PROCESS MODELS</vt:lpstr>
      <vt:lpstr>PERSCRIPTIVE PROCESS MODELS</vt:lpstr>
      <vt:lpstr>PERSCRIPTIVE PROCESS MODELS</vt:lpstr>
      <vt:lpstr>PERSCRIPTIVE PROCESS MODELS</vt:lpstr>
      <vt:lpstr>PERSCRIPTIVE PROCESS MODELS</vt:lpstr>
      <vt:lpstr>PERSCRIPTIVE PROCESS MODELS</vt:lpstr>
      <vt:lpstr>PERSCRIPTIVE PROCESS MODELS</vt:lpstr>
      <vt:lpstr>PERSCRIPTIVE PROCESS MODELS</vt:lpstr>
      <vt:lpstr>PERSCRIPTIVE PROCESS MODELS</vt:lpstr>
      <vt:lpstr>PERSCRIPTIVE PROCESS MODELS</vt:lpstr>
      <vt:lpstr>Component-Based Development </vt:lpstr>
      <vt:lpstr>The Formal Methods Model </vt:lpstr>
      <vt:lpstr>Aspect-Oriented Software Development</vt:lpstr>
      <vt:lpstr>8.  Unified Process Model</vt:lpstr>
      <vt:lpstr>8.  Unified Process Model</vt:lpstr>
      <vt:lpstr>Unified Process Work Products </vt:lpstr>
      <vt:lpstr>Slide 50</vt:lpstr>
    </vt:vector>
  </TitlesOfParts>
  <Manager/>
  <Company/>
  <LinksUpToDate>false</LinksUpToDate>
  <SharedDoc>false</SharedDoc>
  <HyperlinkBase/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Engineering - Module I</dc:title>
  <dc:subject/>
  <dc:creator/>
  <cp:keywords/>
  <dc:description>generated using python-pptx</dc:description>
  <cp:lastModifiedBy>Sharath</cp:lastModifiedBy>
  <cp:revision>21</cp:revision>
  <dcterms:created xsi:type="dcterms:W3CDTF">2013-01-27T09:14:16Z</dcterms:created>
  <dcterms:modified xsi:type="dcterms:W3CDTF">2025-08-27T15:32:25Z</dcterms:modified>
  <cp:category/>
</cp:coreProperties>
</file>